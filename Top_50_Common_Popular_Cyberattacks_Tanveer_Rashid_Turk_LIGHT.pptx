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01168"/>
          </a:xfrm>
          <a:prstGeom prst="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51560"/>
            <a:ext cx="10789920" cy="1097280"/>
          </a:xfrm>
          <a:prstGeom prst="rect">
            <a:avLst/>
          </a:prstGeom>
          <a:noFill/>
        </p:spPr>
        <p:txBody>
          <a:bodyPr wrap="square" lIns="73152" rIns="73152" tIns="36576" bIns="36576">
            <a:spAutoFit/>
          </a:bodyPr>
          <a:lstStyle/>
          <a:p>
            <a:pPr algn="l">
              <a:defRPr sz="3500" b="1">
                <a:solidFill>
                  <a:srgbClr val="F5F7FA"/>
                </a:solidFill>
                <a:latin typeface="Aptos"/>
              </a:defRPr>
            </a:pPr>
            <a:r>
              <a:rPr>
                <a:solidFill>
                  <a:srgbClr val="191919"/>
                </a:solidFill>
                <a:latin typeface="Aptos"/>
              </a:rPr>
              <a:t>TOP 50 COMMON / POPULAR</a:t>
            </a:r>
            <a:br/>
            <a:r>
              <a:rPr>
                <a:solidFill>
                  <a:srgbClr val="191919"/>
                </a:solidFill>
                <a:latin typeface="Aptos"/>
              </a:rPr>
              <a:t>CYBERATTACKS</a:t>
            </a:r>
          </a:p>
        </p:txBody>
      </p:sp>
      <p:sp>
        <p:nvSpPr>
          <p:cNvPr id="4" name="TextBox 3"/>
          <p:cNvSpPr txBox="1"/>
          <p:nvPr/>
        </p:nvSpPr>
        <p:spPr>
          <a:xfrm>
            <a:off x="777240" y="2423160"/>
            <a:ext cx="9875520" cy="640080"/>
          </a:xfrm>
          <a:prstGeom prst="rect">
            <a:avLst/>
          </a:prstGeom>
          <a:noFill/>
        </p:spPr>
        <p:txBody>
          <a:bodyPr wrap="square" lIns="73152" rIns="73152" tIns="36576" bIns="36576">
            <a:spAutoFit/>
          </a:bodyPr>
          <a:lstStyle/>
          <a:p>
            <a:pPr algn="l">
              <a:defRPr sz="2100" b="1">
                <a:solidFill>
                  <a:srgbClr val="FFE25C"/>
                </a:solidFill>
                <a:latin typeface="Aptos"/>
              </a:defRPr>
            </a:pPr>
            <a:r>
              <a:rPr>
                <a:solidFill>
                  <a:srgbClr val="191919"/>
                </a:solidFill>
                <a:latin typeface="Aptos"/>
              </a:rPr>
              <a:t>Long, exam-ready definitions • One attack per slide</a:t>
            </a:r>
          </a:p>
        </p:txBody>
      </p:sp>
      <p:sp>
        <p:nvSpPr>
          <p:cNvPr id="5" name="Rectangle 4"/>
          <p:cNvSpPr/>
          <p:nvPr/>
        </p:nvSpPr>
        <p:spPr>
          <a:xfrm>
            <a:off x="777240" y="3154680"/>
            <a:ext cx="6126480" cy="411480"/>
          </a:xfrm>
          <a:prstGeom prst="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182112"/>
            <a:ext cx="5852160" cy="292608"/>
          </a:xfrm>
          <a:prstGeom prst="rect">
            <a:avLst/>
          </a:prstGeom>
          <a:noFill/>
        </p:spPr>
        <p:txBody>
          <a:bodyPr wrap="square" lIns="73152" rIns="73152" tIns="36576" bIns="36576">
            <a:spAutoFit/>
          </a:bodyPr>
          <a:lstStyle/>
          <a:p>
            <a:pPr algn="l">
              <a:defRPr sz="1400" b="1">
                <a:solidFill>
                  <a:srgbClr val="11161D"/>
                </a:solidFill>
                <a:latin typeface="Aptos"/>
              </a:defRPr>
            </a:pPr>
            <a:r>
              <a:rPr>
                <a:solidFill>
                  <a:srgbClr val="191919"/>
                </a:solidFill>
                <a:latin typeface="Aptos"/>
              </a:rPr>
              <a:t>Key terms are highlighted with a yellow-pen effect</a:t>
            </a:r>
          </a:p>
        </p:txBody>
      </p:sp>
      <p:sp>
        <p:nvSpPr>
          <p:cNvPr id="7" name="TextBox 6"/>
          <p:cNvSpPr txBox="1"/>
          <p:nvPr/>
        </p:nvSpPr>
        <p:spPr>
          <a:xfrm>
            <a:off x="777240" y="4892040"/>
            <a:ext cx="6858000" cy="457200"/>
          </a:xfrm>
          <a:prstGeom prst="rect">
            <a:avLst/>
          </a:prstGeom>
          <a:noFill/>
        </p:spPr>
        <p:txBody>
          <a:bodyPr wrap="square" lIns="73152" rIns="73152" tIns="36576" bIns="36576">
            <a:spAutoFit/>
          </a:bodyPr>
          <a:lstStyle/>
          <a:p>
            <a:pPr algn="l">
              <a:defRPr sz="1800" b="1">
                <a:solidFill>
                  <a:srgbClr val="F5F7FA"/>
                </a:solidFill>
                <a:latin typeface="Aptos"/>
              </a:defRPr>
            </a:pPr>
            <a:r>
              <a:rPr>
                <a:solidFill>
                  <a:srgbClr val="191919"/>
                </a:solidFill>
                <a:latin typeface="Aptos"/>
              </a:rPr>
              <a:t>Created by Tanveer Rashid Turk</a:t>
            </a:r>
          </a:p>
        </p:txBody>
      </p:sp>
      <p:sp>
        <p:nvSpPr>
          <p:cNvPr id="8" name="TextBox 7"/>
          <p:cNvSpPr txBox="1"/>
          <p:nvPr/>
        </p:nvSpPr>
        <p:spPr>
          <a:xfrm>
            <a:off x="777240" y="5349240"/>
            <a:ext cx="7315200" cy="365760"/>
          </a:xfrm>
          <a:prstGeom prst="rect">
            <a:avLst/>
          </a:prstGeom>
          <a:noFill/>
        </p:spPr>
        <p:txBody>
          <a:bodyPr wrap="square" lIns="73152" rIns="73152" tIns="36576" bIns="36576">
            <a:spAutoFit/>
          </a:bodyPr>
          <a:lstStyle/>
          <a:p>
            <a:pPr algn="l">
              <a:defRPr sz="1400" b="0">
                <a:solidFill>
                  <a:srgbClr val="B7C0CC"/>
                </a:solidFill>
                <a:latin typeface="Aptos"/>
              </a:defRPr>
            </a:pPr>
            <a:r>
              <a:rPr>
                <a:solidFill>
                  <a:srgbClr val="191919"/>
                </a:solidFill>
                <a:latin typeface="Aptos"/>
              </a:rPr>
              <a:t>All rights are reserved</a:t>
            </a:r>
          </a:p>
        </p:txBody>
      </p:sp>
      <p:sp>
        <p:nvSpPr>
          <p:cNvPr id="9" name="TextBox 8"/>
          <p:cNvSpPr txBox="1"/>
          <p:nvPr/>
        </p:nvSpPr>
        <p:spPr>
          <a:xfrm>
            <a:off x="502920" y="6473952"/>
            <a:ext cx="11155680" cy="228600"/>
          </a:xfrm>
          <a:prstGeom prst="rect">
            <a:avLst/>
          </a:prstGeom>
          <a:noFill/>
        </p:spPr>
        <p:txBody>
          <a:bodyPr wrap="none">
            <a:spAutoFit/>
          </a:bodyPr>
          <a:lstStyle/>
          <a:p>
            <a:pPr algn="r">
              <a:defRPr sz="900">
                <a:solidFill>
                  <a:srgbClr val="B7C0CC"/>
                </a:solidFill>
                <a:latin typeface="Aptos"/>
              </a:defRPr>
            </a:pPr>
            <a:r>
              <a:rPr>
                <a:solidFill>
                  <a:srgbClr val="191919"/>
                </a:solidFill>
                <a:latin typeface="Aptos"/>
              </a:rPr>
              <a:t>50-attack cybersecurity reference deck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146304"/>
          </a:xfrm>
          <a:prstGeom prst="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640080" cy="320040"/>
          </a:xfrm>
          <a:prstGeom prst="rect">
            <a:avLst/>
          </a:prstGeom>
          <a:noFill/>
        </p:spPr>
        <p:txBody>
          <a:bodyPr wrap="none">
            <a:spAutoFit/>
          </a:bodyPr>
          <a:lstStyle/>
          <a:p>
            <a:pPr>
              <a:defRPr sz="1500" b="1">
                <a:solidFill>
                  <a:srgbClr val="FFE25C"/>
                </a:solidFill>
              </a:defRPr>
            </a:pPr>
            <a:r>
              <a:rPr>
                <a:solidFill>
                  <a:srgbClr val="191919"/>
                </a:solidFill>
                <a:latin typeface="Aptos"/>
              </a:rPr>
              <a:t>01</a:t>
            </a:r>
          </a:p>
        </p:txBody>
      </p:sp>
      <p:sp>
        <p:nvSpPr>
          <p:cNvPr id="4" name="TextBox 3"/>
          <p:cNvSpPr txBox="1"/>
          <p:nvPr/>
        </p:nvSpPr>
        <p:spPr>
          <a:xfrm>
            <a:off x="777240" y="530352"/>
            <a:ext cx="10698480" cy="658368"/>
          </a:xfrm>
          <a:prstGeom prst="rect">
            <a:avLst/>
          </a:prstGeom>
          <a:noFill/>
        </p:spPr>
        <p:txBody>
          <a:bodyPr wrap="square" lIns="73152" rIns="73152" tIns="36576" bIns="36576">
            <a:spAutoFit/>
          </a:bodyPr>
          <a:lstStyle/>
          <a:p>
            <a:pPr algn="l">
              <a:defRPr sz="2800" b="1">
                <a:solidFill>
                  <a:srgbClr val="F5F7FA"/>
                </a:solidFill>
                <a:latin typeface="Aptos"/>
              </a:defRPr>
            </a:pPr>
            <a:r>
              <a:rPr>
                <a:solidFill>
                  <a:srgbClr val="191919"/>
                </a:solidFill>
                <a:latin typeface="Aptos"/>
              </a:rPr>
              <a:t>Phishing</a:t>
            </a:r>
          </a:p>
        </p:txBody>
      </p:sp>
      <p:sp>
        <p:nvSpPr>
          <p:cNvPr id="5" name="Rounded Rectangle 4"/>
          <p:cNvSpPr/>
          <p:nvPr/>
        </p:nvSpPr>
        <p:spPr>
          <a:xfrm>
            <a:off x="786384" y="1207008"/>
            <a:ext cx="1645920" cy="347472"/>
          </a:xfrm>
          <a:prstGeom prst="round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252728"/>
            <a:ext cx="1417320" cy="201168"/>
          </a:xfrm>
          <a:prstGeom prst="rect">
            <a:avLst/>
          </a:prstGeom>
          <a:noFill/>
        </p:spPr>
        <p:txBody>
          <a:bodyPr wrap="square" lIns="73152" rIns="73152" tIns="36576" bIns="36576">
            <a:spAutoFit/>
          </a:bodyPr>
          <a:lstStyle/>
          <a:p>
            <a:pPr algn="l">
              <a:defRPr sz="1000" b="1">
                <a:solidFill>
                  <a:srgbClr val="11161D"/>
                </a:solidFill>
                <a:latin typeface="Aptos"/>
              </a:defRPr>
            </a:pPr>
            <a:r>
              <a:rPr>
                <a:solidFill>
                  <a:srgbClr val="191919"/>
                </a:solidFill>
                <a:latin typeface="Aptos"/>
              </a:rPr>
              <a:t>ATTACK 1</a:t>
            </a:r>
          </a:p>
        </p:txBody>
      </p:sp>
      <p:sp>
        <p:nvSpPr>
          <p:cNvPr id="7" name="Rounded Rectangle 6"/>
          <p:cNvSpPr/>
          <p:nvPr/>
        </p:nvSpPr>
        <p:spPr>
          <a:xfrm>
            <a:off x="685800" y="1783080"/>
            <a:ext cx="10835640" cy="4297680"/>
          </a:xfrm>
          <a:prstGeom prst="roundRect">
            <a:avLst/>
          </a:prstGeom>
          <a:solidFill>
            <a:srgbClr val="F6F8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29968"/>
            <a:ext cx="10378440" cy="3749039"/>
          </a:xfrm>
          <a:prstGeom prst="rect">
            <a:avLst/>
          </a:prstGeom>
          <a:noFill/>
        </p:spPr>
        <p:txBody>
          <a:bodyPr wrap="square" lIns="164592" rIns="164592" tIns="109728" bIns="109728">
            <a:spAutoFit/>
          </a:bodyPr>
          <a:lstStyle/>
          <a:p>
            <a:pPr>
              <a:defRPr sz="1900">
                <a:solidFill>
                  <a:srgbClr val="F5F7FA"/>
                </a:solidFill>
                <a:latin typeface="Aptos"/>
              </a:defRPr>
            </a:pPr>
            <a:r>
              <a:rPr sz="1900">
                <a:solidFill>
                  <a:srgbClr val="191919"/>
                </a:solidFill>
                <a:latin typeface="Aptos"/>
              </a:rPr>
              <a:t>Phishing is a </a:t>
            </a:r>
            <a:r>
              <a:rPr sz="1900" b="1">
                <a:solidFill>
                  <a:srgbClr val="191919"/>
                </a:solidFill>
                <a:latin typeface="Aptos"/>
              </a:rPr>
              <a:t>cyberattack</a:t>
            </a:r>
            <a:r>
              <a:rPr sz="1900">
                <a:solidFill>
                  <a:srgbClr val="191919"/>
                </a:solidFill>
                <a:latin typeface="Aptos"/>
              </a:rPr>
              <a:t> in which an </a:t>
            </a:r>
            <a:r>
              <a:rPr sz="1900" b="1">
                <a:solidFill>
                  <a:srgbClr val="191919"/>
                </a:solidFill>
                <a:latin typeface="Aptos"/>
              </a:rPr>
              <a:t>attacker</a:t>
            </a:r>
            <a:r>
              <a:rPr sz="1900">
                <a:solidFill>
                  <a:srgbClr val="191919"/>
                </a:solidFill>
                <a:latin typeface="Aptos"/>
              </a:rPr>
              <a:t> uses deceptive emails, messages, </a:t>
            </a:r>
            <a:r>
              <a:rPr sz="1900" b="1">
                <a:solidFill>
                  <a:srgbClr val="191919"/>
                </a:solidFill>
                <a:latin typeface="Aptos"/>
              </a:rPr>
              <a:t>website</a:t>
            </a:r>
            <a:r>
              <a:rPr sz="1900">
                <a:solidFill>
                  <a:srgbClr val="191919"/>
                </a:solidFill>
                <a:latin typeface="Aptos"/>
              </a:rPr>
              <a:t>s, phone calls, or other communications to trick a </a:t>
            </a:r>
            <a:r>
              <a:rPr sz="1900" b="1">
                <a:solidFill>
                  <a:srgbClr val="191919"/>
                </a:solidFill>
                <a:latin typeface="Aptos"/>
              </a:rPr>
              <a:t>victim</a:t>
            </a:r>
            <a:r>
              <a:rPr sz="1900">
                <a:solidFill>
                  <a:srgbClr val="191919"/>
                </a:solidFill>
                <a:latin typeface="Aptos"/>
              </a:rPr>
              <a:t> into revealing </a:t>
            </a:r>
            <a:r>
              <a:rPr sz="1900" b="1">
                <a:solidFill>
                  <a:srgbClr val="191919"/>
                </a:solidFill>
                <a:latin typeface="Aptos"/>
              </a:rPr>
              <a:t>sensitive information</a:t>
            </a:r>
            <a:r>
              <a:rPr sz="1900">
                <a:solidFill>
                  <a:srgbClr val="191919"/>
                </a:solidFill>
                <a:latin typeface="Aptos"/>
              </a:rPr>
              <a:t> or performing an unsafe action. The </a:t>
            </a:r>
            <a:r>
              <a:rPr sz="1900" b="1">
                <a:solidFill>
                  <a:srgbClr val="191919"/>
                </a:solidFill>
                <a:latin typeface="Aptos"/>
              </a:rPr>
              <a:t>attacker</a:t>
            </a:r>
            <a:r>
              <a:rPr sz="1900">
                <a:solidFill>
                  <a:srgbClr val="191919"/>
                </a:solidFill>
                <a:latin typeface="Aptos"/>
              </a:rPr>
              <a:t> commonly pretends to be a trusted person or organization, such as a bank, university, company, or online service. The message may create urgency, fear, curiosity, or a reward so that the </a:t>
            </a:r>
            <a:r>
              <a:rPr sz="1900" b="1">
                <a:solidFill>
                  <a:srgbClr val="191919"/>
                </a:solidFill>
                <a:latin typeface="Aptos"/>
              </a:rPr>
              <a:t>victim</a:t>
            </a:r>
            <a:r>
              <a:rPr sz="1900">
                <a:solidFill>
                  <a:srgbClr val="191919"/>
                </a:solidFill>
                <a:latin typeface="Aptos"/>
              </a:rPr>
              <a:t> clicks a </a:t>
            </a:r>
            <a:r>
              <a:rPr sz="1900" b="1">
                <a:solidFill>
                  <a:srgbClr val="191919"/>
                </a:solidFill>
                <a:latin typeface="Aptos"/>
              </a:rPr>
              <a:t>malicious</a:t>
            </a:r>
            <a:r>
              <a:rPr sz="1900">
                <a:solidFill>
                  <a:srgbClr val="191919"/>
                </a:solidFill>
                <a:latin typeface="Aptos"/>
              </a:rPr>
              <a:t> link, opens an attachment, enters </a:t>
            </a:r>
            <a:r>
              <a:rPr sz="1900" b="1">
                <a:solidFill>
                  <a:srgbClr val="191919"/>
                </a:solidFill>
                <a:latin typeface="Aptos"/>
              </a:rPr>
              <a:t>credentials</a:t>
            </a:r>
            <a:r>
              <a:rPr sz="1900">
                <a:solidFill>
                  <a:srgbClr val="191919"/>
                </a:solidFill>
                <a:latin typeface="Aptos"/>
              </a:rPr>
              <a:t>, or transfers information. Successful phishing can lead to stolen </a:t>
            </a:r>
            <a:r>
              <a:rPr sz="1900" b="1">
                <a:solidFill>
                  <a:srgbClr val="191919"/>
                </a:solidFill>
                <a:latin typeface="Aptos"/>
              </a:rPr>
              <a:t>password</a:t>
            </a:r>
            <a:r>
              <a:rPr sz="1900">
                <a:solidFill>
                  <a:srgbClr val="191919"/>
                </a:solidFill>
                <a:latin typeface="Aptos"/>
              </a:rPr>
              <a:t>s, financial loss, </a:t>
            </a:r>
            <a:r>
              <a:rPr sz="1900" b="1">
                <a:solidFill>
                  <a:srgbClr val="191919"/>
                </a:solidFill>
                <a:latin typeface="Aptos"/>
              </a:rPr>
              <a:t>malware</a:t>
            </a:r>
            <a:r>
              <a:rPr sz="1900">
                <a:solidFill>
                  <a:srgbClr val="191919"/>
                </a:solidFill>
                <a:latin typeface="Aptos"/>
              </a:rPr>
              <a:t> infection, identity theft, or </a:t>
            </a:r>
            <a:r>
              <a:rPr sz="1900" b="1">
                <a:solidFill>
                  <a:srgbClr val="191919"/>
                </a:solidFill>
                <a:latin typeface="Aptos"/>
              </a:rPr>
              <a:t>unauthorized</a:t>
            </a:r>
            <a:r>
              <a:rPr sz="1900">
                <a:solidFill>
                  <a:srgbClr val="191919"/>
                </a:solidFill>
                <a:latin typeface="Aptos"/>
              </a:rPr>
              <a:t> access to accounts and </a:t>
            </a:r>
            <a:r>
              <a:rPr sz="1900" b="1">
                <a:solidFill>
                  <a:srgbClr val="191919"/>
                </a:solidFill>
                <a:latin typeface="Aptos"/>
              </a:rPr>
              <a:t>system</a:t>
            </a:r>
            <a:r>
              <a:rPr sz="1900">
                <a:solidFill>
                  <a:srgbClr val="191919"/>
                </a:solidFill>
                <a:latin typeface="Aptos"/>
              </a:rPr>
              <a:t>s.</a:t>
            </a:r>
          </a:p>
        </p:txBody>
      </p:sp>
      <p:sp>
        <p:nvSpPr>
          <p:cNvPr id="9" name="TextBox 8"/>
          <p:cNvSpPr txBox="1"/>
          <p:nvPr/>
        </p:nvSpPr>
        <p:spPr>
          <a:xfrm>
            <a:off x="502920" y="6473952"/>
            <a:ext cx="11155680" cy="228600"/>
          </a:xfrm>
          <a:prstGeom prst="rect">
            <a:avLst/>
          </a:prstGeom>
          <a:noFill/>
        </p:spPr>
        <p:txBody>
          <a:bodyPr wrap="none">
            <a:spAutoFit/>
          </a:bodyPr>
          <a:lstStyle/>
          <a:p>
            <a:pPr algn="r">
              <a:defRPr sz="900">
                <a:solidFill>
                  <a:srgbClr val="B7C0CC"/>
                </a:solidFill>
                <a:latin typeface="Aptos"/>
              </a:defRPr>
            </a:pPr>
            <a:r>
              <a:rPr>
                <a:solidFill>
                  <a:srgbClr val="191919"/>
                </a:solidFill>
                <a:latin typeface="Aptos"/>
              </a:rPr>
              <a:t>Cybersecurity Study Presentation • Exam-ready definitions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146304"/>
          </a:xfrm>
          <a:prstGeom prst="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640080" cy="320040"/>
          </a:xfrm>
          <a:prstGeom prst="rect">
            <a:avLst/>
          </a:prstGeom>
          <a:noFill/>
        </p:spPr>
        <p:txBody>
          <a:bodyPr wrap="none">
            <a:spAutoFit/>
          </a:bodyPr>
          <a:lstStyle/>
          <a:p>
            <a:pPr>
              <a:defRPr sz="1500" b="1">
                <a:solidFill>
                  <a:srgbClr val="FFE25C"/>
                </a:solidFill>
              </a:defRPr>
            </a:pPr>
            <a:r>
              <a:rPr>
                <a:solidFill>
                  <a:srgbClr val="191919"/>
                </a:solidFill>
                <a:latin typeface="Aptos"/>
              </a:rPr>
              <a:t>02</a:t>
            </a:r>
          </a:p>
        </p:txBody>
      </p:sp>
      <p:sp>
        <p:nvSpPr>
          <p:cNvPr id="4" name="TextBox 3"/>
          <p:cNvSpPr txBox="1"/>
          <p:nvPr/>
        </p:nvSpPr>
        <p:spPr>
          <a:xfrm>
            <a:off x="777240" y="530352"/>
            <a:ext cx="10698480" cy="658368"/>
          </a:xfrm>
          <a:prstGeom prst="rect">
            <a:avLst/>
          </a:prstGeom>
          <a:noFill/>
        </p:spPr>
        <p:txBody>
          <a:bodyPr wrap="square" lIns="73152" rIns="73152" tIns="36576" bIns="36576">
            <a:spAutoFit/>
          </a:bodyPr>
          <a:lstStyle/>
          <a:p>
            <a:pPr algn="l">
              <a:defRPr sz="2800" b="1">
                <a:solidFill>
                  <a:srgbClr val="F5F7FA"/>
                </a:solidFill>
                <a:latin typeface="Aptos"/>
              </a:defRPr>
            </a:pPr>
            <a:r>
              <a:rPr>
                <a:solidFill>
                  <a:srgbClr val="191919"/>
                </a:solidFill>
                <a:latin typeface="Aptos"/>
              </a:rPr>
              <a:t>Malware Attack</a:t>
            </a:r>
          </a:p>
        </p:txBody>
      </p:sp>
      <p:sp>
        <p:nvSpPr>
          <p:cNvPr id="5" name="Rounded Rectangle 4"/>
          <p:cNvSpPr/>
          <p:nvPr/>
        </p:nvSpPr>
        <p:spPr>
          <a:xfrm>
            <a:off x="786384" y="1207008"/>
            <a:ext cx="1645920" cy="347472"/>
          </a:xfrm>
          <a:prstGeom prst="round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252728"/>
            <a:ext cx="1417320" cy="201168"/>
          </a:xfrm>
          <a:prstGeom prst="rect">
            <a:avLst/>
          </a:prstGeom>
          <a:noFill/>
        </p:spPr>
        <p:txBody>
          <a:bodyPr wrap="square" lIns="73152" rIns="73152" tIns="36576" bIns="36576">
            <a:spAutoFit/>
          </a:bodyPr>
          <a:lstStyle/>
          <a:p>
            <a:pPr algn="l">
              <a:defRPr sz="1000" b="1">
                <a:solidFill>
                  <a:srgbClr val="11161D"/>
                </a:solidFill>
                <a:latin typeface="Aptos"/>
              </a:defRPr>
            </a:pPr>
            <a:r>
              <a:rPr>
                <a:solidFill>
                  <a:srgbClr val="191919"/>
                </a:solidFill>
                <a:latin typeface="Aptos"/>
              </a:rPr>
              <a:t>ATTACK 2</a:t>
            </a:r>
          </a:p>
        </p:txBody>
      </p:sp>
      <p:sp>
        <p:nvSpPr>
          <p:cNvPr id="7" name="Rounded Rectangle 6"/>
          <p:cNvSpPr/>
          <p:nvPr/>
        </p:nvSpPr>
        <p:spPr>
          <a:xfrm>
            <a:off x="685800" y="1783080"/>
            <a:ext cx="10835640" cy="4297680"/>
          </a:xfrm>
          <a:prstGeom prst="roundRect">
            <a:avLst/>
          </a:prstGeom>
          <a:solidFill>
            <a:srgbClr val="F6F8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29968"/>
            <a:ext cx="10378440" cy="3749039"/>
          </a:xfrm>
          <a:prstGeom prst="rect">
            <a:avLst/>
          </a:prstGeom>
          <a:noFill/>
        </p:spPr>
        <p:txBody>
          <a:bodyPr wrap="square" lIns="164592" rIns="164592" tIns="109728" bIns="109728">
            <a:spAutoFit/>
          </a:bodyPr>
          <a:lstStyle/>
          <a:p>
            <a:pPr>
              <a:defRPr sz="1900">
                <a:solidFill>
                  <a:srgbClr val="F5F7FA"/>
                </a:solidFill>
                <a:latin typeface="Aptos"/>
              </a:defRPr>
            </a:pPr>
            <a:r>
              <a:rPr sz="1900">
                <a:solidFill>
                  <a:srgbClr val="191919"/>
                </a:solidFill>
                <a:latin typeface="Aptos"/>
              </a:rPr>
              <a:t>A </a:t>
            </a:r>
            <a:r>
              <a:rPr sz="1900" b="1">
                <a:solidFill>
                  <a:srgbClr val="191919"/>
                </a:solidFill>
                <a:latin typeface="Aptos"/>
              </a:rPr>
              <a:t>malware</a:t>
            </a:r>
            <a:r>
              <a:rPr sz="1900">
                <a:solidFill>
                  <a:srgbClr val="191919"/>
                </a:solidFill>
                <a:latin typeface="Aptos"/>
              </a:rPr>
              <a:t> attack occurs when an </a:t>
            </a:r>
            <a:r>
              <a:rPr sz="1900" b="1">
                <a:solidFill>
                  <a:srgbClr val="191919"/>
                </a:solidFill>
                <a:latin typeface="Aptos"/>
              </a:rPr>
              <a:t>attacker</a:t>
            </a:r>
            <a:r>
              <a:rPr sz="1900">
                <a:solidFill>
                  <a:srgbClr val="191919"/>
                </a:solidFill>
                <a:latin typeface="Aptos"/>
              </a:rPr>
              <a:t> uses </a:t>
            </a:r>
            <a:r>
              <a:rPr sz="1900" b="1">
                <a:solidFill>
                  <a:srgbClr val="191919"/>
                </a:solidFill>
                <a:latin typeface="Aptos"/>
              </a:rPr>
              <a:t>malicious</a:t>
            </a:r>
            <a:r>
              <a:rPr sz="1900">
                <a:solidFill>
                  <a:srgbClr val="191919"/>
                </a:solidFill>
                <a:latin typeface="Aptos"/>
              </a:rPr>
              <a:t> software designed to damage, disrupt, spy on, manipulate, or gain </a:t>
            </a:r>
            <a:r>
              <a:rPr sz="1900" b="1">
                <a:solidFill>
                  <a:srgbClr val="191919"/>
                </a:solidFill>
                <a:latin typeface="Aptos"/>
              </a:rPr>
              <a:t>unauthorized</a:t>
            </a:r>
            <a:r>
              <a:rPr sz="1900">
                <a:solidFill>
                  <a:srgbClr val="191919"/>
                </a:solidFill>
                <a:latin typeface="Aptos"/>
              </a:rPr>
              <a:t> access to a computer </a:t>
            </a:r>
            <a:r>
              <a:rPr sz="1900" b="1">
                <a:solidFill>
                  <a:srgbClr val="191919"/>
                </a:solidFill>
                <a:latin typeface="Aptos"/>
              </a:rPr>
              <a:t>system</a:t>
            </a:r>
            <a:r>
              <a:rPr sz="1900">
                <a:solidFill>
                  <a:srgbClr val="191919"/>
                </a:solidFill>
                <a:latin typeface="Aptos"/>
              </a:rPr>
              <a:t>, </a:t>
            </a:r>
            <a:r>
              <a:rPr sz="1900" b="1">
                <a:solidFill>
                  <a:srgbClr val="191919"/>
                </a:solidFill>
                <a:latin typeface="Aptos"/>
              </a:rPr>
              <a:t>network</a:t>
            </a:r>
            <a:r>
              <a:rPr sz="1900">
                <a:solidFill>
                  <a:srgbClr val="191919"/>
                </a:solidFill>
                <a:latin typeface="Aptos"/>
              </a:rPr>
              <a:t>, or device. </a:t>
            </a:r>
            <a:r>
              <a:rPr sz="1900" b="1">
                <a:solidFill>
                  <a:srgbClr val="191919"/>
                </a:solidFill>
                <a:latin typeface="Aptos"/>
              </a:rPr>
              <a:t>Malware</a:t>
            </a:r>
            <a:r>
              <a:rPr sz="1900">
                <a:solidFill>
                  <a:srgbClr val="191919"/>
                </a:solidFill>
                <a:latin typeface="Aptos"/>
              </a:rPr>
              <a:t> is a broad term that includes viruses, worms, trojans, spyware, ransomware, and other </a:t>
            </a:r>
            <a:r>
              <a:rPr sz="1900" b="1">
                <a:solidFill>
                  <a:srgbClr val="191919"/>
                </a:solidFill>
                <a:latin typeface="Aptos"/>
              </a:rPr>
              <a:t>malicious</a:t>
            </a:r>
            <a:r>
              <a:rPr sz="1900">
                <a:solidFill>
                  <a:srgbClr val="191919"/>
                </a:solidFill>
                <a:latin typeface="Aptos"/>
              </a:rPr>
              <a:t> programs. </a:t>
            </a:r>
            <a:r>
              <a:rPr sz="1900" b="1">
                <a:solidFill>
                  <a:srgbClr val="191919"/>
                </a:solidFill>
                <a:latin typeface="Aptos"/>
              </a:rPr>
              <a:t>Malware</a:t>
            </a:r>
            <a:r>
              <a:rPr sz="1900">
                <a:solidFill>
                  <a:srgbClr val="191919"/>
                </a:solidFill>
                <a:latin typeface="Aptos"/>
              </a:rPr>
              <a:t> may enter through unsafe downloads, </a:t>
            </a:r>
            <a:r>
              <a:rPr sz="1900" b="1">
                <a:solidFill>
                  <a:srgbClr val="191919"/>
                </a:solidFill>
                <a:latin typeface="Aptos"/>
              </a:rPr>
              <a:t>malicious</a:t>
            </a:r>
            <a:r>
              <a:rPr sz="1900">
                <a:solidFill>
                  <a:srgbClr val="191919"/>
                </a:solidFill>
                <a:latin typeface="Aptos"/>
              </a:rPr>
              <a:t> attachments, compromised </a:t>
            </a:r>
            <a:r>
              <a:rPr sz="1900" b="1">
                <a:solidFill>
                  <a:srgbClr val="191919"/>
                </a:solidFill>
                <a:latin typeface="Aptos"/>
              </a:rPr>
              <a:t>website</a:t>
            </a:r>
            <a:r>
              <a:rPr sz="1900">
                <a:solidFill>
                  <a:srgbClr val="191919"/>
                </a:solidFill>
                <a:latin typeface="Aptos"/>
              </a:rPr>
              <a:t>s, removable media, or exploited vulnerabilities. Once executed, it may steal information, modify files, create </a:t>
            </a:r>
            <a:r>
              <a:rPr sz="1900" b="1">
                <a:solidFill>
                  <a:srgbClr val="191919"/>
                </a:solidFill>
                <a:latin typeface="Aptos"/>
              </a:rPr>
              <a:t>unauthorized</a:t>
            </a:r>
            <a:r>
              <a:rPr sz="1900">
                <a:solidFill>
                  <a:srgbClr val="191919"/>
                </a:solidFill>
                <a:latin typeface="Aptos"/>
              </a:rPr>
              <a:t> access, consume </a:t>
            </a:r>
            <a:r>
              <a:rPr sz="1900" b="1">
                <a:solidFill>
                  <a:srgbClr val="191919"/>
                </a:solidFill>
                <a:latin typeface="Aptos"/>
              </a:rPr>
              <a:t>system</a:t>
            </a:r>
            <a:r>
              <a:rPr sz="1900">
                <a:solidFill>
                  <a:srgbClr val="191919"/>
                </a:solidFill>
                <a:latin typeface="Aptos"/>
              </a:rPr>
              <a:t> resources, or spread to other devices. The impact depends on the </a:t>
            </a:r>
            <a:r>
              <a:rPr sz="1900" b="1">
                <a:solidFill>
                  <a:srgbClr val="191919"/>
                </a:solidFill>
                <a:latin typeface="Aptos"/>
              </a:rPr>
              <a:t>malware</a:t>
            </a:r>
            <a:r>
              <a:rPr sz="1900">
                <a:solidFill>
                  <a:srgbClr val="191919"/>
                </a:solidFill>
                <a:latin typeface="Aptos"/>
              </a:rPr>
              <a:t>'s purpose and the privileges available to it.</a:t>
            </a:r>
          </a:p>
        </p:txBody>
      </p:sp>
      <p:sp>
        <p:nvSpPr>
          <p:cNvPr id="9" name="TextBox 8"/>
          <p:cNvSpPr txBox="1"/>
          <p:nvPr/>
        </p:nvSpPr>
        <p:spPr>
          <a:xfrm>
            <a:off x="502920" y="6473952"/>
            <a:ext cx="11155680" cy="228600"/>
          </a:xfrm>
          <a:prstGeom prst="rect">
            <a:avLst/>
          </a:prstGeom>
          <a:noFill/>
        </p:spPr>
        <p:txBody>
          <a:bodyPr wrap="none">
            <a:spAutoFit/>
          </a:bodyPr>
          <a:lstStyle/>
          <a:p>
            <a:pPr algn="r">
              <a:defRPr sz="900">
                <a:solidFill>
                  <a:srgbClr val="B7C0CC"/>
                </a:solidFill>
                <a:latin typeface="Aptos"/>
              </a:defRPr>
            </a:pPr>
            <a:r>
              <a:rPr>
                <a:solidFill>
                  <a:srgbClr val="191919"/>
                </a:solidFill>
                <a:latin typeface="Aptos"/>
              </a:rPr>
              <a:t>Cybersecurity Study Presentation • Exam-ready definitions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146304"/>
          </a:xfrm>
          <a:prstGeom prst="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640080" cy="320040"/>
          </a:xfrm>
          <a:prstGeom prst="rect">
            <a:avLst/>
          </a:prstGeom>
          <a:noFill/>
        </p:spPr>
        <p:txBody>
          <a:bodyPr wrap="none">
            <a:spAutoFit/>
          </a:bodyPr>
          <a:lstStyle/>
          <a:p>
            <a:pPr>
              <a:defRPr sz="1500" b="1">
                <a:solidFill>
                  <a:srgbClr val="FFE25C"/>
                </a:solidFill>
              </a:defRPr>
            </a:pPr>
            <a:r>
              <a:rPr>
                <a:solidFill>
                  <a:srgbClr val="191919"/>
                </a:solidFill>
                <a:latin typeface="Aptos"/>
              </a:rPr>
              <a:t>03</a:t>
            </a:r>
          </a:p>
        </p:txBody>
      </p:sp>
      <p:sp>
        <p:nvSpPr>
          <p:cNvPr id="4" name="TextBox 3"/>
          <p:cNvSpPr txBox="1"/>
          <p:nvPr/>
        </p:nvSpPr>
        <p:spPr>
          <a:xfrm>
            <a:off x="777240" y="530352"/>
            <a:ext cx="10698480" cy="658368"/>
          </a:xfrm>
          <a:prstGeom prst="rect">
            <a:avLst/>
          </a:prstGeom>
          <a:noFill/>
        </p:spPr>
        <p:txBody>
          <a:bodyPr wrap="square" lIns="73152" rIns="73152" tIns="36576" bIns="36576">
            <a:spAutoFit/>
          </a:bodyPr>
          <a:lstStyle/>
          <a:p>
            <a:pPr algn="l">
              <a:defRPr sz="2800" b="1">
                <a:solidFill>
                  <a:srgbClr val="F5F7FA"/>
                </a:solidFill>
                <a:latin typeface="Aptos"/>
              </a:defRPr>
            </a:pPr>
            <a:r>
              <a:rPr>
                <a:solidFill>
                  <a:srgbClr val="191919"/>
                </a:solidFill>
                <a:latin typeface="Aptos"/>
              </a:rPr>
              <a:t>Ransomware Attack</a:t>
            </a:r>
          </a:p>
        </p:txBody>
      </p:sp>
      <p:sp>
        <p:nvSpPr>
          <p:cNvPr id="5" name="Rounded Rectangle 4"/>
          <p:cNvSpPr/>
          <p:nvPr/>
        </p:nvSpPr>
        <p:spPr>
          <a:xfrm>
            <a:off x="786384" y="1207008"/>
            <a:ext cx="1645920" cy="347472"/>
          </a:xfrm>
          <a:prstGeom prst="round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252728"/>
            <a:ext cx="1417320" cy="201168"/>
          </a:xfrm>
          <a:prstGeom prst="rect">
            <a:avLst/>
          </a:prstGeom>
          <a:noFill/>
        </p:spPr>
        <p:txBody>
          <a:bodyPr wrap="square" lIns="73152" rIns="73152" tIns="36576" bIns="36576">
            <a:spAutoFit/>
          </a:bodyPr>
          <a:lstStyle/>
          <a:p>
            <a:pPr algn="l">
              <a:defRPr sz="1000" b="1">
                <a:solidFill>
                  <a:srgbClr val="11161D"/>
                </a:solidFill>
                <a:latin typeface="Aptos"/>
              </a:defRPr>
            </a:pPr>
            <a:r>
              <a:rPr>
                <a:solidFill>
                  <a:srgbClr val="191919"/>
                </a:solidFill>
                <a:latin typeface="Aptos"/>
              </a:rPr>
              <a:t>ATTACK 3</a:t>
            </a:r>
          </a:p>
        </p:txBody>
      </p:sp>
      <p:sp>
        <p:nvSpPr>
          <p:cNvPr id="7" name="Rounded Rectangle 6"/>
          <p:cNvSpPr/>
          <p:nvPr/>
        </p:nvSpPr>
        <p:spPr>
          <a:xfrm>
            <a:off x="685800" y="1783080"/>
            <a:ext cx="10835640" cy="4297680"/>
          </a:xfrm>
          <a:prstGeom prst="roundRect">
            <a:avLst/>
          </a:prstGeom>
          <a:solidFill>
            <a:srgbClr val="F6F8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29968"/>
            <a:ext cx="10378440" cy="3749039"/>
          </a:xfrm>
          <a:prstGeom prst="rect">
            <a:avLst/>
          </a:prstGeom>
          <a:noFill/>
        </p:spPr>
        <p:txBody>
          <a:bodyPr wrap="square" lIns="164592" rIns="164592" tIns="109728" bIns="109728">
            <a:spAutoFit/>
          </a:bodyPr>
          <a:lstStyle/>
          <a:p>
            <a:pPr>
              <a:defRPr sz="1900">
                <a:solidFill>
                  <a:srgbClr val="F5F7FA"/>
                </a:solidFill>
                <a:latin typeface="Aptos"/>
              </a:defRPr>
            </a:pPr>
            <a:r>
              <a:rPr sz="1900">
                <a:solidFill>
                  <a:srgbClr val="191919"/>
                </a:solidFill>
                <a:latin typeface="Aptos"/>
              </a:rPr>
              <a:t>A ransomware attack is a form of </a:t>
            </a:r>
            <a:r>
              <a:rPr sz="1900" b="1">
                <a:solidFill>
                  <a:srgbClr val="191919"/>
                </a:solidFill>
                <a:latin typeface="Aptos"/>
              </a:rPr>
              <a:t>malware</a:t>
            </a:r>
            <a:r>
              <a:rPr sz="1900">
                <a:solidFill>
                  <a:srgbClr val="191919"/>
                </a:solidFill>
                <a:latin typeface="Aptos"/>
              </a:rPr>
              <a:t> attack in which </a:t>
            </a:r>
            <a:r>
              <a:rPr sz="1900" b="1">
                <a:solidFill>
                  <a:srgbClr val="191919"/>
                </a:solidFill>
                <a:latin typeface="Aptos"/>
              </a:rPr>
              <a:t>malicious</a:t>
            </a:r>
            <a:r>
              <a:rPr sz="1900">
                <a:solidFill>
                  <a:srgbClr val="191919"/>
                </a:solidFill>
                <a:latin typeface="Aptos"/>
              </a:rPr>
              <a:t> software prevents </a:t>
            </a:r>
            <a:r>
              <a:rPr sz="1900" b="1">
                <a:solidFill>
                  <a:srgbClr val="191919"/>
                </a:solidFill>
                <a:latin typeface="Aptos"/>
              </a:rPr>
              <a:t>victim</a:t>
            </a:r>
            <a:r>
              <a:rPr sz="1900">
                <a:solidFill>
                  <a:srgbClr val="191919"/>
                </a:solidFill>
                <a:latin typeface="Aptos"/>
              </a:rPr>
              <a:t>s from accessing files, </a:t>
            </a:r>
            <a:r>
              <a:rPr sz="1900" b="1">
                <a:solidFill>
                  <a:srgbClr val="191919"/>
                </a:solidFill>
                <a:latin typeface="Aptos"/>
              </a:rPr>
              <a:t>system</a:t>
            </a:r>
            <a:r>
              <a:rPr sz="1900">
                <a:solidFill>
                  <a:srgbClr val="191919"/>
                </a:solidFill>
                <a:latin typeface="Aptos"/>
              </a:rPr>
              <a:t>s, or services, commonly by encrypting data, and the </a:t>
            </a:r>
            <a:r>
              <a:rPr sz="1900" b="1">
                <a:solidFill>
                  <a:srgbClr val="191919"/>
                </a:solidFill>
                <a:latin typeface="Aptos"/>
              </a:rPr>
              <a:t>attacker</a:t>
            </a:r>
            <a:r>
              <a:rPr sz="1900">
                <a:solidFill>
                  <a:srgbClr val="191919"/>
                </a:solidFill>
                <a:latin typeface="Aptos"/>
              </a:rPr>
              <a:t> demands a ransom for restoration or another promised form of access. Modern ransomware operations may also steal </a:t>
            </a:r>
            <a:r>
              <a:rPr sz="1900" b="1">
                <a:solidFill>
                  <a:srgbClr val="191919"/>
                </a:solidFill>
                <a:latin typeface="Aptos"/>
              </a:rPr>
              <a:t>sensitive information</a:t>
            </a:r>
            <a:r>
              <a:rPr sz="1900">
                <a:solidFill>
                  <a:srgbClr val="191919"/>
                </a:solidFill>
                <a:latin typeface="Aptos"/>
              </a:rPr>
              <a:t> before </a:t>
            </a:r>
            <a:r>
              <a:rPr sz="1900" b="1">
                <a:solidFill>
                  <a:srgbClr val="191919"/>
                </a:solidFill>
                <a:latin typeface="Aptos"/>
              </a:rPr>
              <a:t>encryption</a:t>
            </a:r>
            <a:r>
              <a:rPr sz="1900">
                <a:solidFill>
                  <a:srgbClr val="191919"/>
                </a:solidFill>
                <a:latin typeface="Aptos"/>
              </a:rPr>
              <a:t> and threaten to publish it, a practice commonly called double extortion. Such attacks can interrupt business, education, healthcare, and government operations and may cause financial, operational, legal, and reputational damage. Recovery generally depends on secure backups, incident response, containment, and restoration procedures.</a:t>
            </a:r>
          </a:p>
        </p:txBody>
      </p:sp>
      <p:sp>
        <p:nvSpPr>
          <p:cNvPr id="9" name="TextBox 8"/>
          <p:cNvSpPr txBox="1"/>
          <p:nvPr/>
        </p:nvSpPr>
        <p:spPr>
          <a:xfrm>
            <a:off x="502920" y="6473952"/>
            <a:ext cx="11155680" cy="228600"/>
          </a:xfrm>
          <a:prstGeom prst="rect">
            <a:avLst/>
          </a:prstGeom>
          <a:noFill/>
        </p:spPr>
        <p:txBody>
          <a:bodyPr wrap="none">
            <a:spAutoFit/>
          </a:bodyPr>
          <a:lstStyle/>
          <a:p>
            <a:pPr algn="r">
              <a:defRPr sz="900">
                <a:solidFill>
                  <a:srgbClr val="B7C0CC"/>
                </a:solidFill>
                <a:latin typeface="Aptos"/>
              </a:defRPr>
            </a:pPr>
            <a:r>
              <a:rPr>
                <a:solidFill>
                  <a:srgbClr val="191919"/>
                </a:solidFill>
                <a:latin typeface="Aptos"/>
              </a:rPr>
              <a:t>Cybersecurity Study Presentation • Exam-ready definitions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146304"/>
          </a:xfrm>
          <a:prstGeom prst="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640080" cy="320040"/>
          </a:xfrm>
          <a:prstGeom prst="rect">
            <a:avLst/>
          </a:prstGeom>
          <a:noFill/>
        </p:spPr>
        <p:txBody>
          <a:bodyPr wrap="none">
            <a:spAutoFit/>
          </a:bodyPr>
          <a:lstStyle/>
          <a:p>
            <a:pPr>
              <a:defRPr sz="1500" b="1">
                <a:solidFill>
                  <a:srgbClr val="FFE25C"/>
                </a:solidFill>
              </a:defRPr>
            </a:pPr>
            <a:r>
              <a:rPr>
                <a:solidFill>
                  <a:srgbClr val="191919"/>
                </a:solidFill>
                <a:latin typeface="Aptos"/>
              </a:rPr>
              <a:t>04</a:t>
            </a:r>
          </a:p>
        </p:txBody>
      </p:sp>
      <p:sp>
        <p:nvSpPr>
          <p:cNvPr id="4" name="TextBox 3"/>
          <p:cNvSpPr txBox="1"/>
          <p:nvPr/>
        </p:nvSpPr>
        <p:spPr>
          <a:xfrm>
            <a:off x="777240" y="530352"/>
            <a:ext cx="10698480" cy="658368"/>
          </a:xfrm>
          <a:prstGeom prst="rect">
            <a:avLst/>
          </a:prstGeom>
          <a:noFill/>
        </p:spPr>
        <p:txBody>
          <a:bodyPr wrap="square" lIns="73152" rIns="73152" tIns="36576" bIns="36576">
            <a:spAutoFit/>
          </a:bodyPr>
          <a:lstStyle/>
          <a:p>
            <a:pPr algn="l">
              <a:defRPr sz="2800" b="1">
                <a:solidFill>
                  <a:srgbClr val="F5F7FA"/>
                </a:solidFill>
                <a:latin typeface="Aptos"/>
              </a:defRPr>
            </a:pPr>
            <a:r>
              <a:rPr>
                <a:solidFill>
                  <a:srgbClr val="191919"/>
                </a:solidFill>
                <a:latin typeface="Aptos"/>
              </a:rPr>
              <a:t>Denial-of-Service (DoS) Attack</a:t>
            </a:r>
          </a:p>
        </p:txBody>
      </p:sp>
      <p:sp>
        <p:nvSpPr>
          <p:cNvPr id="5" name="Rounded Rectangle 4"/>
          <p:cNvSpPr/>
          <p:nvPr/>
        </p:nvSpPr>
        <p:spPr>
          <a:xfrm>
            <a:off x="786384" y="1207008"/>
            <a:ext cx="1645920" cy="347472"/>
          </a:xfrm>
          <a:prstGeom prst="round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252728"/>
            <a:ext cx="1417320" cy="201168"/>
          </a:xfrm>
          <a:prstGeom prst="rect">
            <a:avLst/>
          </a:prstGeom>
          <a:noFill/>
        </p:spPr>
        <p:txBody>
          <a:bodyPr wrap="square" lIns="73152" rIns="73152" tIns="36576" bIns="36576">
            <a:spAutoFit/>
          </a:bodyPr>
          <a:lstStyle/>
          <a:p>
            <a:pPr algn="l">
              <a:defRPr sz="1000" b="1">
                <a:solidFill>
                  <a:srgbClr val="11161D"/>
                </a:solidFill>
                <a:latin typeface="Aptos"/>
              </a:defRPr>
            </a:pPr>
            <a:r>
              <a:rPr>
                <a:solidFill>
                  <a:srgbClr val="191919"/>
                </a:solidFill>
                <a:latin typeface="Aptos"/>
              </a:rPr>
              <a:t>ATTACK 4</a:t>
            </a:r>
          </a:p>
        </p:txBody>
      </p:sp>
      <p:sp>
        <p:nvSpPr>
          <p:cNvPr id="7" name="Rounded Rectangle 6"/>
          <p:cNvSpPr/>
          <p:nvPr/>
        </p:nvSpPr>
        <p:spPr>
          <a:xfrm>
            <a:off x="685800" y="1783080"/>
            <a:ext cx="10835640" cy="4297680"/>
          </a:xfrm>
          <a:prstGeom prst="roundRect">
            <a:avLst/>
          </a:prstGeom>
          <a:solidFill>
            <a:srgbClr val="F6F8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29968"/>
            <a:ext cx="10378440" cy="3749039"/>
          </a:xfrm>
          <a:prstGeom prst="rect">
            <a:avLst/>
          </a:prstGeom>
          <a:noFill/>
        </p:spPr>
        <p:txBody>
          <a:bodyPr wrap="square" lIns="164592" rIns="164592" tIns="109728" bIns="109728">
            <a:spAutoFit/>
          </a:bodyPr>
          <a:lstStyle/>
          <a:p>
            <a:pPr>
              <a:defRPr sz="1900">
                <a:solidFill>
                  <a:srgbClr val="F5F7FA"/>
                </a:solidFill>
                <a:latin typeface="Aptos"/>
              </a:defRPr>
            </a:pPr>
            <a:r>
              <a:rPr sz="1900">
                <a:solidFill>
                  <a:srgbClr val="191919"/>
                </a:solidFill>
                <a:latin typeface="Aptos"/>
              </a:rPr>
              <a:t>A Denial-of-Service (DoS) attack is an attack intended to make a computer, </a:t>
            </a:r>
            <a:r>
              <a:rPr sz="1900" b="1">
                <a:solidFill>
                  <a:srgbClr val="191919"/>
                </a:solidFill>
                <a:latin typeface="Aptos"/>
              </a:rPr>
              <a:t>network</a:t>
            </a:r>
            <a:r>
              <a:rPr sz="1900">
                <a:solidFill>
                  <a:srgbClr val="191919"/>
                </a:solidFill>
                <a:latin typeface="Aptos"/>
              </a:rPr>
              <a:t>, </a:t>
            </a:r>
            <a:r>
              <a:rPr sz="1900" b="1">
                <a:solidFill>
                  <a:srgbClr val="191919"/>
                </a:solidFill>
                <a:latin typeface="Aptos"/>
              </a:rPr>
              <a:t>application</a:t>
            </a:r>
            <a:r>
              <a:rPr sz="1900">
                <a:solidFill>
                  <a:srgbClr val="191919"/>
                </a:solidFill>
                <a:latin typeface="Aptos"/>
              </a:rPr>
              <a:t>, or online service unavailable or difficult for legitimate users to access. The </a:t>
            </a:r>
            <a:r>
              <a:rPr sz="1900" b="1">
                <a:solidFill>
                  <a:srgbClr val="191919"/>
                </a:solidFill>
                <a:latin typeface="Aptos"/>
              </a:rPr>
              <a:t>attacker</a:t>
            </a:r>
            <a:r>
              <a:rPr sz="1900">
                <a:solidFill>
                  <a:srgbClr val="191919"/>
                </a:solidFill>
                <a:latin typeface="Aptos"/>
              </a:rPr>
              <a:t> attempts to exhaust a limited resource such as bandwidth, processing power, memory, connection capacity, or </a:t>
            </a:r>
            <a:r>
              <a:rPr sz="1900" b="1">
                <a:solidFill>
                  <a:srgbClr val="191919"/>
                </a:solidFill>
                <a:latin typeface="Aptos"/>
              </a:rPr>
              <a:t>application</a:t>
            </a:r>
            <a:r>
              <a:rPr sz="1900">
                <a:solidFill>
                  <a:srgbClr val="191919"/>
                </a:solidFill>
                <a:latin typeface="Aptos"/>
              </a:rPr>
              <a:t> resources. As the </a:t>
            </a:r>
            <a:r>
              <a:rPr sz="1900" b="1">
                <a:solidFill>
                  <a:srgbClr val="191919"/>
                </a:solidFill>
                <a:latin typeface="Aptos"/>
              </a:rPr>
              <a:t>system</a:t>
            </a:r>
            <a:r>
              <a:rPr sz="1900">
                <a:solidFill>
                  <a:srgbClr val="191919"/>
                </a:solidFill>
                <a:latin typeface="Aptos"/>
              </a:rPr>
              <a:t> becomes overloaded, legitimate requests may be delayed, rejected, or dropped. A DoS attack normally originates from a single attacking source or a relatively limited number of sources. Its main security objective is to affect </a:t>
            </a:r>
            <a:r>
              <a:rPr sz="1900" b="1">
                <a:solidFill>
                  <a:srgbClr val="191919"/>
                </a:solidFill>
                <a:latin typeface="Aptos"/>
              </a:rPr>
              <a:t>availability</a:t>
            </a:r>
            <a:r>
              <a:rPr sz="1900">
                <a:solidFill>
                  <a:srgbClr val="191919"/>
                </a:solidFill>
                <a:latin typeface="Aptos"/>
              </a:rPr>
              <a:t> rather than directly steal information.</a:t>
            </a:r>
          </a:p>
        </p:txBody>
      </p:sp>
      <p:sp>
        <p:nvSpPr>
          <p:cNvPr id="9" name="TextBox 8"/>
          <p:cNvSpPr txBox="1"/>
          <p:nvPr/>
        </p:nvSpPr>
        <p:spPr>
          <a:xfrm>
            <a:off x="502920" y="6473952"/>
            <a:ext cx="11155680" cy="228600"/>
          </a:xfrm>
          <a:prstGeom prst="rect">
            <a:avLst/>
          </a:prstGeom>
          <a:noFill/>
        </p:spPr>
        <p:txBody>
          <a:bodyPr wrap="none">
            <a:spAutoFit/>
          </a:bodyPr>
          <a:lstStyle/>
          <a:p>
            <a:pPr algn="r">
              <a:defRPr sz="900">
                <a:solidFill>
                  <a:srgbClr val="B7C0CC"/>
                </a:solidFill>
                <a:latin typeface="Aptos"/>
              </a:defRPr>
            </a:pPr>
            <a:r>
              <a:rPr>
                <a:solidFill>
                  <a:srgbClr val="191919"/>
                </a:solidFill>
                <a:latin typeface="Aptos"/>
              </a:rPr>
              <a:t>Cybersecurity Study Presentation • Exam-ready definitions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146304"/>
          </a:xfrm>
          <a:prstGeom prst="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640080" cy="320040"/>
          </a:xfrm>
          <a:prstGeom prst="rect">
            <a:avLst/>
          </a:prstGeom>
          <a:noFill/>
        </p:spPr>
        <p:txBody>
          <a:bodyPr wrap="none">
            <a:spAutoFit/>
          </a:bodyPr>
          <a:lstStyle/>
          <a:p>
            <a:pPr>
              <a:defRPr sz="1500" b="1">
                <a:solidFill>
                  <a:srgbClr val="FFE25C"/>
                </a:solidFill>
              </a:defRPr>
            </a:pPr>
            <a:r>
              <a:rPr>
                <a:solidFill>
                  <a:srgbClr val="191919"/>
                </a:solidFill>
                <a:latin typeface="Aptos"/>
              </a:rPr>
              <a:t>05</a:t>
            </a:r>
          </a:p>
        </p:txBody>
      </p:sp>
      <p:sp>
        <p:nvSpPr>
          <p:cNvPr id="4" name="TextBox 3"/>
          <p:cNvSpPr txBox="1"/>
          <p:nvPr/>
        </p:nvSpPr>
        <p:spPr>
          <a:xfrm>
            <a:off x="777240" y="530352"/>
            <a:ext cx="10698480" cy="658368"/>
          </a:xfrm>
          <a:prstGeom prst="rect">
            <a:avLst/>
          </a:prstGeom>
          <a:noFill/>
        </p:spPr>
        <p:txBody>
          <a:bodyPr wrap="square" lIns="73152" rIns="73152" tIns="36576" bIns="36576">
            <a:spAutoFit/>
          </a:bodyPr>
          <a:lstStyle/>
          <a:p>
            <a:pPr algn="l">
              <a:defRPr sz="2800" b="1">
                <a:solidFill>
                  <a:srgbClr val="F5F7FA"/>
                </a:solidFill>
                <a:latin typeface="Aptos"/>
              </a:defRPr>
            </a:pPr>
            <a:r>
              <a:rPr>
                <a:solidFill>
                  <a:srgbClr val="191919"/>
                </a:solidFill>
                <a:latin typeface="Aptos"/>
              </a:rPr>
              <a:t>Distributed Denial-of-Service (DDoS) Attack</a:t>
            </a:r>
          </a:p>
        </p:txBody>
      </p:sp>
      <p:sp>
        <p:nvSpPr>
          <p:cNvPr id="5" name="Rounded Rectangle 4"/>
          <p:cNvSpPr/>
          <p:nvPr/>
        </p:nvSpPr>
        <p:spPr>
          <a:xfrm>
            <a:off x="786384" y="1207008"/>
            <a:ext cx="1645920" cy="347472"/>
          </a:xfrm>
          <a:prstGeom prst="round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252728"/>
            <a:ext cx="1417320" cy="201168"/>
          </a:xfrm>
          <a:prstGeom prst="rect">
            <a:avLst/>
          </a:prstGeom>
          <a:noFill/>
        </p:spPr>
        <p:txBody>
          <a:bodyPr wrap="square" lIns="73152" rIns="73152" tIns="36576" bIns="36576">
            <a:spAutoFit/>
          </a:bodyPr>
          <a:lstStyle/>
          <a:p>
            <a:pPr algn="l">
              <a:defRPr sz="1000" b="1">
                <a:solidFill>
                  <a:srgbClr val="11161D"/>
                </a:solidFill>
                <a:latin typeface="Aptos"/>
              </a:defRPr>
            </a:pPr>
            <a:r>
              <a:rPr>
                <a:solidFill>
                  <a:srgbClr val="191919"/>
                </a:solidFill>
                <a:latin typeface="Aptos"/>
              </a:rPr>
              <a:t>ATTACK 5</a:t>
            </a:r>
          </a:p>
        </p:txBody>
      </p:sp>
      <p:sp>
        <p:nvSpPr>
          <p:cNvPr id="7" name="Rounded Rectangle 6"/>
          <p:cNvSpPr/>
          <p:nvPr/>
        </p:nvSpPr>
        <p:spPr>
          <a:xfrm>
            <a:off x="685800" y="1783080"/>
            <a:ext cx="10835640" cy="4297680"/>
          </a:xfrm>
          <a:prstGeom prst="roundRect">
            <a:avLst/>
          </a:prstGeom>
          <a:solidFill>
            <a:srgbClr val="F6F8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29968"/>
            <a:ext cx="10378440" cy="3749039"/>
          </a:xfrm>
          <a:prstGeom prst="rect">
            <a:avLst/>
          </a:prstGeom>
          <a:noFill/>
        </p:spPr>
        <p:txBody>
          <a:bodyPr wrap="square" lIns="164592" rIns="164592" tIns="109728" bIns="109728">
            <a:spAutoFit/>
          </a:bodyPr>
          <a:lstStyle/>
          <a:p>
            <a:pPr>
              <a:defRPr sz="1900">
                <a:solidFill>
                  <a:srgbClr val="F5F7FA"/>
                </a:solidFill>
                <a:latin typeface="Aptos"/>
              </a:defRPr>
            </a:pPr>
            <a:r>
              <a:rPr sz="1900">
                <a:solidFill>
                  <a:srgbClr val="191919"/>
                </a:solidFill>
                <a:latin typeface="Aptos"/>
              </a:rPr>
              <a:t>A Distributed Denial-of-Service (DDoS) attack is a denial-of-service attack carried out through many compromised or coordinated devices at the same time. These devices may form a botnet or otherwise generate large volumes of </a:t>
            </a:r>
            <a:r>
              <a:rPr sz="1900" b="1">
                <a:solidFill>
                  <a:srgbClr val="191919"/>
                </a:solidFill>
                <a:latin typeface="Aptos"/>
              </a:rPr>
              <a:t>malicious</a:t>
            </a:r>
            <a:r>
              <a:rPr sz="1900">
                <a:solidFill>
                  <a:srgbClr val="191919"/>
                </a:solidFill>
                <a:latin typeface="Aptos"/>
              </a:rPr>
              <a:t> traffic or requests toward a target. Because the traffic comes from multiple sources, blocking one attacking device is not enough to stop the attack. DDoS attacks can consume </a:t>
            </a:r>
            <a:r>
              <a:rPr sz="1900" b="1">
                <a:solidFill>
                  <a:srgbClr val="191919"/>
                </a:solidFill>
                <a:latin typeface="Aptos"/>
              </a:rPr>
              <a:t>network</a:t>
            </a:r>
            <a:r>
              <a:rPr sz="1900">
                <a:solidFill>
                  <a:srgbClr val="191919"/>
                </a:solidFill>
                <a:latin typeface="Aptos"/>
              </a:rPr>
              <a:t> bandwidth, overload </a:t>
            </a:r>
            <a:r>
              <a:rPr sz="1900" b="1">
                <a:solidFill>
                  <a:srgbClr val="191919"/>
                </a:solidFill>
                <a:latin typeface="Aptos"/>
              </a:rPr>
              <a:t>server</a:t>
            </a:r>
            <a:r>
              <a:rPr sz="1900">
                <a:solidFill>
                  <a:srgbClr val="191919"/>
                </a:solidFill>
                <a:latin typeface="Aptos"/>
              </a:rPr>
              <a:t>s, exhaust connection tables, or overwhelm </a:t>
            </a:r>
            <a:r>
              <a:rPr sz="1900" b="1">
                <a:solidFill>
                  <a:srgbClr val="191919"/>
                </a:solidFill>
                <a:latin typeface="Aptos"/>
              </a:rPr>
              <a:t>application</a:t>
            </a:r>
            <a:r>
              <a:rPr sz="1900">
                <a:solidFill>
                  <a:srgbClr val="191919"/>
                </a:solidFill>
                <a:latin typeface="Aptos"/>
              </a:rPr>
              <a:t> resources. The primary impact is reduced </a:t>
            </a:r>
            <a:r>
              <a:rPr sz="1900" b="1">
                <a:solidFill>
                  <a:srgbClr val="191919"/>
                </a:solidFill>
                <a:latin typeface="Aptos"/>
              </a:rPr>
              <a:t>availability</a:t>
            </a:r>
            <a:r>
              <a:rPr sz="1900">
                <a:solidFill>
                  <a:srgbClr val="191919"/>
                </a:solidFill>
                <a:latin typeface="Aptos"/>
              </a:rPr>
              <a:t>, which can prevent legitimate users from reaching a service.</a:t>
            </a:r>
          </a:p>
        </p:txBody>
      </p:sp>
      <p:sp>
        <p:nvSpPr>
          <p:cNvPr id="9" name="TextBox 8"/>
          <p:cNvSpPr txBox="1"/>
          <p:nvPr/>
        </p:nvSpPr>
        <p:spPr>
          <a:xfrm>
            <a:off x="502920" y="6473952"/>
            <a:ext cx="11155680" cy="228600"/>
          </a:xfrm>
          <a:prstGeom prst="rect">
            <a:avLst/>
          </a:prstGeom>
          <a:noFill/>
        </p:spPr>
        <p:txBody>
          <a:bodyPr wrap="none">
            <a:spAutoFit/>
          </a:bodyPr>
          <a:lstStyle/>
          <a:p>
            <a:pPr algn="r">
              <a:defRPr sz="900">
                <a:solidFill>
                  <a:srgbClr val="B7C0CC"/>
                </a:solidFill>
                <a:latin typeface="Aptos"/>
              </a:defRPr>
            </a:pPr>
            <a:r>
              <a:rPr>
                <a:solidFill>
                  <a:srgbClr val="191919"/>
                </a:solidFill>
                <a:latin typeface="Aptos"/>
              </a:rPr>
              <a:t>Cybersecurity Study Presentation • Exam-ready definitions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146304"/>
          </a:xfrm>
          <a:prstGeom prst="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640080" cy="320040"/>
          </a:xfrm>
          <a:prstGeom prst="rect">
            <a:avLst/>
          </a:prstGeom>
          <a:noFill/>
        </p:spPr>
        <p:txBody>
          <a:bodyPr wrap="none">
            <a:spAutoFit/>
          </a:bodyPr>
          <a:lstStyle/>
          <a:p>
            <a:pPr>
              <a:defRPr sz="1500" b="1">
                <a:solidFill>
                  <a:srgbClr val="FFE25C"/>
                </a:solidFill>
              </a:defRPr>
            </a:pPr>
            <a:r>
              <a:rPr>
                <a:solidFill>
                  <a:srgbClr val="191919"/>
                </a:solidFill>
                <a:latin typeface="Aptos"/>
              </a:rPr>
              <a:t>06</a:t>
            </a:r>
          </a:p>
        </p:txBody>
      </p:sp>
      <p:sp>
        <p:nvSpPr>
          <p:cNvPr id="4" name="TextBox 3"/>
          <p:cNvSpPr txBox="1"/>
          <p:nvPr/>
        </p:nvSpPr>
        <p:spPr>
          <a:xfrm>
            <a:off x="777240" y="530352"/>
            <a:ext cx="10698480" cy="658368"/>
          </a:xfrm>
          <a:prstGeom prst="rect">
            <a:avLst/>
          </a:prstGeom>
          <a:noFill/>
        </p:spPr>
        <p:txBody>
          <a:bodyPr wrap="square" lIns="73152" rIns="73152" tIns="36576" bIns="36576">
            <a:spAutoFit/>
          </a:bodyPr>
          <a:lstStyle/>
          <a:p>
            <a:pPr algn="l">
              <a:defRPr sz="2800" b="1">
                <a:solidFill>
                  <a:srgbClr val="F5F7FA"/>
                </a:solidFill>
                <a:latin typeface="Aptos"/>
              </a:defRPr>
            </a:pPr>
            <a:r>
              <a:rPr>
                <a:solidFill>
                  <a:srgbClr val="191919"/>
                </a:solidFill>
                <a:latin typeface="Aptos"/>
              </a:rPr>
              <a:t>Man-in-the-Middle (MITM) Attack</a:t>
            </a:r>
          </a:p>
        </p:txBody>
      </p:sp>
      <p:sp>
        <p:nvSpPr>
          <p:cNvPr id="5" name="Rounded Rectangle 4"/>
          <p:cNvSpPr/>
          <p:nvPr/>
        </p:nvSpPr>
        <p:spPr>
          <a:xfrm>
            <a:off x="786384" y="1207008"/>
            <a:ext cx="1645920" cy="347472"/>
          </a:xfrm>
          <a:prstGeom prst="round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252728"/>
            <a:ext cx="1417320" cy="201168"/>
          </a:xfrm>
          <a:prstGeom prst="rect">
            <a:avLst/>
          </a:prstGeom>
          <a:noFill/>
        </p:spPr>
        <p:txBody>
          <a:bodyPr wrap="square" lIns="73152" rIns="73152" tIns="36576" bIns="36576">
            <a:spAutoFit/>
          </a:bodyPr>
          <a:lstStyle/>
          <a:p>
            <a:pPr algn="l">
              <a:defRPr sz="1000" b="1">
                <a:solidFill>
                  <a:srgbClr val="11161D"/>
                </a:solidFill>
                <a:latin typeface="Aptos"/>
              </a:defRPr>
            </a:pPr>
            <a:r>
              <a:rPr>
                <a:solidFill>
                  <a:srgbClr val="191919"/>
                </a:solidFill>
                <a:latin typeface="Aptos"/>
              </a:rPr>
              <a:t>ATTACK 6</a:t>
            </a:r>
          </a:p>
        </p:txBody>
      </p:sp>
      <p:sp>
        <p:nvSpPr>
          <p:cNvPr id="7" name="Rounded Rectangle 6"/>
          <p:cNvSpPr/>
          <p:nvPr/>
        </p:nvSpPr>
        <p:spPr>
          <a:xfrm>
            <a:off x="685800" y="1783080"/>
            <a:ext cx="10835640" cy="4297680"/>
          </a:xfrm>
          <a:prstGeom prst="roundRect">
            <a:avLst/>
          </a:prstGeom>
          <a:solidFill>
            <a:srgbClr val="F6F8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29968"/>
            <a:ext cx="10378440" cy="3749039"/>
          </a:xfrm>
          <a:prstGeom prst="rect">
            <a:avLst/>
          </a:prstGeom>
          <a:noFill/>
        </p:spPr>
        <p:txBody>
          <a:bodyPr wrap="square" lIns="164592" rIns="164592" tIns="109728" bIns="109728">
            <a:spAutoFit/>
          </a:bodyPr>
          <a:lstStyle/>
          <a:p>
            <a:pPr>
              <a:defRPr sz="1900">
                <a:solidFill>
                  <a:srgbClr val="F5F7FA"/>
                </a:solidFill>
                <a:latin typeface="Aptos"/>
              </a:defRPr>
            </a:pPr>
            <a:r>
              <a:rPr sz="1900">
                <a:solidFill>
                  <a:srgbClr val="191919"/>
                </a:solidFill>
                <a:latin typeface="Aptos"/>
              </a:rPr>
              <a:t>A Man-in-the-Middle (MITM) attack occurs when an </a:t>
            </a:r>
            <a:r>
              <a:rPr sz="1900" b="1">
                <a:solidFill>
                  <a:srgbClr val="191919"/>
                </a:solidFill>
                <a:latin typeface="Aptos"/>
              </a:rPr>
              <a:t>attacker</a:t>
            </a:r>
            <a:r>
              <a:rPr sz="1900">
                <a:solidFill>
                  <a:srgbClr val="191919"/>
                </a:solidFill>
                <a:latin typeface="Aptos"/>
              </a:rPr>
              <a:t> secretly positions themselves between two communicating parties and interferes with the exchange of information. Instead of communication going directly between the legitimate parties, the </a:t>
            </a:r>
            <a:r>
              <a:rPr sz="1900" b="1">
                <a:solidFill>
                  <a:srgbClr val="191919"/>
                </a:solidFill>
                <a:latin typeface="Aptos"/>
              </a:rPr>
              <a:t>attacker</a:t>
            </a:r>
            <a:r>
              <a:rPr sz="1900">
                <a:solidFill>
                  <a:srgbClr val="191919"/>
                </a:solidFill>
                <a:latin typeface="Aptos"/>
              </a:rPr>
              <a:t> may observe, relay, modify, delay, or replace messages. The attack can be used to steal </a:t>
            </a:r>
            <a:r>
              <a:rPr sz="1900" b="1">
                <a:solidFill>
                  <a:srgbClr val="191919"/>
                </a:solidFill>
                <a:latin typeface="Aptos"/>
              </a:rPr>
              <a:t>credentials</a:t>
            </a:r>
            <a:r>
              <a:rPr sz="1900">
                <a:solidFill>
                  <a:srgbClr val="191919"/>
                </a:solidFill>
                <a:latin typeface="Aptos"/>
              </a:rPr>
              <a:t>, </a:t>
            </a:r>
            <a:r>
              <a:rPr sz="1900" b="1">
                <a:solidFill>
                  <a:srgbClr val="191919"/>
                </a:solidFill>
                <a:latin typeface="Aptos"/>
              </a:rPr>
              <a:t>session</a:t>
            </a:r>
            <a:r>
              <a:rPr sz="1900">
                <a:solidFill>
                  <a:srgbClr val="191919"/>
                </a:solidFill>
                <a:latin typeface="Aptos"/>
              </a:rPr>
              <a:t> information, financial data, or other </a:t>
            </a:r>
            <a:r>
              <a:rPr sz="1900" b="1">
                <a:solidFill>
                  <a:srgbClr val="191919"/>
                </a:solidFill>
                <a:latin typeface="Aptos"/>
              </a:rPr>
              <a:t>sensitive information</a:t>
            </a:r>
            <a:r>
              <a:rPr sz="1900">
                <a:solidFill>
                  <a:srgbClr val="191919"/>
                </a:solidFill>
                <a:latin typeface="Aptos"/>
              </a:rPr>
              <a:t>, and in some situations to alter transactions. Strong </a:t>
            </a:r>
            <a:r>
              <a:rPr sz="1900" b="1">
                <a:solidFill>
                  <a:srgbClr val="191919"/>
                </a:solidFill>
                <a:latin typeface="Aptos"/>
              </a:rPr>
              <a:t>encryption</a:t>
            </a:r>
            <a:r>
              <a:rPr sz="1900">
                <a:solidFill>
                  <a:srgbClr val="191919"/>
                </a:solidFill>
                <a:latin typeface="Aptos"/>
              </a:rPr>
              <a:t>, certificate validation, secure </a:t>
            </a:r>
            <a:r>
              <a:rPr sz="1900" b="1">
                <a:solidFill>
                  <a:srgbClr val="191919"/>
                </a:solidFill>
                <a:latin typeface="Aptos"/>
              </a:rPr>
              <a:t>network</a:t>
            </a:r>
            <a:r>
              <a:rPr sz="1900">
                <a:solidFill>
                  <a:srgbClr val="191919"/>
                </a:solidFill>
                <a:latin typeface="Aptos"/>
              </a:rPr>
              <a:t> configurations, and multi-factor </a:t>
            </a:r>
            <a:r>
              <a:rPr sz="1900" b="1">
                <a:solidFill>
                  <a:srgbClr val="191919"/>
                </a:solidFill>
                <a:latin typeface="Aptos"/>
              </a:rPr>
              <a:t>authentication</a:t>
            </a:r>
            <a:r>
              <a:rPr sz="1900">
                <a:solidFill>
                  <a:srgbClr val="191919"/>
                </a:solidFill>
                <a:latin typeface="Aptos"/>
              </a:rPr>
              <a:t> can reduce the risk of successful interception or manipulation.</a:t>
            </a:r>
          </a:p>
        </p:txBody>
      </p:sp>
      <p:sp>
        <p:nvSpPr>
          <p:cNvPr id="9" name="TextBox 8"/>
          <p:cNvSpPr txBox="1"/>
          <p:nvPr/>
        </p:nvSpPr>
        <p:spPr>
          <a:xfrm>
            <a:off x="502920" y="6473952"/>
            <a:ext cx="11155680" cy="228600"/>
          </a:xfrm>
          <a:prstGeom prst="rect">
            <a:avLst/>
          </a:prstGeom>
          <a:noFill/>
        </p:spPr>
        <p:txBody>
          <a:bodyPr wrap="none">
            <a:spAutoFit/>
          </a:bodyPr>
          <a:lstStyle/>
          <a:p>
            <a:pPr algn="r">
              <a:defRPr sz="900">
                <a:solidFill>
                  <a:srgbClr val="B7C0CC"/>
                </a:solidFill>
                <a:latin typeface="Aptos"/>
              </a:defRPr>
            </a:pPr>
            <a:r>
              <a:rPr>
                <a:solidFill>
                  <a:srgbClr val="191919"/>
                </a:solidFill>
                <a:latin typeface="Aptos"/>
              </a:rPr>
              <a:t>Cybersecurity Study Presentation • Exam-ready definitions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146304"/>
          </a:xfrm>
          <a:prstGeom prst="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640080" cy="320040"/>
          </a:xfrm>
          <a:prstGeom prst="rect">
            <a:avLst/>
          </a:prstGeom>
          <a:noFill/>
        </p:spPr>
        <p:txBody>
          <a:bodyPr wrap="none">
            <a:spAutoFit/>
          </a:bodyPr>
          <a:lstStyle/>
          <a:p>
            <a:pPr>
              <a:defRPr sz="1500" b="1">
                <a:solidFill>
                  <a:srgbClr val="FFE25C"/>
                </a:solidFill>
              </a:defRPr>
            </a:pPr>
            <a:r>
              <a:rPr>
                <a:solidFill>
                  <a:srgbClr val="191919"/>
                </a:solidFill>
                <a:latin typeface="Aptos"/>
              </a:rPr>
              <a:t>07</a:t>
            </a:r>
          </a:p>
        </p:txBody>
      </p:sp>
      <p:sp>
        <p:nvSpPr>
          <p:cNvPr id="4" name="TextBox 3"/>
          <p:cNvSpPr txBox="1"/>
          <p:nvPr/>
        </p:nvSpPr>
        <p:spPr>
          <a:xfrm>
            <a:off x="777240" y="530352"/>
            <a:ext cx="10698480" cy="658368"/>
          </a:xfrm>
          <a:prstGeom prst="rect">
            <a:avLst/>
          </a:prstGeom>
          <a:noFill/>
        </p:spPr>
        <p:txBody>
          <a:bodyPr wrap="square" lIns="73152" rIns="73152" tIns="36576" bIns="36576">
            <a:spAutoFit/>
          </a:bodyPr>
          <a:lstStyle/>
          <a:p>
            <a:pPr algn="l">
              <a:defRPr sz="2800" b="1">
                <a:solidFill>
                  <a:srgbClr val="F5F7FA"/>
                </a:solidFill>
                <a:latin typeface="Aptos"/>
              </a:defRPr>
            </a:pPr>
            <a:r>
              <a:rPr>
                <a:solidFill>
                  <a:srgbClr val="191919"/>
                </a:solidFill>
                <a:latin typeface="Aptos"/>
              </a:rPr>
              <a:t>Social Engineering Attack</a:t>
            </a:r>
          </a:p>
        </p:txBody>
      </p:sp>
      <p:sp>
        <p:nvSpPr>
          <p:cNvPr id="5" name="Rounded Rectangle 4"/>
          <p:cNvSpPr/>
          <p:nvPr/>
        </p:nvSpPr>
        <p:spPr>
          <a:xfrm>
            <a:off x="786384" y="1207008"/>
            <a:ext cx="1645920" cy="347472"/>
          </a:xfrm>
          <a:prstGeom prst="round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252728"/>
            <a:ext cx="1417320" cy="201168"/>
          </a:xfrm>
          <a:prstGeom prst="rect">
            <a:avLst/>
          </a:prstGeom>
          <a:noFill/>
        </p:spPr>
        <p:txBody>
          <a:bodyPr wrap="square" lIns="73152" rIns="73152" tIns="36576" bIns="36576">
            <a:spAutoFit/>
          </a:bodyPr>
          <a:lstStyle/>
          <a:p>
            <a:pPr algn="l">
              <a:defRPr sz="1000" b="1">
                <a:solidFill>
                  <a:srgbClr val="11161D"/>
                </a:solidFill>
                <a:latin typeface="Aptos"/>
              </a:defRPr>
            </a:pPr>
            <a:r>
              <a:rPr>
                <a:solidFill>
                  <a:srgbClr val="191919"/>
                </a:solidFill>
                <a:latin typeface="Aptos"/>
              </a:rPr>
              <a:t>ATTACK 7</a:t>
            </a:r>
          </a:p>
        </p:txBody>
      </p:sp>
      <p:sp>
        <p:nvSpPr>
          <p:cNvPr id="7" name="Rounded Rectangle 6"/>
          <p:cNvSpPr/>
          <p:nvPr/>
        </p:nvSpPr>
        <p:spPr>
          <a:xfrm>
            <a:off x="685800" y="1783080"/>
            <a:ext cx="10835640" cy="4297680"/>
          </a:xfrm>
          <a:prstGeom prst="roundRect">
            <a:avLst/>
          </a:prstGeom>
          <a:solidFill>
            <a:srgbClr val="F6F8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29968"/>
            <a:ext cx="10378440" cy="3749039"/>
          </a:xfrm>
          <a:prstGeom prst="rect">
            <a:avLst/>
          </a:prstGeom>
          <a:noFill/>
        </p:spPr>
        <p:txBody>
          <a:bodyPr wrap="square" lIns="164592" rIns="164592" tIns="109728" bIns="109728">
            <a:spAutoFit/>
          </a:bodyPr>
          <a:lstStyle/>
          <a:p>
            <a:pPr>
              <a:defRPr sz="1900">
                <a:solidFill>
                  <a:srgbClr val="F5F7FA"/>
                </a:solidFill>
                <a:latin typeface="Aptos"/>
              </a:defRPr>
            </a:pPr>
            <a:r>
              <a:rPr sz="1900">
                <a:solidFill>
                  <a:srgbClr val="191919"/>
                </a:solidFill>
                <a:latin typeface="Aptos"/>
              </a:rPr>
              <a:t>A social engineering attack is a </a:t>
            </a:r>
            <a:r>
              <a:rPr sz="1900" b="1">
                <a:solidFill>
                  <a:srgbClr val="191919"/>
                </a:solidFill>
                <a:latin typeface="Aptos"/>
              </a:rPr>
              <a:t>cyberattack</a:t>
            </a:r>
            <a:r>
              <a:rPr sz="1900">
                <a:solidFill>
                  <a:srgbClr val="191919"/>
                </a:solidFill>
                <a:latin typeface="Aptos"/>
              </a:rPr>
              <a:t> that manipulates human behavior rather than relying only on a technical vulnerability. The </a:t>
            </a:r>
            <a:r>
              <a:rPr sz="1900" b="1">
                <a:solidFill>
                  <a:srgbClr val="191919"/>
                </a:solidFill>
                <a:latin typeface="Aptos"/>
              </a:rPr>
              <a:t>attacker</a:t>
            </a:r>
            <a:r>
              <a:rPr sz="1900">
                <a:solidFill>
                  <a:srgbClr val="191919"/>
                </a:solidFill>
                <a:latin typeface="Aptos"/>
              </a:rPr>
              <a:t> uses deception, impersonation, trust, fear, urgency, curiosity, authority, or helpfulness to persuade a </a:t>
            </a:r>
            <a:r>
              <a:rPr sz="1900" b="1">
                <a:solidFill>
                  <a:srgbClr val="191919"/>
                </a:solidFill>
                <a:latin typeface="Aptos"/>
              </a:rPr>
              <a:t>victim</a:t>
            </a:r>
            <a:r>
              <a:rPr sz="1900">
                <a:solidFill>
                  <a:srgbClr val="191919"/>
                </a:solidFill>
                <a:latin typeface="Aptos"/>
              </a:rPr>
              <a:t> to disclose information, open a file, click a link, transfer money, or provide access. Common examples include phishing, pretexting, baiting, quid pro quo, tailgating, and vishing. Social engineering is dangerous because even well-protected technical </a:t>
            </a:r>
            <a:r>
              <a:rPr sz="1900" b="1">
                <a:solidFill>
                  <a:srgbClr val="191919"/>
                </a:solidFill>
                <a:latin typeface="Aptos"/>
              </a:rPr>
              <a:t>system</a:t>
            </a:r>
            <a:r>
              <a:rPr sz="1900">
                <a:solidFill>
                  <a:srgbClr val="191919"/>
                </a:solidFill>
                <a:latin typeface="Aptos"/>
              </a:rPr>
              <a:t>s can be affected when a legitimate user is persuaded to perform an action that benefits the </a:t>
            </a:r>
            <a:r>
              <a:rPr sz="1900" b="1">
                <a:solidFill>
                  <a:srgbClr val="191919"/>
                </a:solidFill>
                <a:latin typeface="Aptos"/>
              </a:rPr>
              <a:t>attacker</a:t>
            </a:r>
            <a:r>
              <a:rPr sz="1900">
                <a:solidFill>
                  <a:srgbClr val="191919"/>
                </a:solidFill>
                <a:latin typeface="Aptos"/>
              </a:rPr>
              <a:t>.</a:t>
            </a:r>
          </a:p>
        </p:txBody>
      </p:sp>
      <p:sp>
        <p:nvSpPr>
          <p:cNvPr id="9" name="TextBox 8"/>
          <p:cNvSpPr txBox="1"/>
          <p:nvPr/>
        </p:nvSpPr>
        <p:spPr>
          <a:xfrm>
            <a:off x="502920" y="6473952"/>
            <a:ext cx="11155680" cy="228600"/>
          </a:xfrm>
          <a:prstGeom prst="rect">
            <a:avLst/>
          </a:prstGeom>
          <a:noFill/>
        </p:spPr>
        <p:txBody>
          <a:bodyPr wrap="none">
            <a:spAutoFit/>
          </a:bodyPr>
          <a:lstStyle/>
          <a:p>
            <a:pPr algn="r">
              <a:defRPr sz="900">
                <a:solidFill>
                  <a:srgbClr val="B7C0CC"/>
                </a:solidFill>
                <a:latin typeface="Aptos"/>
              </a:defRPr>
            </a:pPr>
            <a:r>
              <a:rPr>
                <a:solidFill>
                  <a:srgbClr val="191919"/>
                </a:solidFill>
                <a:latin typeface="Aptos"/>
              </a:rPr>
              <a:t>Cybersecurity Study Presentation • Exam-ready definitions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146304"/>
          </a:xfrm>
          <a:prstGeom prst="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640080" cy="320040"/>
          </a:xfrm>
          <a:prstGeom prst="rect">
            <a:avLst/>
          </a:prstGeom>
          <a:noFill/>
        </p:spPr>
        <p:txBody>
          <a:bodyPr wrap="none">
            <a:spAutoFit/>
          </a:bodyPr>
          <a:lstStyle/>
          <a:p>
            <a:pPr>
              <a:defRPr sz="1500" b="1">
                <a:solidFill>
                  <a:srgbClr val="FFE25C"/>
                </a:solidFill>
              </a:defRPr>
            </a:pPr>
            <a:r>
              <a:rPr>
                <a:solidFill>
                  <a:srgbClr val="191919"/>
                </a:solidFill>
                <a:latin typeface="Aptos"/>
              </a:rPr>
              <a:t>08</a:t>
            </a:r>
          </a:p>
        </p:txBody>
      </p:sp>
      <p:sp>
        <p:nvSpPr>
          <p:cNvPr id="4" name="TextBox 3"/>
          <p:cNvSpPr txBox="1"/>
          <p:nvPr/>
        </p:nvSpPr>
        <p:spPr>
          <a:xfrm>
            <a:off x="777240" y="530352"/>
            <a:ext cx="10698480" cy="658368"/>
          </a:xfrm>
          <a:prstGeom prst="rect">
            <a:avLst/>
          </a:prstGeom>
          <a:noFill/>
        </p:spPr>
        <p:txBody>
          <a:bodyPr wrap="square" lIns="73152" rIns="73152" tIns="36576" bIns="36576">
            <a:spAutoFit/>
          </a:bodyPr>
          <a:lstStyle/>
          <a:p>
            <a:pPr algn="l">
              <a:defRPr sz="2800" b="1">
                <a:solidFill>
                  <a:srgbClr val="F5F7FA"/>
                </a:solidFill>
                <a:latin typeface="Aptos"/>
              </a:defRPr>
            </a:pPr>
            <a:r>
              <a:rPr>
                <a:solidFill>
                  <a:srgbClr val="191919"/>
                </a:solidFill>
                <a:latin typeface="Aptos"/>
              </a:rPr>
              <a:t>Brute-Force Attack</a:t>
            </a:r>
          </a:p>
        </p:txBody>
      </p:sp>
      <p:sp>
        <p:nvSpPr>
          <p:cNvPr id="5" name="Rounded Rectangle 4"/>
          <p:cNvSpPr/>
          <p:nvPr/>
        </p:nvSpPr>
        <p:spPr>
          <a:xfrm>
            <a:off x="786384" y="1207008"/>
            <a:ext cx="1645920" cy="347472"/>
          </a:xfrm>
          <a:prstGeom prst="round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252728"/>
            <a:ext cx="1417320" cy="201168"/>
          </a:xfrm>
          <a:prstGeom prst="rect">
            <a:avLst/>
          </a:prstGeom>
          <a:noFill/>
        </p:spPr>
        <p:txBody>
          <a:bodyPr wrap="square" lIns="73152" rIns="73152" tIns="36576" bIns="36576">
            <a:spAutoFit/>
          </a:bodyPr>
          <a:lstStyle/>
          <a:p>
            <a:pPr algn="l">
              <a:defRPr sz="1000" b="1">
                <a:solidFill>
                  <a:srgbClr val="11161D"/>
                </a:solidFill>
                <a:latin typeface="Aptos"/>
              </a:defRPr>
            </a:pPr>
            <a:r>
              <a:rPr>
                <a:solidFill>
                  <a:srgbClr val="191919"/>
                </a:solidFill>
                <a:latin typeface="Aptos"/>
              </a:rPr>
              <a:t>ATTACK 8</a:t>
            </a:r>
          </a:p>
        </p:txBody>
      </p:sp>
      <p:sp>
        <p:nvSpPr>
          <p:cNvPr id="7" name="Rounded Rectangle 6"/>
          <p:cNvSpPr/>
          <p:nvPr/>
        </p:nvSpPr>
        <p:spPr>
          <a:xfrm>
            <a:off x="685800" y="1783080"/>
            <a:ext cx="10835640" cy="4297680"/>
          </a:xfrm>
          <a:prstGeom prst="roundRect">
            <a:avLst/>
          </a:prstGeom>
          <a:solidFill>
            <a:srgbClr val="F6F8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29968"/>
            <a:ext cx="10378440" cy="3749039"/>
          </a:xfrm>
          <a:prstGeom prst="rect">
            <a:avLst/>
          </a:prstGeom>
          <a:noFill/>
        </p:spPr>
        <p:txBody>
          <a:bodyPr wrap="square" lIns="164592" rIns="164592" tIns="109728" bIns="109728">
            <a:spAutoFit/>
          </a:bodyPr>
          <a:lstStyle/>
          <a:p>
            <a:pPr>
              <a:defRPr sz="1900">
                <a:solidFill>
                  <a:srgbClr val="F5F7FA"/>
                </a:solidFill>
                <a:latin typeface="Aptos"/>
              </a:defRPr>
            </a:pPr>
            <a:r>
              <a:rPr sz="1900">
                <a:solidFill>
                  <a:srgbClr val="191919"/>
                </a:solidFill>
                <a:latin typeface="Aptos"/>
              </a:rPr>
              <a:t>A brute-force attack is an </a:t>
            </a:r>
            <a:r>
              <a:rPr sz="1900" b="1">
                <a:solidFill>
                  <a:srgbClr val="191919"/>
                </a:solidFill>
                <a:latin typeface="Aptos"/>
              </a:rPr>
              <a:t>authentication</a:t>
            </a:r>
            <a:r>
              <a:rPr sz="1900">
                <a:solidFill>
                  <a:srgbClr val="191919"/>
                </a:solidFill>
                <a:latin typeface="Aptos"/>
              </a:rPr>
              <a:t> attack in which an </a:t>
            </a:r>
            <a:r>
              <a:rPr sz="1900" b="1">
                <a:solidFill>
                  <a:srgbClr val="191919"/>
                </a:solidFill>
                <a:latin typeface="Aptos"/>
              </a:rPr>
              <a:t>attacker</a:t>
            </a:r>
            <a:r>
              <a:rPr sz="1900">
                <a:solidFill>
                  <a:srgbClr val="191919"/>
                </a:solidFill>
                <a:latin typeface="Aptos"/>
              </a:rPr>
              <a:t> </a:t>
            </a:r>
            <a:r>
              <a:rPr sz="1900" b="1">
                <a:solidFill>
                  <a:srgbClr val="191919"/>
                </a:solidFill>
                <a:latin typeface="Aptos"/>
              </a:rPr>
              <a:t>system</a:t>
            </a:r>
            <a:r>
              <a:rPr sz="1900">
                <a:solidFill>
                  <a:srgbClr val="191919"/>
                </a:solidFill>
                <a:latin typeface="Aptos"/>
              </a:rPr>
              <a:t>atically tries many possible </a:t>
            </a:r>
            <a:r>
              <a:rPr sz="1900" b="1">
                <a:solidFill>
                  <a:srgbClr val="191919"/>
                </a:solidFill>
                <a:latin typeface="Aptos"/>
              </a:rPr>
              <a:t>password</a:t>
            </a:r>
            <a:r>
              <a:rPr sz="1900">
                <a:solidFill>
                  <a:srgbClr val="191919"/>
                </a:solidFill>
                <a:latin typeface="Aptos"/>
              </a:rPr>
              <a:t>s, PINs, keys, or other combinations until a correct value is found. The method does not necessarily depend on knowing the </a:t>
            </a:r>
            <a:r>
              <a:rPr sz="1900" b="1">
                <a:solidFill>
                  <a:srgbClr val="191919"/>
                </a:solidFill>
                <a:latin typeface="Aptos"/>
              </a:rPr>
              <a:t>victim</a:t>
            </a:r>
            <a:r>
              <a:rPr sz="1900">
                <a:solidFill>
                  <a:srgbClr val="191919"/>
                </a:solidFill>
                <a:latin typeface="Aptos"/>
              </a:rPr>
              <a:t>'s </a:t>
            </a:r>
            <a:r>
              <a:rPr sz="1900" b="1">
                <a:solidFill>
                  <a:srgbClr val="191919"/>
                </a:solidFill>
                <a:latin typeface="Aptos"/>
              </a:rPr>
              <a:t>password</a:t>
            </a:r>
            <a:r>
              <a:rPr sz="1900">
                <a:solidFill>
                  <a:srgbClr val="191919"/>
                </a:solidFill>
                <a:latin typeface="Aptos"/>
              </a:rPr>
              <a:t>; instead, it relies on repeated guesses. The number of possible combinations and the strength of the </a:t>
            </a:r>
            <a:r>
              <a:rPr sz="1900" b="1">
                <a:solidFill>
                  <a:srgbClr val="191919"/>
                </a:solidFill>
                <a:latin typeface="Aptos"/>
              </a:rPr>
              <a:t>password</a:t>
            </a:r>
            <a:r>
              <a:rPr sz="1900">
                <a:solidFill>
                  <a:srgbClr val="191919"/>
                </a:solidFill>
                <a:latin typeface="Aptos"/>
              </a:rPr>
              <a:t> determine how difficult the attack is. Automated tools can make large numbers of attempts quickly when a service permits them. Account lockout, rate limiting, strong </a:t>
            </a:r>
            <a:r>
              <a:rPr sz="1900" b="1">
                <a:solidFill>
                  <a:srgbClr val="191919"/>
                </a:solidFill>
                <a:latin typeface="Aptos"/>
              </a:rPr>
              <a:t>password</a:t>
            </a:r>
            <a:r>
              <a:rPr sz="1900">
                <a:solidFill>
                  <a:srgbClr val="191919"/>
                </a:solidFill>
                <a:latin typeface="Aptos"/>
              </a:rPr>
              <a:t>s, multi-factor </a:t>
            </a:r>
            <a:r>
              <a:rPr sz="1900" b="1">
                <a:solidFill>
                  <a:srgbClr val="191919"/>
                </a:solidFill>
                <a:latin typeface="Aptos"/>
              </a:rPr>
              <a:t>authentication</a:t>
            </a:r>
            <a:r>
              <a:rPr sz="1900">
                <a:solidFill>
                  <a:srgbClr val="191919"/>
                </a:solidFill>
                <a:latin typeface="Aptos"/>
              </a:rPr>
              <a:t>, and monitoring can significantly reduce brute-force risk.</a:t>
            </a:r>
          </a:p>
        </p:txBody>
      </p:sp>
      <p:sp>
        <p:nvSpPr>
          <p:cNvPr id="9" name="TextBox 8"/>
          <p:cNvSpPr txBox="1"/>
          <p:nvPr/>
        </p:nvSpPr>
        <p:spPr>
          <a:xfrm>
            <a:off x="502920" y="6473952"/>
            <a:ext cx="11155680" cy="228600"/>
          </a:xfrm>
          <a:prstGeom prst="rect">
            <a:avLst/>
          </a:prstGeom>
          <a:noFill/>
        </p:spPr>
        <p:txBody>
          <a:bodyPr wrap="none">
            <a:spAutoFit/>
          </a:bodyPr>
          <a:lstStyle/>
          <a:p>
            <a:pPr algn="r">
              <a:defRPr sz="900">
                <a:solidFill>
                  <a:srgbClr val="B7C0CC"/>
                </a:solidFill>
                <a:latin typeface="Aptos"/>
              </a:defRPr>
            </a:pPr>
            <a:r>
              <a:rPr>
                <a:solidFill>
                  <a:srgbClr val="191919"/>
                </a:solidFill>
                <a:latin typeface="Aptos"/>
              </a:rPr>
              <a:t>Cybersecurity Study Presentation • Exam-ready definitions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146304"/>
          </a:xfrm>
          <a:prstGeom prst="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640080" cy="320040"/>
          </a:xfrm>
          <a:prstGeom prst="rect">
            <a:avLst/>
          </a:prstGeom>
          <a:noFill/>
        </p:spPr>
        <p:txBody>
          <a:bodyPr wrap="none">
            <a:spAutoFit/>
          </a:bodyPr>
          <a:lstStyle/>
          <a:p>
            <a:pPr>
              <a:defRPr sz="1500" b="1">
                <a:solidFill>
                  <a:srgbClr val="FFE25C"/>
                </a:solidFill>
              </a:defRPr>
            </a:pPr>
            <a:r>
              <a:rPr>
                <a:solidFill>
                  <a:srgbClr val="191919"/>
                </a:solidFill>
                <a:latin typeface="Aptos"/>
              </a:rPr>
              <a:t>09</a:t>
            </a:r>
          </a:p>
        </p:txBody>
      </p:sp>
      <p:sp>
        <p:nvSpPr>
          <p:cNvPr id="4" name="TextBox 3"/>
          <p:cNvSpPr txBox="1"/>
          <p:nvPr/>
        </p:nvSpPr>
        <p:spPr>
          <a:xfrm>
            <a:off x="777240" y="530352"/>
            <a:ext cx="10698480" cy="658368"/>
          </a:xfrm>
          <a:prstGeom prst="rect">
            <a:avLst/>
          </a:prstGeom>
          <a:noFill/>
        </p:spPr>
        <p:txBody>
          <a:bodyPr wrap="square" lIns="73152" rIns="73152" tIns="36576" bIns="36576">
            <a:spAutoFit/>
          </a:bodyPr>
          <a:lstStyle/>
          <a:p>
            <a:pPr algn="l">
              <a:defRPr sz="2800" b="1">
                <a:solidFill>
                  <a:srgbClr val="F5F7FA"/>
                </a:solidFill>
                <a:latin typeface="Aptos"/>
              </a:defRPr>
            </a:pPr>
            <a:r>
              <a:rPr>
                <a:solidFill>
                  <a:srgbClr val="191919"/>
                </a:solidFill>
                <a:latin typeface="Aptos"/>
              </a:rPr>
              <a:t>SQL Injection</a:t>
            </a:r>
          </a:p>
        </p:txBody>
      </p:sp>
      <p:sp>
        <p:nvSpPr>
          <p:cNvPr id="5" name="Rounded Rectangle 4"/>
          <p:cNvSpPr/>
          <p:nvPr/>
        </p:nvSpPr>
        <p:spPr>
          <a:xfrm>
            <a:off x="786384" y="1207008"/>
            <a:ext cx="1645920" cy="347472"/>
          </a:xfrm>
          <a:prstGeom prst="round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252728"/>
            <a:ext cx="1417320" cy="201168"/>
          </a:xfrm>
          <a:prstGeom prst="rect">
            <a:avLst/>
          </a:prstGeom>
          <a:noFill/>
        </p:spPr>
        <p:txBody>
          <a:bodyPr wrap="square" lIns="73152" rIns="73152" tIns="36576" bIns="36576">
            <a:spAutoFit/>
          </a:bodyPr>
          <a:lstStyle/>
          <a:p>
            <a:pPr algn="l">
              <a:defRPr sz="1000" b="1">
                <a:solidFill>
                  <a:srgbClr val="11161D"/>
                </a:solidFill>
                <a:latin typeface="Aptos"/>
              </a:defRPr>
            </a:pPr>
            <a:r>
              <a:rPr>
                <a:solidFill>
                  <a:srgbClr val="191919"/>
                </a:solidFill>
                <a:latin typeface="Aptos"/>
              </a:rPr>
              <a:t>ATTACK 9</a:t>
            </a:r>
          </a:p>
        </p:txBody>
      </p:sp>
      <p:sp>
        <p:nvSpPr>
          <p:cNvPr id="7" name="Rounded Rectangle 6"/>
          <p:cNvSpPr/>
          <p:nvPr/>
        </p:nvSpPr>
        <p:spPr>
          <a:xfrm>
            <a:off x="685800" y="1783080"/>
            <a:ext cx="10835640" cy="4297680"/>
          </a:xfrm>
          <a:prstGeom prst="roundRect">
            <a:avLst/>
          </a:prstGeom>
          <a:solidFill>
            <a:srgbClr val="F6F8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29968"/>
            <a:ext cx="10378440" cy="3749039"/>
          </a:xfrm>
          <a:prstGeom prst="rect">
            <a:avLst/>
          </a:prstGeom>
          <a:noFill/>
        </p:spPr>
        <p:txBody>
          <a:bodyPr wrap="square" lIns="164592" rIns="164592" tIns="109728" bIns="109728">
            <a:spAutoFit/>
          </a:bodyPr>
          <a:lstStyle/>
          <a:p>
            <a:pPr>
              <a:defRPr sz="1900">
                <a:solidFill>
                  <a:srgbClr val="F5F7FA"/>
                </a:solidFill>
                <a:latin typeface="Aptos"/>
              </a:defRPr>
            </a:pPr>
            <a:r>
              <a:rPr sz="1900">
                <a:solidFill>
                  <a:srgbClr val="191919"/>
                </a:solidFill>
                <a:latin typeface="Aptos"/>
              </a:rPr>
              <a:t>SQL Injection is an injection attack in which an </a:t>
            </a:r>
            <a:r>
              <a:rPr sz="1900" b="1">
                <a:solidFill>
                  <a:srgbClr val="191919"/>
                </a:solidFill>
                <a:latin typeface="Aptos"/>
              </a:rPr>
              <a:t>attacker</a:t>
            </a:r>
            <a:r>
              <a:rPr sz="1900">
                <a:solidFill>
                  <a:srgbClr val="191919"/>
                </a:solidFill>
                <a:latin typeface="Aptos"/>
              </a:rPr>
              <a:t> places </a:t>
            </a:r>
            <a:r>
              <a:rPr sz="1900" b="1">
                <a:solidFill>
                  <a:srgbClr val="191919"/>
                </a:solidFill>
                <a:latin typeface="Aptos"/>
              </a:rPr>
              <a:t>malicious</a:t>
            </a:r>
            <a:r>
              <a:rPr sz="1900">
                <a:solidFill>
                  <a:srgbClr val="191919"/>
                </a:solidFill>
                <a:latin typeface="Aptos"/>
              </a:rPr>
              <a:t> SQL-related input into an </a:t>
            </a:r>
            <a:r>
              <a:rPr sz="1900" b="1">
                <a:solidFill>
                  <a:srgbClr val="191919"/>
                </a:solidFill>
                <a:latin typeface="Aptos"/>
              </a:rPr>
              <a:t>application</a:t>
            </a:r>
            <a:r>
              <a:rPr sz="1900">
                <a:solidFill>
                  <a:srgbClr val="191919"/>
                </a:solidFill>
                <a:latin typeface="Aptos"/>
              </a:rPr>
              <a:t>'s data fields or requests so that the </a:t>
            </a:r>
            <a:r>
              <a:rPr sz="1900" b="1">
                <a:solidFill>
                  <a:srgbClr val="191919"/>
                </a:solidFill>
                <a:latin typeface="Aptos"/>
              </a:rPr>
              <a:t>application</a:t>
            </a:r>
            <a:r>
              <a:rPr sz="1900">
                <a:solidFill>
                  <a:srgbClr val="191919"/>
                </a:solidFill>
                <a:latin typeface="Aptos"/>
              </a:rPr>
              <a:t>'s </a:t>
            </a:r>
            <a:r>
              <a:rPr sz="1900" b="1">
                <a:solidFill>
                  <a:srgbClr val="191919"/>
                </a:solidFill>
                <a:latin typeface="Aptos"/>
              </a:rPr>
              <a:t>database</a:t>
            </a:r>
            <a:r>
              <a:rPr sz="1900">
                <a:solidFill>
                  <a:srgbClr val="191919"/>
                </a:solidFill>
                <a:latin typeface="Aptos"/>
              </a:rPr>
              <a:t> query is changed from its intended meaning. It usually occurs when an </a:t>
            </a:r>
            <a:r>
              <a:rPr sz="1900" b="1">
                <a:solidFill>
                  <a:srgbClr val="191919"/>
                </a:solidFill>
                <a:latin typeface="Aptos"/>
              </a:rPr>
              <a:t>application</a:t>
            </a:r>
            <a:r>
              <a:rPr sz="1900">
                <a:solidFill>
                  <a:srgbClr val="191919"/>
                </a:solidFill>
                <a:latin typeface="Aptos"/>
              </a:rPr>
              <a:t> builds SQL statements from </a:t>
            </a:r>
            <a:r>
              <a:rPr sz="1900" b="1">
                <a:solidFill>
                  <a:srgbClr val="191919"/>
                </a:solidFill>
                <a:latin typeface="Aptos"/>
              </a:rPr>
              <a:t>untrusted input</a:t>
            </a:r>
            <a:r>
              <a:rPr sz="1900">
                <a:solidFill>
                  <a:srgbClr val="191919"/>
                </a:solidFill>
                <a:latin typeface="Aptos"/>
              </a:rPr>
              <a:t> without using safe query construction and validation. Depending on the vulnerability and </a:t>
            </a:r>
            <a:r>
              <a:rPr sz="1900" b="1">
                <a:solidFill>
                  <a:srgbClr val="191919"/>
                </a:solidFill>
                <a:latin typeface="Aptos"/>
              </a:rPr>
              <a:t>database</a:t>
            </a:r>
            <a:r>
              <a:rPr sz="1900">
                <a:solidFill>
                  <a:srgbClr val="191919"/>
                </a:solidFill>
                <a:latin typeface="Aptos"/>
              </a:rPr>
              <a:t> permissions, an </a:t>
            </a:r>
            <a:r>
              <a:rPr sz="1900" b="1">
                <a:solidFill>
                  <a:srgbClr val="191919"/>
                </a:solidFill>
                <a:latin typeface="Aptos"/>
              </a:rPr>
              <a:t>attacker</a:t>
            </a:r>
            <a:r>
              <a:rPr sz="1900">
                <a:solidFill>
                  <a:srgbClr val="191919"/>
                </a:solidFill>
                <a:latin typeface="Aptos"/>
              </a:rPr>
              <a:t> may read, modify, delete, or otherwise manipulate </a:t>
            </a:r>
            <a:r>
              <a:rPr sz="1900" b="1">
                <a:solidFill>
                  <a:srgbClr val="191919"/>
                </a:solidFill>
                <a:latin typeface="Aptos"/>
              </a:rPr>
              <a:t>database</a:t>
            </a:r>
            <a:r>
              <a:rPr sz="1900">
                <a:solidFill>
                  <a:srgbClr val="191919"/>
                </a:solidFill>
                <a:latin typeface="Aptos"/>
              </a:rPr>
              <a:t> information and may sometimes affect other </a:t>
            </a:r>
            <a:r>
              <a:rPr sz="1900" b="1">
                <a:solidFill>
                  <a:srgbClr val="191919"/>
                </a:solidFill>
                <a:latin typeface="Aptos"/>
              </a:rPr>
              <a:t>database</a:t>
            </a:r>
            <a:r>
              <a:rPr sz="1900">
                <a:solidFill>
                  <a:srgbClr val="191919"/>
                </a:solidFill>
                <a:latin typeface="Aptos"/>
              </a:rPr>
              <a:t> operations. Parameterized queries, appropriate input handling, least privilege, and secure </a:t>
            </a:r>
            <a:r>
              <a:rPr sz="1900" b="1">
                <a:solidFill>
                  <a:srgbClr val="191919"/>
                </a:solidFill>
                <a:latin typeface="Aptos"/>
              </a:rPr>
              <a:t>database</a:t>
            </a:r>
            <a:r>
              <a:rPr sz="1900">
                <a:solidFill>
                  <a:srgbClr val="191919"/>
                </a:solidFill>
                <a:latin typeface="Aptos"/>
              </a:rPr>
              <a:t> configuration are important defenses.</a:t>
            </a:r>
          </a:p>
        </p:txBody>
      </p:sp>
      <p:sp>
        <p:nvSpPr>
          <p:cNvPr id="9" name="TextBox 8"/>
          <p:cNvSpPr txBox="1"/>
          <p:nvPr/>
        </p:nvSpPr>
        <p:spPr>
          <a:xfrm>
            <a:off x="502920" y="6473952"/>
            <a:ext cx="11155680" cy="228600"/>
          </a:xfrm>
          <a:prstGeom prst="rect">
            <a:avLst/>
          </a:prstGeom>
          <a:noFill/>
        </p:spPr>
        <p:txBody>
          <a:bodyPr wrap="none">
            <a:spAutoFit/>
          </a:bodyPr>
          <a:lstStyle/>
          <a:p>
            <a:pPr algn="r">
              <a:defRPr sz="900">
                <a:solidFill>
                  <a:srgbClr val="B7C0CC"/>
                </a:solidFill>
                <a:latin typeface="Aptos"/>
              </a:defRPr>
            </a:pPr>
            <a:r>
              <a:rPr>
                <a:solidFill>
                  <a:srgbClr val="191919"/>
                </a:solidFill>
                <a:latin typeface="Aptos"/>
              </a:rPr>
              <a:t>Cybersecurity Study Presentation • Exam-ready definitions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146304"/>
          </a:xfrm>
          <a:prstGeom prst="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640080" cy="320040"/>
          </a:xfrm>
          <a:prstGeom prst="rect">
            <a:avLst/>
          </a:prstGeom>
          <a:noFill/>
        </p:spPr>
        <p:txBody>
          <a:bodyPr wrap="none">
            <a:spAutoFit/>
          </a:bodyPr>
          <a:lstStyle/>
          <a:p>
            <a:pPr>
              <a:defRPr sz="1500" b="1">
                <a:solidFill>
                  <a:srgbClr val="FFE25C"/>
                </a:solidFill>
              </a:defRPr>
            </a:pPr>
            <a:r>
              <a:rPr>
                <a:solidFill>
                  <a:srgbClr val="191919"/>
                </a:solidFill>
                <a:latin typeface="Aptos"/>
              </a:rPr>
              <a:t>10</a:t>
            </a:r>
          </a:p>
        </p:txBody>
      </p:sp>
      <p:sp>
        <p:nvSpPr>
          <p:cNvPr id="4" name="TextBox 3"/>
          <p:cNvSpPr txBox="1"/>
          <p:nvPr/>
        </p:nvSpPr>
        <p:spPr>
          <a:xfrm>
            <a:off x="777240" y="530352"/>
            <a:ext cx="10698480" cy="658368"/>
          </a:xfrm>
          <a:prstGeom prst="rect">
            <a:avLst/>
          </a:prstGeom>
          <a:noFill/>
        </p:spPr>
        <p:txBody>
          <a:bodyPr wrap="square" lIns="73152" rIns="73152" tIns="36576" bIns="36576">
            <a:spAutoFit/>
          </a:bodyPr>
          <a:lstStyle/>
          <a:p>
            <a:pPr algn="l">
              <a:defRPr sz="2800" b="1">
                <a:solidFill>
                  <a:srgbClr val="F5F7FA"/>
                </a:solidFill>
                <a:latin typeface="Aptos"/>
              </a:defRPr>
            </a:pPr>
            <a:r>
              <a:rPr>
                <a:solidFill>
                  <a:srgbClr val="191919"/>
                </a:solidFill>
                <a:latin typeface="Aptos"/>
              </a:rPr>
              <a:t>Cross-Site Scripting (XSS)</a:t>
            </a:r>
          </a:p>
        </p:txBody>
      </p:sp>
      <p:sp>
        <p:nvSpPr>
          <p:cNvPr id="5" name="Rounded Rectangle 4"/>
          <p:cNvSpPr/>
          <p:nvPr/>
        </p:nvSpPr>
        <p:spPr>
          <a:xfrm>
            <a:off x="786384" y="1207008"/>
            <a:ext cx="1645920" cy="347472"/>
          </a:xfrm>
          <a:prstGeom prst="round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252728"/>
            <a:ext cx="1417320" cy="201168"/>
          </a:xfrm>
          <a:prstGeom prst="rect">
            <a:avLst/>
          </a:prstGeom>
          <a:noFill/>
        </p:spPr>
        <p:txBody>
          <a:bodyPr wrap="square" lIns="73152" rIns="73152" tIns="36576" bIns="36576">
            <a:spAutoFit/>
          </a:bodyPr>
          <a:lstStyle/>
          <a:p>
            <a:pPr algn="l">
              <a:defRPr sz="1000" b="1">
                <a:solidFill>
                  <a:srgbClr val="11161D"/>
                </a:solidFill>
                <a:latin typeface="Aptos"/>
              </a:defRPr>
            </a:pPr>
            <a:r>
              <a:rPr>
                <a:solidFill>
                  <a:srgbClr val="191919"/>
                </a:solidFill>
                <a:latin typeface="Aptos"/>
              </a:rPr>
              <a:t>ATTACK 10</a:t>
            </a:r>
          </a:p>
        </p:txBody>
      </p:sp>
      <p:sp>
        <p:nvSpPr>
          <p:cNvPr id="7" name="Rounded Rectangle 6"/>
          <p:cNvSpPr/>
          <p:nvPr/>
        </p:nvSpPr>
        <p:spPr>
          <a:xfrm>
            <a:off x="685800" y="1783080"/>
            <a:ext cx="10835640" cy="4297680"/>
          </a:xfrm>
          <a:prstGeom prst="roundRect">
            <a:avLst/>
          </a:prstGeom>
          <a:solidFill>
            <a:srgbClr val="F6F8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29968"/>
            <a:ext cx="10378440" cy="3749039"/>
          </a:xfrm>
          <a:prstGeom prst="rect">
            <a:avLst/>
          </a:prstGeom>
          <a:noFill/>
        </p:spPr>
        <p:txBody>
          <a:bodyPr wrap="square" lIns="164592" rIns="164592" tIns="109728" bIns="109728">
            <a:spAutoFit/>
          </a:bodyPr>
          <a:lstStyle/>
          <a:p>
            <a:pPr>
              <a:defRPr sz="1900">
                <a:solidFill>
                  <a:srgbClr val="F5F7FA"/>
                </a:solidFill>
                <a:latin typeface="Aptos"/>
              </a:defRPr>
            </a:pPr>
            <a:r>
              <a:rPr sz="1900">
                <a:solidFill>
                  <a:srgbClr val="191919"/>
                </a:solidFill>
                <a:latin typeface="Aptos"/>
              </a:rPr>
              <a:t>Cross-Site Scripting (XSS) is a web security attack in which an </a:t>
            </a:r>
            <a:r>
              <a:rPr sz="1900" b="1">
                <a:solidFill>
                  <a:srgbClr val="191919"/>
                </a:solidFill>
                <a:latin typeface="Aptos"/>
              </a:rPr>
              <a:t>attacker</a:t>
            </a:r>
            <a:r>
              <a:rPr sz="1900">
                <a:solidFill>
                  <a:srgbClr val="191919"/>
                </a:solidFill>
                <a:latin typeface="Aptos"/>
              </a:rPr>
              <a:t> causes </a:t>
            </a:r>
            <a:r>
              <a:rPr sz="1900" b="1">
                <a:solidFill>
                  <a:srgbClr val="191919"/>
                </a:solidFill>
                <a:latin typeface="Aptos"/>
              </a:rPr>
              <a:t>malicious</a:t>
            </a:r>
            <a:r>
              <a:rPr sz="1900">
                <a:solidFill>
                  <a:srgbClr val="191919"/>
                </a:solidFill>
                <a:latin typeface="Aptos"/>
              </a:rPr>
              <a:t> client-side script, commonly JavaScript, to be delivered and executed in a </a:t>
            </a:r>
            <a:r>
              <a:rPr sz="1900" b="1">
                <a:solidFill>
                  <a:srgbClr val="191919"/>
                </a:solidFill>
                <a:latin typeface="Aptos"/>
              </a:rPr>
              <a:t>victim</a:t>
            </a:r>
            <a:r>
              <a:rPr sz="1900">
                <a:solidFill>
                  <a:srgbClr val="191919"/>
                </a:solidFill>
                <a:latin typeface="Aptos"/>
              </a:rPr>
              <a:t>'s browser through a trusted web </a:t>
            </a:r>
            <a:r>
              <a:rPr sz="1900" b="1">
                <a:solidFill>
                  <a:srgbClr val="191919"/>
                </a:solidFill>
                <a:latin typeface="Aptos"/>
              </a:rPr>
              <a:t>application</a:t>
            </a:r>
            <a:r>
              <a:rPr sz="1900">
                <a:solidFill>
                  <a:srgbClr val="191919"/>
                </a:solidFill>
                <a:latin typeface="Aptos"/>
              </a:rPr>
              <a:t>. XSS generally occurs when an </a:t>
            </a:r>
            <a:r>
              <a:rPr sz="1900" b="1">
                <a:solidFill>
                  <a:srgbClr val="191919"/>
                </a:solidFill>
                <a:latin typeface="Aptos"/>
              </a:rPr>
              <a:t>application</a:t>
            </a:r>
            <a:r>
              <a:rPr sz="1900">
                <a:solidFill>
                  <a:srgbClr val="191919"/>
                </a:solidFill>
                <a:latin typeface="Aptos"/>
              </a:rPr>
              <a:t> improperly handles </a:t>
            </a:r>
            <a:r>
              <a:rPr sz="1900" b="1">
                <a:solidFill>
                  <a:srgbClr val="191919"/>
                </a:solidFill>
                <a:latin typeface="Aptos"/>
              </a:rPr>
              <a:t>untrusted input</a:t>
            </a:r>
            <a:r>
              <a:rPr sz="1900">
                <a:solidFill>
                  <a:srgbClr val="191919"/>
                </a:solidFill>
                <a:latin typeface="Aptos"/>
              </a:rPr>
              <a:t> or output and fails to apply suitable encoding or sanitization. Depending on the type and context, an XSS vulnerability can allow </a:t>
            </a:r>
            <a:r>
              <a:rPr sz="1900" b="1">
                <a:solidFill>
                  <a:srgbClr val="191919"/>
                </a:solidFill>
                <a:latin typeface="Aptos"/>
              </a:rPr>
              <a:t>malicious</a:t>
            </a:r>
            <a:r>
              <a:rPr sz="1900">
                <a:solidFill>
                  <a:srgbClr val="191919"/>
                </a:solidFill>
                <a:latin typeface="Aptos"/>
              </a:rPr>
              <a:t> actions in the </a:t>
            </a:r>
            <a:r>
              <a:rPr sz="1900" b="1">
                <a:solidFill>
                  <a:srgbClr val="191919"/>
                </a:solidFill>
                <a:latin typeface="Aptos"/>
              </a:rPr>
              <a:t>victim</a:t>
            </a:r>
            <a:r>
              <a:rPr sz="1900">
                <a:solidFill>
                  <a:srgbClr val="191919"/>
                </a:solidFill>
                <a:latin typeface="Aptos"/>
              </a:rPr>
              <a:t>'s browser, access to information available to the script, </a:t>
            </a:r>
            <a:r>
              <a:rPr sz="1900" b="1">
                <a:solidFill>
                  <a:srgbClr val="191919"/>
                </a:solidFill>
                <a:latin typeface="Aptos"/>
              </a:rPr>
              <a:t>session</a:t>
            </a:r>
            <a:r>
              <a:rPr sz="1900">
                <a:solidFill>
                  <a:srgbClr val="191919"/>
                </a:solidFill>
                <a:latin typeface="Aptos"/>
              </a:rPr>
              <a:t> abuse, or modification of displayed content. Context-aware output encoding, safe frameworks, validation, and suitable security controls help prevent XSS.</a:t>
            </a:r>
          </a:p>
        </p:txBody>
      </p:sp>
      <p:sp>
        <p:nvSpPr>
          <p:cNvPr id="9" name="TextBox 8"/>
          <p:cNvSpPr txBox="1"/>
          <p:nvPr/>
        </p:nvSpPr>
        <p:spPr>
          <a:xfrm>
            <a:off x="502920" y="6473952"/>
            <a:ext cx="11155680" cy="228600"/>
          </a:xfrm>
          <a:prstGeom prst="rect">
            <a:avLst/>
          </a:prstGeom>
          <a:noFill/>
        </p:spPr>
        <p:txBody>
          <a:bodyPr wrap="none">
            <a:spAutoFit/>
          </a:bodyPr>
          <a:lstStyle/>
          <a:p>
            <a:pPr algn="r">
              <a:defRPr sz="900">
                <a:solidFill>
                  <a:srgbClr val="B7C0CC"/>
                </a:solidFill>
                <a:latin typeface="Aptos"/>
              </a:defRPr>
            </a:pPr>
            <a:r>
              <a:rPr>
                <a:solidFill>
                  <a:srgbClr val="191919"/>
                </a:solidFill>
                <a:latin typeface="Aptos"/>
              </a:rPr>
              <a:t>Cybersecurity Study Presentation • Exam-ready definitions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146304"/>
          </a:xfrm>
          <a:prstGeom prst="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640080" cy="320040"/>
          </a:xfrm>
          <a:prstGeom prst="rect">
            <a:avLst/>
          </a:prstGeom>
          <a:noFill/>
        </p:spPr>
        <p:txBody>
          <a:bodyPr wrap="none">
            <a:spAutoFit/>
          </a:bodyPr>
          <a:lstStyle/>
          <a:p>
            <a:pPr>
              <a:defRPr sz="1500" b="1">
                <a:solidFill>
                  <a:srgbClr val="FFE25C"/>
                </a:solidFill>
              </a:defRPr>
            </a:pPr>
            <a:r>
              <a:rPr>
                <a:solidFill>
                  <a:srgbClr val="191919"/>
                </a:solidFill>
                <a:latin typeface="Aptos"/>
              </a:rPr>
              <a:t>11</a:t>
            </a:r>
          </a:p>
        </p:txBody>
      </p:sp>
      <p:sp>
        <p:nvSpPr>
          <p:cNvPr id="4" name="TextBox 3"/>
          <p:cNvSpPr txBox="1"/>
          <p:nvPr/>
        </p:nvSpPr>
        <p:spPr>
          <a:xfrm>
            <a:off x="777240" y="530352"/>
            <a:ext cx="10698480" cy="658368"/>
          </a:xfrm>
          <a:prstGeom prst="rect">
            <a:avLst/>
          </a:prstGeom>
          <a:noFill/>
        </p:spPr>
        <p:txBody>
          <a:bodyPr wrap="square" lIns="73152" rIns="73152" tIns="36576" bIns="36576">
            <a:spAutoFit/>
          </a:bodyPr>
          <a:lstStyle/>
          <a:p>
            <a:pPr algn="l">
              <a:defRPr sz="2800" b="1">
                <a:solidFill>
                  <a:srgbClr val="F5F7FA"/>
                </a:solidFill>
                <a:latin typeface="Aptos"/>
              </a:defRPr>
            </a:pPr>
            <a:r>
              <a:rPr>
                <a:solidFill>
                  <a:srgbClr val="191919"/>
                </a:solidFill>
                <a:latin typeface="Aptos"/>
              </a:rPr>
              <a:t>Trojan Horse Attack</a:t>
            </a:r>
          </a:p>
        </p:txBody>
      </p:sp>
      <p:sp>
        <p:nvSpPr>
          <p:cNvPr id="5" name="Rounded Rectangle 4"/>
          <p:cNvSpPr/>
          <p:nvPr/>
        </p:nvSpPr>
        <p:spPr>
          <a:xfrm>
            <a:off x="786384" y="1207008"/>
            <a:ext cx="1645920" cy="347472"/>
          </a:xfrm>
          <a:prstGeom prst="round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252728"/>
            <a:ext cx="1417320" cy="201168"/>
          </a:xfrm>
          <a:prstGeom prst="rect">
            <a:avLst/>
          </a:prstGeom>
          <a:noFill/>
        </p:spPr>
        <p:txBody>
          <a:bodyPr wrap="square" lIns="73152" rIns="73152" tIns="36576" bIns="36576">
            <a:spAutoFit/>
          </a:bodyPr>
          <a:lstStyle/>
          <a:p>
            <a:pPr algn="l">
              <a:defRPr sz="1000" b="1">
                <a:solidFill>
                  <a:srgbClr val="11161D"/>
                </a:solidFill>
                <a:latin typeface="Aptos"/>
              </a:defRPr>
            </a:pPr>
            <a:r>
              <a:rPr>
                <a:solidFill>
                  <a:srgbClr val="191919"/>
                </a:solidFill>
                <a:latin typeface="Aptos"/>
              </a:rPr>
              <a:t>ATTACK 11</a:t>
            </a:r>
          </a:p>
        </p:txBody>
      </p:sp>
      <p:sp>
        <p:nvSpPr>
          <p:cNvPr id="7" name="Rounded Rectangle 6"/>
          <p:cNvSpPr/>
          <p:nvPr/>
        </p:nvSpPr>
        <p:spPr>
          <a:xfrm>
            <a:off x="685800" y="1783080"/>
            <a:ext cx="10835640" cy="4297680"/>
          </a:xfrm>
          <a:prstGeom prst="roundRect">
            <a:avLst/>
          </a:prstGeom>
          <a:solidFill>
            <a:srgbClr val="F6F8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29968"/>
            <a:ext cx="10378440" cy="3749039"/>
          </a:xfrm>
          <a:prstGeom prst="rect">
            <a:avLst/>
          </a:prstGeom>
          <a:noFill/>
        </p:spPr>
        <p:txBody>
          <a:bodyPr wrap="square" lIns="164592" rIns="164592" tIns="109728" bIns="109728">
            <a:spAutoFit/>
          </a:bodyPr>
          <a:lstStyle/>
          <a:p>
            <a:pPr>
              <a:defRPr sz="1900">
                <a:solidFill>
                  <a:srgbClr val="F5F7FA"/>
                </a:solidFill>
                <a:latin typeface="Aptos"/>
              </a:defRPr>
            </a:pPr>
            <a:r>
              <a:rPr sz="1900">
                <a:solidFill>
                  <a:srgbClr val="191919"/>
                </a:solidFill>
                <a:latin typeface="Aptos"/>
              </a:rPr>
              <a:t>A Trojan Horse attack uses a </a:t>
            </a:r>
            <a:r>
              <a:rPr sz="1900" b="1">
                <a:solidFill>
                  <a:srgbClr val="191919"/>
                </a:solidFill>
                <a:latin typeface="Aptos"/>
              </a:rPr>
              <a:t>malicious</a:t>
            </a:r>
            <a:r>
              <a:rPr sz="1900">
                <a:solidFill>
                  <a:srgbClr val="191919"/>
                </a:solidFill>
                <a:latin typeface="Aptos"/>
              </a:rPr>
              <a:t> program that is disguised as legitimate, useful, or desirable software, a document, media file, update, or other content. Unlike a worm, a Trojan generally relies on the </a:t>
            </a:r>
            <a:r>
              <a:rPr sz="1900" b="1">
                <a:solidFill>
                  <a:srgbClr val="191919"/>
                </a:solidFill>
                <a:latin typeface="Aptos"/>
              </a:rPr>
              <a:t>victim</a:t>
            </a:r>
            <a:r>
              <a:rPr sz="1900">
                <a:solidFill>
                  <a:srgbClr val="191919"/>
                </a:solidFill>
                <a:latin typeface="Aptos"/>
              </a:rPr>
              <a:t> or another process to execute or install it rather than automatically spreading itself. After execution, the Trojan may install additional </a:t>
            </a:r>
            <a:r>
              <a:rPr sz="1900" b="1">
                <a:solidFill>
                  <a:srgbClr val="191919"/>
                </a:solidFill>
                <a:latin typeface="Aptos"/>
              </a:rPr>
              <a:t>malware</a:t>
            </a:r>
            <a:r>
              <a:rPr sz="1900">
                <a:solidFill>
                  <a:srgbClr val="191919"/>
                </a:solidFill>
                <a:latin typeface="Aptos"/>
              </a:rPr>
              <a:t>, steal information, provide </a:t>
            </a:r>
            <a:r>
              <a:rPr sz="1900" b="1">
                <a:solidFill>
                  <a:srgbClr val="191919"/>
                </a:solidFill>
                <a:latin typeface="Aptos"/>
              </a:rPr>
              <a:t>unauthorized</a:t>
            </a:r>
            <a:r>
              <a:rPr sz="1900">
                <a:solidFill>
                  <a:srgbClr val="191919"/>
                </a:solidFill>
                <a:latin typeface="Aptos"/>
              </a:rPr>
              <a:t> remote access, modify files, or perform other </a:t>
            </a:r>
            <a:r>
              <a:rPr sz="1900" b="1">
                <a:solidFill>
                  <a:srgbClr val="191919"/>
                </a:solidFill>
                <a:latin typeface="Aptos"/>
              </a:rPr>
              <a:t>malicious</a:t>
            </a:r>
            <a:r>
              <a:rPr sz="1900">
                <a:solidFill>
                  <a:srgbClr val="191919"/>
                </a:solidFill>
                <a:latin typeface="Aptos"/>
              </a:rPr>
              <a:t> activities. Because the program may appear trustworthy, social engineering and fake software downloads are common delivery methods. </a:t>
            </a:r>
            <a:r>
              <a:rPr sz="1900" b="1">
                <a:solidFill>
                  <a:srgbClr val="191919"/>
                </a:solidFill>
                <a:latin typeface="Aptos"/>
              </a:rPr>
              <a:t>Application</a:t>
            </a:r>
            <a:r>
              <a:rPr sz="1900">
                <a:solidFill>
                  <a:srgbClr val="191919"/>
                </a:solidFill>
                <a:latin typeface="Aptos"/>
              </a:rPr>
              <a:t> allow-listing, trusted sources, updates, and endpoint security can reduce risk.</a:t>
            </a:r>
          </a:p>
        </p:txBody>
      </p:sp>
      <p:sp>
        <p:nvSpPr>
          <p:cNvPr id="9" name="TextBox 8"/>
          <p:cNvSpPr txBox="1"/>
          <p:nvPr/>
        </p:nvSpPr>
        <p:spPr>
          <a:xfrm>
            <a:off x="502920" y="6473952"/>
            <a:ext cx="11155680" cy="228600"/>
          </a:xfrm>
          <a:prstGeom prst="rect">
            <a:avLst/>
          </a:prstGeom>
          <a:noFill/>
        </p:spPr>
        <p:txBody>
          <a:bodyPr wrap="none">
            <a:spAutoFit/>
          </a:bodyPr>
          <a:lstStyle/>
          <a:p>
            <a:pPr algn="r">
              <a:defRPr sz="900">
                <a:solidFill>
                  <a:srgbClr val="B7C0CC"/>
                </a:solidFill>
                <a:latin typeface="Aptos"/>
              </a:defRPr>
            </a:pPr>
            <a:r>
              <a:rPr>
                <a:solidFill>
                  <a:srgbClr val="191919"/>
                </a:solidFill>
                <a:latin typeface="Aptos"/>
              </a:rPr>
              <a:t>Cybersecurity Study Presentation • Exam-ready definitions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146304"/>
          </a:xfrm>
          <a:prstGeom prst="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640080" cy="320040"/>
          </a:xfrm>
          <a:prstGeom prst="rect">
            <a:avLst/>
          </a:prstGeom>
          <a:noFill/>
        </p:spPr>
        <p:txBody>
          <a:bodyPr wrap="none">
            <a:spAutoFit/>
          </a:bodyPr>
          <a:lstStyle/>
          <a:p>
            <a:pPr>
              <a:defRPr sz="1500" b="1">
                <a:solidFill>
                  <a:srgbClr val="FFE25C"/>
                </a:solidFill>
              </a:defRPr>
            </a:pPr>
            <a:r>
              <a:rPr>
                <a:solidFill>
                  <a:srgbClr val="191919"/>
                </a:solidFill>
                <a:latin typeface="Aptos"/>
              </a:rPr>
              <a:t>12</a:t>
            </a:r>
          </a:p>
        </p:txBody>
      </p:sp>
      <p:sp>
        <p:nvSpPr>
          <p:cNvPr id="4" name="TextBox 3"/>
          <p:cNvSpPr txBox="1"/>
          <p:nvPr/>
        </p:nvSpPr>
        <p:spPr>
          <a:xfrm>
            <a:off x="777240" y="530352"/>
            <a:ext cx="10698480" cy="658368"/>
          </a:xfrm>
          <a:prstGeom prst="rect">
            <a:avLst/>
          </a:prstGeom>
          <a:noFill/>
        </p:spPr>
        <p:txBody>
          <a:bodyPr wrap="square" lIns="73152" rIns="73152" tIns="36576" bIns="36576">
            <a:spAutoFit/>
          </a:bodyPr>
          <a:lstStyle/>
          <a:p>
            <a:pPr algn="l">
              <a:defRPr sz="2800" b="1">
                <a:solidFill>
                  <a:srgbClr val="F5F7FA"/>
                </a:solidFill>
                <a:latin typeface="Aptos"/>
              </a:defRPr>
            </a:pPr>
            <a:r>
              <a:rPr>
                <a:solidFill>
                  <a:srgbClr val="191919"/>
                </a:solidFill>
                <a:latin typeface="Aptos"/>
              </a:rPr>
              <a:t>Password Attack</a:t>
            </a:r>
          </a:p>
        </p:txBody>
      </p:sp>
      <p:sp>
        <p:nvSpPr>
          <p:cNvPr id="5" name="Rounded Rectangle 4"/>
          <p:cNvSpPr/>
          <p:nvPr/>
        </p:nvSpPr>
        <p:spPr>
          <a:xfrm>
            <a:off x="786384" y="1207008"/>
            <a:ext cx="1645920" cy="347472"/>
          </a:xfrm>
          <a:prstGeom prst="round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252728"/>
            <a:ext cx="1417320" cy="201168"/>
          </a:xfrm>
          <a:prstGeom prst="rect">
            <a:avLst/>
          </a:prstGeom>
          <a:noFill/>
        </p:spPr>
        <p:txBody>
          <a:bodyPr wrap="square" lIns="73152" rIns="73152" tIns="36576" bIns="36576">
            <a:spAutoFit/>
          </a:bodyPr>
          <a:lstStyle/>
          <a:p>
            <a:pPr algn="l">
              <a:defRPr sz="1000" b="1">
                <a:solidFill>
                  <a:srgbClr val="11161D"/>
                </a:solidFill>
                <a:latin typeface="Aptos"/>
              </a:defRPr>
            </a:pPr>
            <a:r>
              <a:rPr>
                <a:solidFill>
                  <a:srgbClr val="191919"/>
                </a:solidFill>
                <a:latin typeface="Aptos"/>
              </a:rPr>
              <a:t>ATTACK 12</a:t>
            </a:r>
          </a:p>
        </p:txBody>
      </p:sp>
      <p:sp>
        <p:nvSpPr>
          <p:cNvPr id="7" name="Rounded Rectangle 6"/>
          <p:cNvSpPr/>
          <p:nvPr/>
        </p:nvSpPr>
        <p:spPr>
          <a:xfrm>
            <a:off x="685800" y="1783080"/>
            <a:ext cx="10835640" cy="4297680"/>
          </a:xfrm>
          <a:prstGeom prst="roundRect">
            <a:avLst/>
          </a:prstGeom>
          <a:solidFill>
            <a:srgbClr val="F6F8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29968"/>
            <a:ext cx="10378440" cy="3749039"/>
          </a:xfrm>
          <a:prstGeom prst="rect">
            <a:avLst/>
          </a:prstGeom>
          <a:noFill/>
        </p:spPr>
        <p:txBody>
          <a:bodyPr wrap="square" lIns="164592" rIns="164592" tIns="109728" bIns="109728">
            <a:spAutoFit/>
          </a:bodyPr>
          <a:lstStyle/>
          <a:p>
            <a:pPr>
              <a:defRPr sz="1900">
                <a:solidFill>
                  <a:srgbClr val="F5F7FA"/>
                </a:solidFill>
                <a:latin typeface="Aptos"/>
              </a:defRPr>
            </a:pPr>
            <a:r>
              <a:rPr sz="1900">
                <a:solidFill>
                  <a:srgbClr val="191919"/>
                </a:solidFill>
                <a:latin typeface="Aptos"/>
              </a:rPr>
              <a:t>A </a:t>
            </a:r>
            <a:r>
              <a:rPr sz="1900" b="1">
                <a:solidFill>
                  <a:srgbClr val="191919"/>
                </a:solidFill>
                <a:latin typeface="Aptos"/>
              </a:rPr>
              <a:t>password</a:t>
            </a:r>
            <a:r>
              <a:rPr sz="1900">
                <a:solidFill>
                  <a:srgbClr val="191919"/>
                </a:solidFill>
                <a:latin typeface="Aptos"/>
              </a:rPr>
              <a:t> attack is any attack that attempts to obtain, guess, steal, reuse, or otherwise compromise a user's </a:t>
            </a:r>
            <a:r>
              <a:rPr sz="1900" b="1">
                <a:solidFill>
                  <a:srgbClr val="191919"/>
                </a:solidFill>
                <a:latin typeface="Aptos"/>
              </a:rPr>
              <a:t>password</a:t>
            </a:r>
            <a:r>
              <a:rPr sz="1900">
                <a:solidFill>
                  <a:srgbClr val="191919"/>
                </a:solidFill>
                <a:latin typeface="Aptos"/>
              </a:rPr>
              <a:t> or </a:t>
            </a:r>
            <a:r>
              <a:rPr sz="1900" b="1">
                <a:solidFill>
                  <a:srgbClr val="191919"/>
                </a:solidFill>
                <a:latin typeface="Aptos"/>
              </a:rPr>
              <a:t>password</a:t>
            </a:r>
            <a:r>
              <a:rPr sz="1900">
                <a:solidFill>
                  <a:srgbClr val="191919"/>
                </a:solidFill>
                <a:latin typeface="Aptos"/>
              </a:rPr>
              <a:t>-based </a:t>
            </a:r>
            <a:r>
              <a:rPr sz="1900" b="1">
                <a:solidFill>
                  <a:srgbClr val="191919"/>
                </a:solidFill>
                <a:latin typeface="Aptos"/>
              </a:rPr>
              <a:t>authentication</a:t>
            </a:r>
            <a:r>
              <a:rPr sz="1900">
                <a:solidFill>
                  <a:srgbClr val="191919"/>
                </a:solidFill>
                <a:latin typeface="Aptos"/>
              </a:rPr>
              <a:t>. It includes techniques such as brute-force guessing, dictionary attacks, </a:t>
            </a:r>
            <a:r>
              <a:rPr sz="1900" b="1">
                <a:solidFill>
                  <a:srgbClr val="191919"/>
                </a:solidFill>
                <a:latin typeface="Aptos"/>
              </a:rPr>
              <a:t>password</a:t>
            </a:r>
            <a:r>
              <a:rPr sz="1900">
                <a:solidFill>
                  <a:srgbClr val="191919"/>
                </a:solidFill>
                <a:latin typeface="Aptos"/>
              </a:rPr>
              <a:t> spraying, credential stuffing, phishing, keylogging, and theft of </a:t>
            </a:r>
            <a:r>
              <a:rPr sz="1900" b="1">
                <a:solidFill>
                  <a:srgbClr val="191919"/>
                </a:solidFill>
                <a:latin typeface="Aptos"/>
              </a:rPr>
              <a:t>password</a:t>
            </a:r>
            <a:r>
              <a:rPr sz="1900">
                <a:solidFill>
                  <a:srgbClr val="191919"/>
                </a:solidFill>
                <a:latin typeface="Aptos"/>
              </a:rPr>
              <a:t> </a:t>
            </a:r>
            <a:r>
              <a:rPr sz="1900" b="1">
                <a:solidFill>
                  <a:srgbClr val="191919"/>
                </a:solidFill>
                <a:latin typeface="Aptos"/>
              </a:rPr>
              <a:t>database</a:t>
            </a:r>
            <a:r>
              <a:rPr sz="1900">
                <a:solidFill>
                  <a:srgbClr val="191919"/>
                </a:solidFill>
                <a:latin typeface="Aptos"/>
              </a:rPr>
              <a:t>s. Once a </a:t>
            </a:r>
            <a:r>
              <a:rPr sz="1900" b="1">
                <a:solidFill>
                  <a:srgbClr val="191919"/>
                </a:solidFill>
                <a:latin typeface="Aptos"/>
              </a:rPr>
              <a:t>password</a:t>
            </a:r>
            <a:r>
              <a:rPr sz="1900">
                <a:solidFill>
                  <a:srgbClr val="191919"/>
                </a:solidFill>
                <a:latin typeface="Aptos"/>
              </a:rPr>
              <a:t> is compromised, </a:t>
            </a:r>
            <a:r>
              <a:rPr sz="1900" b="1">
                <a:solidFill>
                  <a:srgbClr val="191919"/>
                </a:solidFill>
                <a:latin typeface="Aptos"/>
              </a:rPr>
              <a:t>attacker</a:t>
            </a:r>
            <a:r>
              <a:rPr sz="1900">
                <a:solidFill>
                  <a:srgbClr val="191919"/>
                </a:solidFill>
                <a:latin typeface="Aptos"/>
              </a:rPr>
              <a:t>s may access the associated account and may attempt to reuse the same credential elsewhere. Strong unique </a:t>
            </a:r>
            <a:r>
              <a:rPr sz="1900" b="1">
                <a:solidFill>
                  <a:srgbClr val="191919"/>
                </a:solidFill>
                <a:latin typeface="Aptos"/>
              </a:rPr>
              <a:t>password</a:t>
            </a:r>
            <a:r>
              <a:rPr sz="1900">
                <a:solidFill>
                  <a:srgbClr val="191919"/>
                </a:solidFill>
                <a:latin typeface="Aptos"/>
              </a:rPr>
              <a:t>s, </a:t>
            </a:r>
            <a:r>
              <a:rPr sz="1900" b="1">
                <a:solidFill>
                  <a:srgbClr val="191919"/>
                </a:solidFill>
                <a:latin typeface="Aptos"/>
              </a:rPr>
              <a:t>password</a:t>
            </a:r>
            <a:r>
              <a:rPr sz="1900">
                <a:solidFill>
                  <a:srgbClr val="191919"/>
                </a:solidFill>
                <a:latin typeface="Aptos"/>
              </a:rPr>
              <a:t> managers, multi-factor </a:t>
            </a:r>
            <a:r>
              <a:rPr sz="1900" b="1">
                <a:solidFill>
                  <a:srgbClr val="191919"/>
                </a:solidFill>
                <a:latin typeface="Aptos"/>
              </a:rPr>
              <a:t>authentication</a:t>
            </a:r>
            <a:r>
              <a:rPr sz="1900">
                <a:solidFill>
                  <a:srgbClr val="191919"/>
                </a:solidFill>
                <a:latin typeface="Aptos"/>
              </a:rPr>
              <a:t>, secure </a:t>
            </a:r>
            <a:r>
              <a:rPr sz="1900" b="1">
                <a:solidFill>
                  <a:srgbClr val="191919"/>
                </a:solidFill>
                <a:latin typeface="Aptos"/>
              </a:rPr>
              <a:t>password</a:t>
            </a:r>
            <a:r>
              <a:rPr sz="1900">
                <a:solidFill>
                  <a:srgbClr val="191919"/>
                </a:solidFill>
                <a:latin typeface="Aptos"/>
              </a:rPr>
              <a:t> storage, rate limiting, and monitoring are important defenses against </a:t>
            </a:r>
            <a:r>
              <a:rPr sz="1900" b="1">
                <a:solidFill>
                  <a:srgbClr val="191919"/>
                </a:solidFill>
                <a:latin typeface="Aptos"/>
              </a:rPr>
              <a:t>password</a:t>
            </a:r>
            <a:r>
              <a:rPr sz="1900">
                <a:solidFill>
                  <a:srgbClr val="191919"/>
                </a:solidFill>
                <a:latin typeface="Aptos"/>
              </a:rPr>
              <a:t> attacks.</a:t>
            </a:r>
          </a:p>
        </p:txBody>
      </p:sp>
      <p:sp>
        <p:nvSpPr>
          <p:cNvPr id="9" name="TextBox 8"/>
          <p:cNvSpPr txBox="1"/>
          <p:nvPr/>
        </p:nvSpPr>
        <p:spPr>
          <a:xfrm>
            <a:off x="502920" y="6473952"/>
            <a:ext cx="11155680" cy="228600"/>
          </a:xfrm>
          <a:prstGeom prst="rect">
            <a:avLst/>
          </a:prstGeom>
          <a:noFill/>
        </p:spPr>
        <p:txBody>
          <a:bodyPr wrap="none">
            <a:spAutoFit/>
          </a:bodyPr>
          <a:lstStyle/>
          <a:p>
            <a:pPr algn="r">
              <a:defRPr sz="900">
                <a:solidFill>
                  <a:srgbClr val="B7C0CC"/>
                </a:solidFill>
                <a:latin typeface="Aptos"/>
              </a:defRPr>
            </a:pPr>
            <a:r>
              <a:rPr>
                <a:solidFill>
                  <a:srgbClr val="191919"/>
                </a:solidFill>
                <a:latin typeface="Aptos"/>
              </a:rPr>
              <a:t>Cybersecurity Study Presentation • Exam-ready definitions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146304"/>
          </a:xfrm>
          <a:prstGeom prst="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640080" cy="320040"/>
          </a:xfrm>
          <a:prstGeom prst="rect">
            <a:avLst/>
          </a:prstGeom>
          <a:noFill/>
        </p:spPr>
        <p:txBody>
          <a:bodyPr wrap="none">
            <a:spAutoFit/>
          </a:bodyPr>
          <a:lstStyle/>
          <a:p>
            <a:pPr>
              <a:defRPr sz="1500" b="1">
                <a:solidFill>
                  <a:srgbClr val="FFE25C"/>
                </a:solidFill>
              </a:defRPr>
            </a:pPr>
            <a:r>
              <a:rPr>
                <a:solidFill>
                  <a:srgbClr val="191919"/>
                </a:solidFill>
                <a:latin typeface="Aptos"/>
              </a:rPr>
              <a:t>13</a:t>
            </a:r>
          </a:p>
        </p:txBody>
      </p:sp>
      <p:sp>
        <p:nvSpPr>
          <p:cNvPr id="4" name="TextBox 3"/>
          <p:cNvSpPr txBox="1"/>
          <p:nvPr/>
        </p:nvSpPr>
        <p:spPr>
          <a:xfrm>
            <a:off x="777240" y="530352"/>
            <a:ext cx="10698480" cy="658368"/>
          </a:xfrm>
          <a:prstGeom prst="rect">
            <a:avLst/>
          </a:prstGeom>
          <a:noFill/>
        </p:spPr>
        <p:txBody>
          <a:bodyPr wrap="square" lIns="73152" rIns="73152" tIns="36576" bIns="36576">
            <a:spAutoFit/>
          </a:bodyPr>
          <a:lstStyle/>
          <a:p>
            <a:pPr algn="l">
              <a:defRPr sz="2800" b="1">
                <a:solidFill>
                  <a:srgbClr val="F5F7FA"/>
                </a:solidFill>
                <a:latin typeface="Aptos"/>
              </a:defRPr>
            </a:pPr>
            <a:r>
              <a:rPr>
                <a:solidFill>
                  <a:srgbClr val="191919"/>
                </a:solidFill>
                <a:latin typeface="Aptos"/>
              </a:rPr>
              <a:t>Spear Phishing</a:t>
            </a:r>
          </a:p>
        </p:txBody>
      </p:sp>
      <p:sp>
        <p:nvSpPr>
          <p:cNvPr id="5" name="Rounded Rectangle 4"/>
          <p:cNvSpPr/>
          <p:nvPr/>
        </p:nvSpPr>
        <p:spPr>
          <a:xfrm>
            <a:off x="786384" y="1207008"/>
            <a:ext cx="1645920" cy="347472"/>
          </a:xfrm>
          <a:prstGeom prst="round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252728"/>
            <a:ext cx="1417320" cy="201168"/>
          </a:xfrm>
          <a:prstGeom prst="rect">
            <a:avLst/>
          </a:prstGeom>
          <a:noFill/>
        </p:spPr>
        <p:txBody>
          <a:bodyPr wrap="square" lIns="73152" rIns="73152" tIns="36576" bIns="36576">
            <a:spAutoFit/>
          </a:bodyPr>
          <a:lstStyle/>
          <a:p>
            <a:pPr algn="l">
              <a:defRPr sz="1000" b="1">
                <a:solidFill>
                  <a:srgbClr val="11161D"/>
                </a:solidFill>
                <a:latin typeface="Aptos"/>
              </a:defRPr>
            </a:pPr>
            <a:r>
              <a:rPr>
                <a:solidFill>
                  <a:srgbClr val="191919"/>
                </a:solidFill>
                <a:latin typeface="Aptos"/>
              </a:rPr>
              <a:t>ATTACK 13</a:t>
            </a:r>
          </a:p>
        </p:txBody>
      </p:sp>
      <p:sp>
        <p:nvSpPr>
          <p:cNvPr id="7" name="Rounded Rectangle 6"/>
          <p:cNvSpPr/>
          <p:nvPr/>
        </p:nvSpPr>
        <p:spPr>
          <a:xfrm>
            <a:off x="685800" y="1783080"/>
            <a:ext cx="10835640" cy="4297680"/>
          </a:xfrm>
          <a:prstGeom prst="roundRect">
            <a:avLst/>
          </a:prstGeom>
          <a:solidFill>
            <a:srgbClr val="F6F8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29968"/>
            <a:ext cx="10378440" cy="3749039"/>
          </a:xfrm>
          <a:prstGeom prst="rect">
            <a:avLst/>
          </a:prstGeom>
          <a:noFill/>
        </p:spPr>
        <p:txBody>
          <a:bodyPr wrap="square" lIns="164592" rIns="164592" tIns="109728" bIns="109728">
            <a:spAutoFit/>
          </a:bodyPr>
          <a:lstStyle/>
          <a:p>
            <a:pPr>
              <a:defRPr sz="1900">
                <a:solidFill>
                  <a:srgbClr val="F5F7FA"/>
                </a:solidFill>
                <a:latin typeface="Aptos"/>
              </a:defRPr>
            </a:pPr>
            <a:r>
              <a:rPr sz="1900">
                <a:solidFill>
                  <a:srgbClr val="191919"/>
                </a:solidFill>
                <a:latin typeface="Aptos"/>
              </a:rPr>
              <a:t>Spear phishing is a targeted form of phishing in which an </a:t>
            </a:r>
            <a:r>
              <a:rPr sz="1900" b="1">
                <a:solidFill>
                  <a:srgbClr val="191919"/>
                </a:solidFill>
                <a:latin typeface="Aptos"/>
              </a:rPr>
              <a:t>attacker</a:t>
            </a:r>
            <a:r>
              <a:rPr sz="1900">
                <a:solidFill>
                  <a:srgbClr val="191919"/>
                </a:solidFill>
                <a:latin typeface="Aptos"/>
              </a:rPr>
              <a:t> researches a specific person, group, or organization and creates a customized deceptive message to make the attack appear credible. Instead of sending a generic message to thousands of people, the </a:t>
            </a:r>
            <a:r>
              <a:rPr sz="1900" b="1">
                <a:solidFill>
                  <a:srgbClr val="191919"/>
                </a:solidFill>
                <a:latin typeface="Aptos"/>
              </a:rPr>
              <a:t>attacker</a:t>
            </a:r>
            <a:r>
              <a:rPr sz="1900">
                <a:solidFill>
                  <a:srgbClr val="191919"/>
                </a:solidFill>
                <a:latin typeface="Aptos"/>
              </a:rPr>
              <a:t> may use the </a:t>
            </a:r>
            <a:r>
              <a:rPr sz="1900" b="1">
                <a:solidFill>
                  <a:srgbClr val="191919"/>
                </a:solidFill>
                <a:latin typeface="Aptos"/>
              </a:rPr>
              <a:t>victim</a:t>
            </a:r>
            <a:r>
              <a:rPr sz="1900">
                <a:solidFill>
                  <a:srgbClr val="191919"/>
                </a:solidFill>
                <a:latin typeface="Aptos"/>
              </a:rPr>
              <a:t>'s name, job role, organization, current projects, colleagues, or other publicly available information. The objective may be to steal </a:t>
            </a:r>
            <a:r>
              <a:rPr sz="1900" b="1">
                <a:solidFill>
                  <a:srgbClr val="191919"/>
                </a:solidFill>
                <a:latin typeface="Aptos"/>
              </a:rPr>
              <a:t>credentials</a:t>
            </a:r>
            <a:r>
              <a:rPr sz="1900">
                <a:solidFill>
                  <a:srgbClr val="191919"/>
                </a:solidFill>
                <a:latin typeface="Aptos"/>
              </a:rPr>
              <a:t>, deliver </a:t>
            </a:r>
            <a:r>
              <a:rPr sz="1900" b="1">
                <a:solidFill>
                  <a:srgbClr val="191919"/>
                </a:solidFill>
                <a:latin typeface="Aptos"/>
              </a:rPr>
              <a:t>malware</a:t>
            </a:r>
            <a:r>
              <a:rPr sz="1900">
                <a:solidFill>
                  <a:srgbClr val="191919"/>
                </a:solidFill>
                <a:latin typeface="Aptos"/>
              </a:rPr>
              <a:t>, obtain confidential information, or persuade the </a:t>
            </a:r>
            <a:r>
              <a:rPr sz="1900" b="1">
                <a:solidFill>
                  <a:srgbClr val="191919"/>
                </a:solidFill>
                <a:latin typeface="Aptos"/>
              </a:rPr>
              <a:t>victim</a:t>
            </a:r>
            <a:r>
              <a:rPr sz="1900">
                <a:solidFill>
                  <a:srgbClr val="191919"/>
                </a:solidFill>
                <a:latin typeface="Aptos"/>
              </a:rPr>
              <a:t> to perform a financial or administrative action. Because the communication is personalized, spear phishing can be harder to recognize than generic phishing.</a:t>
            </a:r>
          </a:p>
        </p:txBody>
      </p:sp>
      <p:sp>
        <p:nvSpPr>
          <p:cNvPr id="9" name="TextBox 8"/>
          <p:cNvSpPr txBox="1"/>
          <p:nvPr/>
        </p:nvSpPr>
        <p:spPr>
          <a:xfrm>
            <a:off x="502920" y="6473952"/>
            <a:ext cx="11155680" cy="228600"/>
          </a:xfrm>
          <a:prstGeom prst="rect">
            <a:avLst/>
          </a:prstGeom>
          <a:noFill/>
        </p:spPr>
        <p:txBody>
          <a:bodyPr wrap="none">
            <a:spAutoFit/>
          </a:bodyPr>
          <a:lstStyle/>
          <a:p>
            <a:pPr algn="r">
              <a:defRPr sz="900">
                <a:solidFill>
                  <a:srgbClr val="B7C0CC"/>
                </a:solidFill>
                <a:latin typeface="Aptos"/>
              </a:defRPr>
            </a:pPr>
            <a:r>
              <a:rPr>
                <a:solidFill>
                  <a:srgbClr val="191919"/>
                </a:solidFill>
                <a:latin typeface="Aptos"/>
              </a:rPr>
              <a:t>Cybersecurity Study Presentation • Exam-ready definitions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146304"/>
          </a:xfrm>
          <a:prstGeom prst="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640080" cy="320040"/>
          </a:xfrm>
          <a:prstGeom prst="rect">
            <a:avLst/>
          </a:prstGeom>
          <a:noFill/>
        </p:spPr>
        <p:txBody>
          <a:bodyPr wrap="none">
            <a:spAutoFit/>
          </a:bodyPr>
          <a:lstStyle/>
          <a:p>
            <a:pPr>
              <a:defRPr sz="1500" b="1">
                <a:solidFill>
                  <a:srgbClr val="FFE25C"/>
                </a:solidFill>
              </a:defRPr>
            </a:pPr>
            <a:r>
              <a:rPr>
                <a:solidFill>
                  <a:srgbClr val="191919"/>
                </a:solidFill>
                <a:latin typeface="Aptos"/>
              </a:rPr>
              <a:t>14</a:t>
            </a:r>
          </a:p>
        </p:txBody>
      </p:sp>
      <p:sp>
        <p:nvSpPr>
          <p:cNvPr id="4" name="TextBox 3"/>
          <p:cNvSpPr txBox="1"/>
          <p:nvPr/>
        </p:nvSpPr>
        <p:spPr>
          <a:xfrm>
            <a:off x="777240" y="530352"/>
            <a:ext cx="10698480" cy="658368"/>
          </a:xfrm>
          <a:prstGeom prst="rect">
            <a:avLst/>
          </a:prstGeom>
          <a:noFill/>
        </p:spPr>
        <p:txBody>
          <a:bodyPr wrap="square" lIns="73152" rIns="73152" tIns="36576" bIns="36576">
            <a:spAutoFit/>
          </a:bodyPr>
          <a:lstStyle/>
          <a:p>
            <a:pPr algn="l">
              <a:defRPr sz="2800" b="1">
                <a:solidFill>
                  <a:srgbClr val="F5F7FA"/>
                </a:solidFill>
                <a:latin typeface="Aptos"/>
              </a:defRPr>
            </a:pPr>
            <a:r>
              <a:rPr>
                <a:solidFill>
                  <a:srgbClr val="191919"/>
                </a:solidFill>
                <a:latin typeface="Aptos"/>
              </a:rPr>
              <a:t>Credential Stuffing Attack</a:t>
            </a:r>
          </a:p>
        </p:txBody>
      </p:sp>
      <p:sp>
        <p:nvSpPr>
          <p:cNvPr id="5" name="Rounded Rectangle 4"/>
          <p:cNvSpPr/>
          <p:nvPr/>
        </p:nvSpPr>
        <p:spPr>
          <a:xfrm>
            <a:off x="786384" y="1207008"/>
            <a:ext cx="1645920" cy="347472"/>
          </a:xfrm>
          <a:prstGeom prst="round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252728"/>
            <a:ext cx="1417320" cy="201168"/>
          </a:xfrm>
          <a:prstGeom prst="rect">
            <a:avLst/>
          </a:prstGeom>
          <a:noFill/>
        </p:spPr>
        <p:txBody>
          <a:bodyPr wrap="square" lIns="73152" rIns="73152" tIns="36576" bIns="36576">
            <a:spAutoFit/>
          </a:bodyPr>
          <a:lstStyle/>
          <a:p>
            <a:pPr algn="l">
              <a:defRPr sz="1000" b="1">
                <a:solidFill>
                  <a:srgbClr val="11161D"/>
                </a:solidFill>
                <a:latin typeface="Aptos"/>
              </a:defRPr>
            </a:pPr>
            <a:r>
              <a:rPr>
                <a:solidFill>
                  <a:srgbClr val="191919"/>
                </a:solidFill>
                <a:latin typeface="Aptos"/>
              </a:rPr>
              <a:t>ATTACK 14</a:t>
            </a:r>
          </a:p>
        </p:txBody>
      </p:sp>
      <p:sp>
        <p:nvSpPr>
          <p:cNvPr id="7" name="Rounded Rectangle 6"/>
          <p:cNvSpPr/>
          <p:nvPr/>
        </p:nvSpPr>
        <p:spPr>
          <a:xfrm>
            <a:off x="685800" y="1783080"/>
            <a:ext cx="10835640" cy="4297680"/>
          </a:xfrm>
          <a:prstGeom prst="roundRect">
            <a:avLst/>
          </a:prstGeom>
          <a:solidFill>
            <a:srgbClr val="F6F8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29968"/>
            <a:ext cx="10378440" cy="3749039"/>
          </a:xfrm>
          <a:prstGeom prst="rect">
            <a:avLst/>
          </a:prstGeom>
          <a:noFill/>
        </p:spPr>
        <p:txBody>
          <a:bodyPr wrap="square" lIns="164592" rIns="164592" tIns="109728" bIns="109728">
            <a:spAutoFit/>
          </a:bodyPr>
          <a:lstStyle/>
          <a:p>
            <a:pPr>
              <a:defRPr sz="1900">
                <a:solidFill>
                  <a:srgbClr val="F5F7FA"/>
                </a:solidFill>
                <a:latin typeface="Aptos"/>
              </a:defRPr>
            </a:pPr>
            <a:r>
              <a:rPr sz="1900">
                <a:solidFill>
                  <a:srgbClr val="191919"/>
                </a:solidFill>
                <a:latin typeface="Aptos"/>
              </a:rPr>
              <a:t>Credential stuffing is an account-compromise attack in which an </a:t>
            </a:r>
            <a:r>
              <a:rPr sz="1900" b="1">
                <a:solidFill>
                  <a:srgbClr val="191919"/>
                </a:solidFill>
                <a:latin typeface="Aptos"/>
              </a:rPr>
              <a:t>attacker</a:t>
            </a:r>
            <a:r>
              <a:rPr sz="1900">
                <a:solidFill>
                  <a:srgbClr val="191919"/>
                </a:solidFill>
                <a:latin typeface="Aptos"/>
              </a:rPr>
              <a:t> uses previously leaked username-and-</a:t>
            </a:r>
            <a:r>
              <a:rPr sz="1900" b="1">
                <a:solidFill>
                  <a:srgbClr val="191919"/>
                </a:solidFill>
                <a:latin typeface="Aptos"/>
              </a:rPr>
              <a:t>password</a:t>
            </a:r>
            <a:r>
              <a:rPr sz="1900">
                <a:solidFill>
                  <a:srgbClr val="191919"/>
                </a:solidFill>
                <a:latin typeface="Aptos"/>
              </a:rPr>
              <a:t> combinations from one service to attempt </a:t>
            </a:r>
            <a:r>
              <a:rPr sz="1900" b="1">
                <a:solidFill>
                  <a:srgbClr val="191919"/>
                </a:solidFill>
                <a:latin typeface="Aptos"/>
              </a:rPr>
              <a:t>authentication</a:t>
            </a:r>
            <a:r>
              <a:rPr sz="1900">
                <a:solidFill>
                  <a:srgbClr val="191919"/>
                </a:solidFill>
                <a:latin typeface="Aptos"/>
              </a:rPr>
              <a:t> against other services. It succeeds because people sometimes reuse the same </a:t>
            </a:r>
            <a:r>
              <a:rPr sz="1900" b="1">
                <a:solidFill>
                  <a:srgbClr val="191919"/>
                </a:solidFill>
                <a:latin typeface="Aptos"/>
              </a:rPr>
              <a:t>password</a:t>
            </a:r>
            <a:r>
              <a:rPr sz="1900">
                <a:solidFill>
                  <a:srgbClr val="191919"/>
                </a:solidFill>
                <a:latin typeface="Aptos"/>
              </a:rPr>
              <a:t> across multiple </a:t>
            </a:r>
            <a:r>
              <a:rPr sz="1900" b="1">
                <a:solidFill>
                  <a:srgbClr val="191919"/>
                </a:solidFill>
                <a:latin typeface="Aptos"/>
              </a:rPr>
              <a:t>website</a:t>
            </a:r>
            <a:r>
              <a:rPr sz="1900">
                <a:solidFill>
                  <a:srgbClr val="191919"/>
                </a:solidFill>
                <a:latin typeface="Aptos"/>
              </a:rPr>
              <a:t>s or </a:t>
            </a:r>
            <a:r>
              <a:rPr sz="1900" b="1">
                <a:solidFill>
                  <a:srgbClr val="191919"/>
                </a:solidFill>
                <a:latin typeface="Aptos"/>
              </a:rPr>
              <a:t>application</a:t>
            </a:r>
            <a:r>
              <a:rPr sz="1900">
                <a:solidFill>
                  <a:srgbClr val="191919"/>
                </a:solidFill>
                <a:latin typeface="Aptos"/>
              </a:rPr>
              <a:t>s. The </a:t>
            </a:r>
            <a:r>
              <a:rPr sz="1900" b="1">
                <a:solidFill>
                  <a:srgbClr val="191919"/>
                </a:solidFill>
                <a:latin typeface="Aptos"/>
              </a:rPr>
              <a:t>attacker</a:t>
            </a:r>
            <a:r>
              <a:rPr sz="1900">
                <a:solidFill>
                  <a:srgbClr val="191919"/>
                </a:solidFill>
                <a:latin typeface="Aptos"/>
              </a:rPr>
              <a:t> automates large numbers of login attempts and relies on the fact that some reused </a:t>
            </a:r>
            <a:r>
              <a:rPr sz="1900" b="1">
                <a:solidFill>
                  <a:srgbClr val="191919"/>
                </a:solidFill>
                <a:latin typeface="Aptos"/>
              </a:rPr>
              <a:t>credentials</a:t>
            </a:r>
            <a:r>
              <a:rPr sz="1900">
                <a:solidFill>
                  <a:srgbClr val="191919"/>
                </a:solidFill>
                <a:latin typeface="Aptos"/>
              </a:rPr>
              <a:t> will remain valid elsewhere. Credential stuffing is different from brute force because the </a:t>
            </a:r>
            <a:r>
              <a:rPr sz="1900" b="1">
                <a:solidFill>
                  <a:srgbClr val="191919"/>
                </a:solidFill>
                <a:latin typeface="Aptos"/>
              </a:rPr>
              <a:t>attacker</a:t>
            </a:r>
            <a:r>
              <a:rPr sz="1900">
                <a:solidFill>
                  <a:srgbClr val="191919"/>
                </a:solidFill>
                <a:latin typeface="Aptos"/>
              </a:rPr>
              <a:t> generally starts with known or leaked credential pairs rather than generating every possible </a:t>
            </a:r>
            <a:r>
              <a:rPr sz="1900" b="1">
                <a:solidFill>
                  <a:srgbClr val="191919"/>
                </a:solidFill>
                <a:latin typeface="Aptos"/>
              </a:rPr>
              <a:t>password</a:t>
            </a:r>
            <a:r>
              <a:rPr sz="1900">
                <a:solidFill>
                  <a:srgbClr val="191919"/>
                </a:solidFill>
                <a:latin typeface="Aptos"/>
              </a:rPr>
              <a:t>. Unique </a:t>
            </a:r>
            <a:r>
              <a:rPr sz="1900" b="1">
                <a:solidFill>
                  <a:srgbClr val="191919"/>
                </a:solidFill>
                <a:latin typeface="Aptos"/>
              </a:rPr>
              <a:t>password</a:t>
            </a:r>
            <a:r>
              <a:rPr sz="1900">
                <a:solidFill>
                  <a:srgbClr val="191919"/>
                </a:solidFill>
                <a:latin typeface="Aptos"/>
              </a:rPr>
              <a:t>s, </a:t>
            </a:r>
            <a:r>
              <a:rPr sz="1900" b="1">
                <a:solidFill>
                  <a:srgbClr val="191919"/>
                </a:solidFill>
                <a:latin typeface="Aptos"/>
              </a:rPr>
              <a:t>password</a:t>
            </a:r>
            <a:r>
              <a:rPr sz="1900">
                <a:solidFill>
                  <a:srgbClr val="191919"/>
                </a:solidFill>
                <a:latin typeface="Aptos"/>
              </a:rPr>
              <a:t> managers, MFA, bot detection, and breached-</a:t>
            </a:r>
            <a:r>
              <a:rPr sz="1900" b="1">
                <a:solidFill>
                  <a:srgbClr val="191919"/>
                </a:solidFill>
                <a:latin typeface="Aptos"/>
              </a:rPr>
              <a:t>password</a:t>
            </a:r>
            <a:r>
              <a:rPr sz="1900">
                <a:solidFill>
                  <a:srgbClr val="191919"/>
                </a:solidFill>
                <a:latin typeface="Aptos"/>
              </a:rPr>
              <a:t> screening reduce the risk.</a:t>
            </a:r>
          </a:p>
        </p:txBody>
      </p:sp>
      <p:sp>
        <p:nvSpPr>
          <p:cNvPr id="9" name="TextBox 8"/>
          <p:cNvSpPr txBox="1"/>
          <p:nvPr/>
        </p:nvSpPr>
        <p:spPr>
          <a:xfrm>
            <a:off x="502920" y="6473952"/>
            <a:ext cx="11155680" cy="228600"/>
          </a:xfrm>
          <a:prstGeom prst="rect">
            <a:avLst/>
          </a:prstGeom>
          <a:noFill/>
        </p:spPr>
        <p:txBody>
          <a:bodyPr wrap="none">
            <a:spAutoFit/>
          </a:bodyPr>
          <a:lstStyle/>
          <a:p>
            <a:pPr algn="r">
              <a:defRPr sz="900">
                <a:solidFill>
                  <a:srgbClr val="B7C0CC"/>
                </a:solidFill>
                <a:latin typeface="Aptos"/>
              </a:defRPr>
            </a:pPr>
            <a:r>
              <a:rPr>
                <a:solidFill>
                  <a:srgbClr val="191919"/>
                </a:solidFill>
                <a:latin typeface="Aptos"/>
              </a:rPr>
              <a:t>Cybersecurity Study Presentation • Exam-ready definitions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146304"/>
          </a:xfrm>
          <a:prstGeom prst="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640080" cy="320040"/>
          </a:xfrm>
          <a:prstGeom prst="rect">
            <a:avLst/>
          </a:prstGeom>
          <a:noFill/>
        </p:spPr>
        <p:txBody>
          <a:bodyPr wrap="none">
            <a:spAutoFit/>
          </a:bodyPr>
          <a:lstStyle/>
          <a:p>
            <a:pPr>
              <a:defRPr sz="1500" b="1">
                <a:solidFill>
                  <a:srgbClr val="FFE25C"/>
                </a:solidFill>
              </a:defRPr>
            </a:pPr>
            <a:r>
              <a:rPr>
                <a:solidFill>
                  <a:srgbClr val="191919"/>
                </a:solidFill>
                <a:latin typeface="Aptos"/>
              </a:rPr>
              <a:t>15</a:t>
            </a:r>
          </a:p>
        </p:txBody>
      </p:sp>
      <p:sp>
        <p:nvSpPr>
          <p:cNvPr id="4" name="TextBox 3"/>
          <p:cNvSpPr txBox="1"/>
          <p:nvPr/>
        </p:nvSpPr>
        <p:spPr>
          <a:xfrm>
            <a:off x="777240" y="530352"/>
            <a:ext cx="10698480" cy="658368"/>
          </a:xfrm>
          <a:prstGeom prst="rect">
            <a:avLst/>
          </a:prstGeom>
          <a:noFill/>
        </p:spPr>
        <p:txBody>
          <a:bodyPr wrap="square" lIns="73152" rIns="73152" tIns="36576" bIns="36576">
            <a:spAutoFit/>
          </a:bodyPr>
          <a:lstStyle/>
          <a:p>
            <a:pPr algn="l">
              <a:defRPr sz="2800" b="1">
                <a:solidFill>
                  <a:srgbClr val="F5F7FA"/>
                </a:solidFill>
                <a:latin typeface="Aptos"/>
              </a:defRPr>
            </a:pPr>
            <a:r>
              <a:rPr>
                <a:solidFill>
                  <a:srgbClr val="191919"/>
                </a:solidFill>
                <a:latin typeface="Aptos"/>
              </a:rPr>
              <a:t>Zero-Day Attack</a:t>
            </a:r>
          </a:p>
        </p:txBody>
      </p:sp>
      <p:sp>
        <p:nvSpPr>
          <p:cNvPr id="5" name="Rounded Rectangle 4"/>
          <p:cNvSpPr/>
          <p:nvPr/>
        </p:nvSpPr>
        <p:spPr>
          <a:xfrm>
            <a:off x="786384" y="1207008"/>
            <a:ext cx="1645920" cy="347472"/>
          </a:xfrm>
          <a:prstGeom prst="round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252728"/>
            <a:ext cx="1417320" cy="201168"/>
          </a:xfrm>
          <a:prstGeom prst="rect">
            <a:avLst/>
          </a:prstGeom>
          <a:noFill/>
        </p:spPr>
        <p:txBody>
          <a:bodyPr wrap="square" lIns="73152" rIns="73152" tIns="36576" bIns="36576">
            <a:spAutoFit/>
          </a:bodyPr>
          <a:lstStyle/>
          <a:p>
            <a:pPr algn="l">
              <a:defRPr sz="1000" b="1">
                <a:solidFill>
                  <a:srgbClr val="11161D"/>
                </a:solidFill>
                <a:latin typeface="Aptos"/>
              </a:defRPr>
            </a:pPr>
            <a:r>
              <a:rPr>
                <a:solidFill>
                  <a:srgbClr val="191919"/>
                </a:solidFill>
                <a:latin typeface="Aptos"/>
              </a:rPr>
              <a:t>ATTACK 15</a:t>
            </a:r>
          </a:p>
        </p:txBody>
      </p:sp>
      <p:sp>
        <p:nvSpPr>
          <p:cNvPr id="7" name="Rounded Rectangle 6"/>
          <p:cNvSpPr/>
          <p:nvPr/>
        </p:nvSpPr>
        <p:spPr>
          <a:xfrm>
            <a:off x="685800" y="1783080"/>
            <a:ext cx="10835640" cy="4297680"/>
          </a:xfrm>
          <a:prstGeom prst="roundRect">
            <a:avLst/>
          </a:prstGeom>
          <a:solidFill>
            <a:srgbClr val="F6F8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29968"/>
            <a:ext cx="10378440" cy="3749039"/>
          </a:xfrm>
          <a:prstGeom prst="rect">
            <a:avLst/>
          </a:prstGeom>
          <a:noFill/>
        </p:spPr>
        <p:txBody>
          <a:bodyPr wrap="square" lIns="164592" rIns="164592" tIns="109728" bIns="109728">
            <a:spAutoFit/>
          </a:bodyPr>
          <a:lstStyle/>
          <a:p>
            <a:pPr>
              <a:defRPr sz="1900">
                <a:solidFill>
                  <a:srgbClr val="F5F7FA"/>
                </a:solidFill>
                <a:latin typeface="Aptos"/>
              </a:defRPr>
            </a:pPr>
            <a:r>
              <a:rPr sz="1900">
                <a:solidFill>
                  <a:srgbClr val="191919"/>
                </a:solidFill>
                <a:latin typeface="Aptos"/>
              </a:rPr>
              <a:t>A zero-day attack exploits a software or hardware vulnerability that is unknown to the affected vendor or for which no effective security fix was available when exploitation began. The term 'zero-day' refers to the defender having had zero days of prior warning or remediation opportunity. A zero-day can be particularly difficult to detect and prevent because traditional patching cannot immediately address the underlying flaw. </a:t>
            </a:r>
            <a:r>
              <a:rPr sz="1900" b="1">
                <a:solidFill>
                  <a:srgbClr val="191919"/>
                </a:solidFill>
                <a:latin typeface="Aptos"/>
              </a:rPr>
              <a:t>Attacker</a:t>
            </a:r>
            <a:r>
              <a:rPr sz="1900">
                <a:solidFill>
                  <a:srgbClr val="191919"/>
                </a:solidFill>
                <a:latin typeface="Aptos"/>
              </a:rPr>
              <a:t>s may use such vulnerabilities to gain </a:t>
            </a:r>
            <a:r>
              <a:rPr sz="1900" b="1">
                <a:solidFill>
                  <a:srgbClr val="191919"/>
                </a:solidFill>
                <a:latin typeface="Aptos"/>
              </a:rPr>
              <a:t>unauthorized</a:t>
            </a:r>
            <a:r>
              <a:rPr sz="1900">
                <a:solidFill>
                  <a:srgbClr val="191919"/>
                </a:solidFill>
                <a:latin typeface="Aptos"/>
              </a:rPr>
              <a:t> access, execute code, steal data, or disrupt </a:t>
            </a:r>
            <a:r>
              <a:rPr sz="1900" b="1">
                <a:solidFill>
                  <a:srgbClr val="191919"/>
                </a:solidFill>
                <a:latin typeface="Aptos"/>
              </a:rPr>
              <a:t>system</a:t>
            </a:r>
            <a:r>
              <a:rPr sz="1900">
                <a:solidFill>
                  <a:srgbClr val="191919"/>
                </a:solidFill>
                <a:latin typeface="Aptos"/>
              </a:rPr>
              <a:t>s. Rapid threat intelligence, behavior-based detection, segmentation, least privilege, and timely vendor patches after disclosure help reduce exposure.</a:t>
            </a:r>
          </a:p>
        </p:txBody>
      </p:sp>
      <p:sp>
        <p:nvSpPr>
          <p:cNvPr id="9" name="TextBox 8"/>
          <p:cNvSpPr txBox="1"/>
          <p:nvPr/>
        </p:nvSpPr>
        <p:spPr>
          <a:xfrm>
            <a:off x="502920" y="6473952"/>
            <a:ext cx="11155680" cy="228600"/>
          </a:xfrm>
          <a:prstGeom prst="rect">
            <a:avLst/>
          </a:prstGeom>
          <a:noFill/>
        </p:spPr>
        <p:txBody>
          <a:bodyPr wrap="none">
            <a:spAutoFit/>
          </a:bodyPr>
          <a:lstStyle/>
          <a:p>
            <a:pPr algn="r">
              <a:defRPr sz="900">
                <a:solidFill>
                  <a:srgbClr val="B7C0CC"/>
                </a:solidFill>
                <a:latin typeface="Aptos"/>
              </a:defRPr>
            </a:pPr>
            <a:r>
              <a:rPr>
                <a:solidFill>
                  <a:srgbClr val="191919"/>
                </a:solidFill>
                <a:latin typeface="Aptos"/>
              </a:rPr>
              <a:t>Cybersecurity Study Presentation • Exam-ready definitions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146304"/>
          </a:xfrm>
          <a:prstGeom prst="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640080" cy="320040"/>
          </a:xfrm>
          <a:prstGeom prst="rect">
            <a:avLst/>
          </a:prstGeom>
          <a:noFill/>
        </p:spPr>
        <p:txBody>
          <a:bodyPr wrap="none">
            <a:spAutoFit/>
          </a:bodyPr>
          <a:lstStyle/>
          <a:p>
            <a:pPr>
              <a:defRPr sz="1500" b="1">
                <a:solidFill>
                  <a:srgbClr val="FFE25C"/>
                </a:solidFill>
              </a:defRPr>
            </a:pPr>
            <a:r>
              <a:rPr>
                <a:solidFill>
                  <a:srgbClr val="191919"/>
                </a:solidFill>
                <a:latin typeface="Aptos"/>
              </a:rPr>
              <a:t>16</a:t>
            </a:r>
          </a:p>
        </p:txBody>
      </p:sp>
      <p:sp>
        <p:nvSpPr>
          <p:cNvPr id="4" name="TextBox 3"/>
          <p:cNvSpPr txBox="1"/>
          <p:nvPr/>
        </p:nvSpPr>
        <p:spPr>
          <a:xfrm>
            <a:off x="777240" y="530352"/>
            <a:ext cx="10698480" cy="658368"/>
          </a:xfrm>
          <a:prstGeom prst="rect">
            <a:avLst/>
          </a:prstGeom>
          <a:noFill/>
        </p:spPr>
        <p:txBody>
          <a:bodyPr wrap="square" lIns="73152" rIns="73152" tIns="36576" bIns="36576">
            <a:spAutoFit/>
          </a:bodyPr>
          <a:lstStyle/>
          <a:p>
            <a:pPr algn="l">
              <a:defRPr sz="2800" b="1">
                <a:solidFill>
                  <a:srgbClr val="F5F7FA"/>
                </a:solidFill>
                <a:latin typeface="Aptos"/>
              </a:defRPr>
            </a:pPr>
            <a:r>
              <a:rPr>
                <a:solidFill>
                  <a:srgbClr val="191919"/>
                </a:solidFill>
                <a:latin typeface="Aptos"/>
              </a:rPr>
              <a:t>Session Hijacking</a:t>
            </a:r>
          </a:p>
        </p:txBody>
      </p:sp>
      <p:sp>
        <p:nvSpPr>
          <p:cNvPr id="5" name="Rounded Rectangle 4"/>
          <p:cNvSpPr/>
          <p:nvPr/>
        </p:nvSpPr>
        <p:spPr>
          <a:xfrm>
            <a:off x="786384" y="1207008"/>
            <a:ext cx="1645920" cy="347472"/>
          </a:xfrm>
          <a:prstGeom prst="round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252728"/>
            <a:ext cx="1417320" cy="201168"/>
          </a:xfrm>
          <a:prstGeom prst="rect">
            <a:avLst/>
          </a:prstGeom>
          <a:noFill/>
        </p:spPr>
        <p:txBody>
          <a:bodyPr wrap="square" lIns="73152" rIns="73152" tIns="36576" bIns="36576">
            <a:spAutoFit/>
          </a:bodyPr>
          <a:lstStyle/>
          <a:p>
            <a:pPr algn="l">
              <a:defRPr sz="1000" b="1">
                <a:solidFill>
                  <a:srgbClr val="11161D"/>
                </a:solidFill>
                <a:latin typeface="Aptos"/>
              </a:defRPr>
            </a:pPr>
            <a:r>
              <a:rPr>
                <a:solidFill>
                  <a:srgbClr val="191919"/>
                </a:solidFill>
                <a:latin typeface="Aptos"/>
              </a:rPr>
              <a:t>ATTACK 16</a:t>
            </a:r>
          </a:p>
        </p:txBody>
      </p:sp>
      <p:sp>
        <p:nvSpPr>
          <p:cNvPr id="7" name="Rounded Rectangle 6"/>
          <p:cNvSpPr/>
          <p:nvPr/>
        </p:nvSpPr>
        <p:spPr>
          <a:xfrm>
            <a:off x="685800" y="1783080"/>
            <a:ext cx="10835640" cy="4297680"/>
          </a:xfrm>
          <a:prstGeom prst="roundRect">
            <a:avLst/>
          </a:prstGeom>
          <a:solidFill>
            <a:srgbClr val="F6F8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29968"/>
            <a:ext cx="10378440" cy="3749039"/>
          </a:xfrm>
          <a:prstGeom prst="rect">
            <a:avLst/>
          </a:prstGeom>
          <a:noFill/>
        </p:spPr>
        <p:txBody>
          <a:bodyPr wrap="square" lIns="164592" rIns="164592" tIns="109728" bIns="109728">
            <a:spAutoFit/>
          </a:bodyPr>
          <a:lstStyle/>
          <a:p>
            <a:pPr>
              <a:defRPr sz="1900">
                <a:solidFill>
                  <a:srgbClr val="F5F7FA"/>
                </a:solidFill>
                <a:latin typeface="Aptos"/>
              </a:defRPr>
            </a:pPr>
            <a:r>
              <a:rPr sz="1900" b="1">
                <a:solidFill>
                  <a:srgbClr val="191919"/>
                </a:solidFill>
                <a:latin typeface="Aptos"/>
              </a:rPr>
              <a:t>Session</a:t>
            </a:r>
            <a:r>
              <a:rPr sz="1900">
                <a:solidFill>
                  <a:srgbClr val="191919"/>
                </a:solidFill>
                <a:latin typeface="Aptos"/>
              </a:rPr>
              <a:t> hijacking is an attack in which an </a:t>
            </a:r>
            <a:r>
              <a:rPr sz="1900" b="1">
                <a:solidFill>
                  <a:srgbClr val="191919"/>
                </a:solidFill>
                <a:latin typeface="Aptos"/>
              </a:rPr>
              <a:t>attacker</a:t>
            </a:r>
            <a:r>
              <a:rPr sz="1900">
                <a:solidFill>
                  <a:srgbClr val="191919"/>
                </a:solidFill>
                <a:latin typeface="Aptos"/>
              </a:rPr>
              <a:t> takes control of or interferes with a user's authenticated </a:t>
            </a:r>
            <a:r>
              <a:rPr sz="1900" b="1">
                <a:solidFill>
                  <a:srgbClr val="191919"/>
                </a:solidFill>
                <a:latin typeface="Aptos"/>
              </a:rPr>
              <a:t>session</a:t>
            </a:r>
            <a:r>
              <a:rPr sz="1900">
                <a:solidFill>
                  <a:srgbClr val="191919"/>
                </a:solidFill>
                <a:latin typeface="Aptos"/>
              </a:rPr>
              <a:t> after login, often by obtaining or abusing the </a:t>
            </a:r>
            <a:r>
              <a:rPr sz="1900" b="1">
                <a:solidFill>
                  <a:srgbClr val="191919"/>
                </a:solidFill>
                <a:latin typeface="Aptos"/>
              </a:rPr>
              <a:t>session</a:t>
            </a:r>
            <a:r>
              <a:rPr sz="1900">
                <a:solidFill>
                  <a:srgbClr val="191919"/>
                </a:solidFill>
                <a:latin typeface="Aptos"/>
              </a:rPr>
              <a:t> identifier or </a:t>
            </a:r>
            <a:r>
              <a:rPr sz="1900" b="1">
                <a:solidFill>
                  <a:srgbClr val="191919"/>
                </a:solidFill>
                <a:latin typeface="Aptos"/>
              </a:rPr>
              <a:t>session</a:t>
            </a:r>
            <a:r>
              <a:rPr sz="1900">
                <a:solidFill>
                  <a:srgbClr val="191919"/>
                </a:solidFill>
                <a:latin typeface="Aptos"/>
              </a:rPr>
              <a:t> secret. A </a:t>
            </a:r>
            <a:r>
              <a:rPr sz="1900" b="1">
                <a:solidFill>
                  <a:srgbClr val="191919"/>
                </a:solidFill>
                <a:latin typeface="Aptos"/>
              </a:rPr>
              <a:t>session</a:t>
            </a:r>
            <a:r>
              <a:rPr sz="1900">
                <a:solidFill>
                  <a:srgbClr val="191919"/>
                </a:solidFill>
                <a:latin typeface="Aptos"/>
              </a:rPr>
              <a:t> allows an </a:t>
            </a:r>
            <a:r>
              <a:rPr sz="1900" b="1">
                <a:solidFill>
                  <a:srgbClr val="191919"/>
                </a:solidFill>
                <a:latin typeface="Aptos"/>
              </a:rPr>
              <a:t>application</a:t>
            </a:r>
            <a:r>
              <a:rPr sz="1900">
                <a:solidFill>
                  <a:srgbClr val="191919"/>
                </a:solidFill>
                <a:latin typeface="Aptos"/>
              </a:rPr>
              <a:t> to recognize an authenticated user without requiring </a:t>
            </a:r>
            <a:r>
              <a:rPr sz="1900" b="1">
                <a:solidFill>
                  <a:srgbClr val="191919"/>
                </a:solidFill>
                <a:latin typeface="Aptos"/>
              </a:rPr>
              <a:t>credentials</a:t>
            </a:r>
            <a:r>
              <a:rPr sz="1900">
                <a:solidFill>
                  <a:srgbClr val="191919"/>
                </a:solidFill>
                <a:latin typeface="Aptos"/>
              </a:rPr>
              <a:t> for every request. If an </a:t>
            </a:r>
            <a:r>
              <a:rPr sz="1900" b="1">
                <a:solidFill>
                  <a:srgbClr val="191919"/>
                </a:solidFill>
                <a:latin typeface="Aptos"/>
              </a:rPr>
              <a:t>attacker</a:t>
            </a:r>
            <a:r>
              <a:rPr sz="1900">
                <a:solidFill>
                  <a:srgbClr val="191919"/>
                </a:solidFill>
                <a:latin typeface="Aptos"/>
              </a:rPr>
              <a:t> obtains a valid </a:t>
            </a:r>
            <a:r>
              <a:rPr sz="1900" b="1">
                <a:solidFill>
                  <a:srgbClr val="191919"/>
                </a:solidFill>
                <a:latin typeface="Aptos"/>
              </a:rPr>
              <a:t>session</a:t>
            </a:r>
            <a:r>
              <a:rPr sz="1900">
                <a:solidFill>
                  <a:srgbClr val="191919"/>
                </a:solidFill>
                <a:latin typeface="Aptos"/>
              </a:rPr>
              <a:t> token, the </a:t>
            </a:r>
            <a:r>
              <a:rPr sz="1900" b="1">
                <a:solidFill>
                  <a:srgbClr val="191919"/>
                </a:solidFill>
                <a:latin typeface="Aptos"/>
              </a:rPr>
              <a:t>attacker</a:t>
            </a:r>
            <a:r>
              <a:rPr sz="1900">
                <a:solidFill>
                  <a:srgbClr val="191919"/>
                </a:solidFill>
                <a:latin typeface="Aptos"/>
              </a:rPr>
              <a:t> may be able to impersonate the user until the </a:t>
            </a:r>
            <a:r>
              <a:rPr sz="1900" b="1">
                <a:solidFill>
                  <a:srgbClr val="191919"/>
                </a:solidFill>
                <a:latin typeface="Aptos"/>
              </a:rPr>
              <a:t>session</a:t>
            </a:r>
            <a:r>
              <a:rPr sz="1900">
                <a:solidFill>
                  <a:srgbClr val="191919"/>
                </a:solidFill>
                <a:latin typeface="Aptos"/>
              </a:rPr>
              <a:t> expires or is invalidated. Risks can be reduced through secure cookies, HTTPS, appropriate </a:t>
            </a:r>
            <a:r>
              <a:rPr sz="1900" b="1">
                <a:solidFill>
                  <a:srgbClr val="191919"/>
                </a:solidFill>
                <a:latin typeface="Aptos"/>
              </a:rPr>
              <a:t>session</a:t>
            </a:r>
            <a:r>
              <a:rPr sz="1900">
                <a:solidFill>
                  <a:srgbClr val="191919"/>
                </a:solidFill>
                <a:latin typeface="Aptos"/>
              </a:rPr>
              <a:t> expiration, token rotation, secure </a:t>
            </a:r>
            <a:r>
              <a:rPr sz="1900" b="1">
                <a:solidFill>
                  <a:srgbClr val="191919"/>
                </a:solidFill>
                <a:latin typeface="Aptos"/>
              </a:rPr>
              <a:t>session</a:t>
            </a:r>
            <a:r>
              <a:rPr sz="1900">
                <a:solidFill>
                  <a:srgbClr val="191919"/>
                </a:solidFill>
                <a:latin typeface="Aptos"/>
              </a:rPr>
              <a:t> management, and protection against token theft.</a:t>
            </a:r>
          </a:p>
        </p:txBody>
      </p:sp>
      <p:sp>
        <p:nvSpPr>
          <p:cNvPr id="9" name="TextBox 8"/>
          <p:cNvSpPr txBox="1"/>
          <p:nvPr/>
        </p:nvSpPr>
        <p:spPr>
          <a:xfrm>
            <a:off x="502920" y="6473952"/>
            <a:ext cx="11155680" cy="228600"/>
          </a:xfrm>
          <a:prstGeom prst="rect">
            <a:avLst/>
          </a:prstGeom>
          <a:noFill/>
        </p:spPr>
        <p:txBody>
          <a:bodyPr wrap="none">
            <a:spAutoFit/>
          </a:bodyPr>
          <a:lstStyle/>
          <a:p>
            <a:pPr algn="r">
              <a:defRPr sz="900">
                <a:solidFill>
                  <a:srgbClr val="B7C0CC"/>
                </a:solidFill>
                <a:latin typeface="Aptos"/>
              </a:defRPr>
            </a:pPr>
            <a:r>
              <a:rPr>
                <a:solidFill>
                  <a:srgbClr val="191919"/>
                </a:solidFill>
                <a:latin typeface="Aptos"/>
              </a:rPr>
              <a:t>Cybersecurity Study Presentation • Exam-ready definitions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146304"/>
          </a:xfrm>
          <a:prstGeom prst="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640080" cy="320040"/>
          </a:xfrm>
          <a:prstGeom prst="rect">
            <a:avLst/>
          </a:prstGeom>
          <a:noFill/>
        </p:spPr>
        <p:txBody>
          <a:bodyPr wrap="none">
            <a:spAutoFit/>
          </a:bodyPr>
          <a:lstStyle/>
          <a:p>
            <a:pPr>
              <a:defRPr sz="1500" b="1">
                <a:solidFill>
                  <a:srgbClr val="FFE25C"/>
                </a:solidFill>
              </a:defRPr>
            </a:pPr>
            <a:r>
              <a:rPr>
                <a:solidFill>
                  <a:srgbClr val="191919"/>
                </a:solidFill>
                <a:latin typeface="Aptos"/>
              </a:rPr>
              <a:t>17</a:t>
            </a:r>
          </a:p>
        </p:txBody>
      </p:sp>
      <p:sp>
        <p:nvSpPr>
          <p:cNvPr id="4" name="TextBox 3"/>
          <p:cNvSpPr txBox="1"/>
          <p:nvPr/>
        </p:nvSpPr>
        <p:spPr>
          <a:xfrm>
            <a:off x="777240" y="530352"/>
            <a:ext cx="10698480" cy="658368"/>
          </a:xfrm>
          <a:prstGeom prst="rect">
            <a:avLst/>
          </a:prstGeom>
          <a:noFill/>
        </p:spPr>
        <p:txBody>
          <a:bodyPr wrap="square" lIns="73152" rIns="73152" tIns="36576" bIns="36576">
            <a:spAutoFit/>
          </a:bodyPr>
          <a:lstStyle/>
          <a:p>
            <a:pPr algn="l">
              <a:defRPr sz="2800" b="1">
                <a:solidFill>
                  <a:srgbClr val="F5F7FA"/>
                </a:solidFill>
                <a:latin typeface="Aptos"/>
              </a:defRPr>
            </a:pPr>
            <a:r>
              <a:rPr>
                <a:solidFill>
                  <a:srgbClr val="191919"/>
                </a:solidFill>
                <a:latin typeface="Aptos"/>
              </a:rPr>
              <a:t>DNS Spoofing</a:t>
            </a:r>
          </a:p>
        </p:txBody>
      </p:sp>
      <p:sp>
        <p:nvSpPr>
          <p:cNvPr id="5" name="Rounded Rectangle 4"/>
          <p:cNvSpPr/>
          <p:nvPr/>
        </p:nvSpPr>
        <p:spPr>
          <a:xfrm>
            <a:off x="786384" y="1207008"/>
            <a:ext cx="1645920" cy="347472"/>
          </a:xfrm>
          <a:prstGeom prst="round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252728"/>
            <a:ext cx="1417320" cy="201168"/>
          </a:xfrm>
          <a:prstGeom prst="rect">
            <a:avLst/>
          </a:prstGeom>
          <a:noFill/>
        </p:spPr>
        <p:txBody>
          <a:bodyPr wrap="square" lIns="73152" rIns="73152" tIns="36576" bIns="36576">
            <a:spAutoFit/>
          </a:bodyPr>
          <a:lstStyle/>
          <a:p>
            <a:pPr algn="l">
              <a:defRPr sz="1000" b="1">
                <a:solidFill>
                  <a:srgbClr val="11161D"/>
                </a:solidFill>
                <a:latin typeface="Aptos"/>
              </a:defRPr>
            </a:pPr>
            <a:r>
              <a:rPr>
                <a:solidFill>
                  <a:srgbClr val="191919"/>
                </a:solidFill>
                <a:latin typeface="Aptos"/>
              </a:rPr>
              <a:t>ATTACK 17</a:t>
            </a:r>
          </a:p>
        </p:txBody>
      </p:sp>
      <p:sp>
        <p:nvSpPr>
          <p:cNvPr id="7" name="Rounded Rectangle 6"/>
          <p:cNvSpPr/>
          <p:nvPr/>
        </p:nvSpPr>
        <p:spPr>
          <a:xfrm>
            <a:off x="685800" y="1783080"/>
            <a:ext cx="10835640" cy="4297680"/>
          </a:xfrm>
          <a:prstGeom prst="roundRect">
            <a:avLst/>
          </a:prstGeom>
          <a:solidFill>
            <a:srgbClr val="F6F8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29968"/>
            <a:ext cx="10378440" cy="3749039"/>
          </a:xfrm>
          <a:prstGeom prst="rect">
            <a:avLst/>
          </a:prstGeom>
          <a:noFill/>
        </p:spPr>
        <p:txBody>
          <a:bodyPr wrap="square" lIns="164592" rIns="164592" tIns="109728" bIns="109728">
            <a:spAutoFit/>
          </a:bodyPr>
          <a:lstStyle/>
          <a:p>
            <a:pPr>
              <a:defRPr sz="1900">
                <a:solidFill>
                  <a:srgbClr val="F5F7FA"/>
                </a:solidFill>
                <a:latin typeface="Aptos"/>
              </a:defRPr>
            </a:pPr>
            <a:r>
              <a:rPr sz="1900">
                <a:solidFill>
                  <a:srgbClr val="191919"/>
                </a:solidFill>
                <a:latin typeface="Aptos"/>
              </a:rPr>
              <a:t>DNS spoofing is an attack in which an </a:t>
            </a:r>
            <a:r>
              <a:rPr sz="1900" b="1">
                <a:solidFill>
                  <a:srgbClr val="191919"/>
                </a:solidFill>
                <a:latin typeface="Aptos"/>
              </a:rPr>
              <a:t>attacker</a:t>
            </a:r>
            <a:r>
              <a:rPr sz="1900">
                <a:solidFill>
                  <a:srgbClr val="191919"/>
                </a:solidFill>
                <a:latin typeface="Aptos"/>
              </a:rPr>
              <a:t> causes false Domain Name </a:t>
            </a:r>
            <a:r>
              <a:rPr sz="1900" b="1">
                <a:solidFill>
                  <a:srgbClr val="191919"/>
                </a:solidFill>
                <a:latin typeface="Aptos"/>
              </a:rPr>
              <a:t>System</a:t>
            </a:r>
            <a:r>
              <a:rPr sz="1900">
                <a:solidFill>
                  <a:srgbClr val="191919"/>
                </a:solidFill>
                <a:latin typeface="Aptos"/>
              </a:rPr>
              <a:t> information to be supplied to a </a:t>
            </a:r>
            <a:r>
              <a:rPr sz="1900" b="1">
                <a:solidFill>
                  <a:srgbClr val="191919"/>
                </a:solidFill>
                <a:latin typeface="Aptos"/>
              </a:rPr>
              <a:t>victim</a:t>
            </a:r>
            <a:r>
              <a:rPr sz="1900">
                <a:solidFill>
                  <a:srgbClr val="191919"/>
                </a:solidFill>
                <a:latin typeface="Aptos"/>
              </a:rPr>
              <a:t> or DNS resolver so that a domain name is associated with an incorrect IP address or destination. As a result, a user may believe they are connecting to a legitimate </a:t>
            </a:r>
            <a:r>
              <a:rPr sz="1900" b="1">
                <a:solidFill>
                  <a:srgbClr val="191919"/>
                </a:solidFill>
                <a:latin typeface="Aptos"/>
              </a:rPr>
              <a:t>website</a:t>
            </a:r>
            <a:r>
              <a:rPr sz="1900">
                <a:solidFill>
                  <a:srgbClr val="191919"/>
                </a:solidFill>
                <a:latin typeface="Aptos"/>
              </a:rPr>
              <a:t> while being redirected to an </a:t>
            </a:r>
            <a:r>
              <a:rPr sz="1900" b="1">
                <a:solidFill>
                  <a:srgbClr val="191919"/>
                </a:solidFill>
                <a:latin typeface="Aptos"/>
              </a:rPr>
              <a:t>attacker</a:t>
            </a:r>
            <a:r>
              <a:rPr sz="1900">
                <a:solidFill>
                  <a:srgbClr val="191919"/>
                </a:solidFill>
                <a:latin typeface="Aptos"/>
              </a:rPr>
              <a:t>-controlled </a:t>
            </a:r>
            <a:r>
              <a:rPr sz="1900" b="1">
                <a:solidFill>
                  <a:srgbClr val="191919"/>
                </a:solidFill>
                <a:latin typeface="Aptos"/>
              </a:rPr>
              <a:t>system</a:t>
            </a:r>
            <a:r>
              <a:rPr sz="1900">
                <a:solidFill>
                  <a:srgbClr val="191919"/>
                </a:solidFill>
                <a:latin typeface="Aptos"/>
              </a:rPr>
              <a:t>. The fraudulent destination may be used for phishing, credential theft, </a:t>
            </a:r>
            <a:r>
              <a:rPr sz="1900" b="1">
                <a:solidFill>
                  <a:srgbClr val="191919"/>
                </a:solidFill>
                <a:latin typeface="Aptos"/>
              </a:rPr>
              <a:t>malware</a:t>
            </a:r>
            <a:r>
              <a:rPr sz="1900">
                <a:solidFill>
                  <a:srgbClr val="191919"/>
                </a:solidFill>
                <a:latin typeface="Aptos"/>
              </a:rPr>
              <a:t> delivery, or traffic interception. DNSSEC, secure resolver configuration, protective DNS services, certificate validation, and careful </a:t>
            </a:r>
            <a:r>
              <a:rPr sz="1900" b="1">
                <a:solidFill>
                  <a:srgbClr val="191919"/>
                </a:solidFill>
                <a:latin typeface="Aptos"/>
              </a:rPr>
              <a:t>network</a:t>
            </a:r>
            <a:r>
              <a:rPr sz="1900">
                <a:solidFill>
                  <a:srgbClr val="191919"/>
                </a:solidFill>
                <a:latin typeface="Aptos"/>
              </a:rPr>
              <a:t> monitoring can help reduce the impact of DNS spoofing.</a:t>
            </a:r>
          </a:p>
        </p:txBody>
      </p:sp>
      <p:sp>
        <p:nvSpPr>
          <p:cNvPr id="9" name="TextBox 8"/>
          <p:cNvSpPr txBox="1"/>
          <p:nvPr/>
        </p:nvSpPr>
        <p:spPr>
          <a:xfrm>
            <a:off x="502920" y="6473952"/>
            <a:ext cx="11155680" cy="228600"/>
          </a:xfrm>
          <a:prstGeom prst="rect">
            <a:avLst/>
          </a:prstGeom>
          <a:noFill/>
        </p:spPr>
        <p:txBody>
          <a:bodyPr wrap="none">
            <a:spAutoFit/>
          </a:bodyPr>
          <a:lstStyle/>
          <a:p>
            <a:pPr algn="r">
              <a:defRPr sz="900">
                <a:solidFill>
                  <a:srgbClr val="B7C0CC"/>
                </a:solidFill>
                <a:latin typeface="Aptos"/>
              </a:defRPr>
            </a:pPr>
            <a:r>
              <a:rPr>
                <a:solidFill>
                  <a:srgbClr val="191919"/>
                </a:solidFill>
                <a:latin typeface="Aptos"/>
              </a:rPr>
              <a:t>Cybersecurity Study Presentation • Exam-ready definitions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146304"/>
          </a:xfrm>
          <a:prstGeom prst="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640080" cy="320040"/>
          </a:xfrm>
          <a:prstGeom prst="rect">
            <a:avLst/>
          </a:prstGeom>
          <a:noFill/>
        </p:spPr>
        <p:txBody>
          <a:bodyPr wrap="none">
            <a:spAutoFit/>
          </a:bodyPr>
          <a:lstStyle/>
          <a:p>
            <a:pPr>
              <a:defRPr sz="1500" b="1">
                <a:solidFill>
                  <a:srgbClr val="FFE25C"/>
                </a:solidFill>
              </a:defRPr>
            </a:pPr>
            <a:r>
              <a:rPr>
                <a:solidFill>
                  <a:srgbClr val="191919"/>
                </a:solidFill>
                <a:latin typeface="Aptos"/>
              </a:rPr>
              <a:t>18</a:t>
            </a:r>
          </a:p>
        </p:txBody>
      </p:sp>
      <p:sp>
        <p:nvSpPr>
          <p:cNvPr id="4" name="TextBox 3"/>
          <p:cNvSpPr txBox="1"/>
          <p:nvPr/>
        </p:nvSpPr>
        <p:spPr>
          <a:xfrm>
            <a:off x="777240" y="530352"/>
            <a:ext cx="10698480" cy="658368"/>
          </a:xfrm>
          <a:prstGeom prst="rect">
            <a:avLst/>
          </a:prstGeom>
          <a:noFill/>
        </p:spPr>
        <p:txBody>
          <a:bodyPr wrap="square" lIns="73152" rIns="73152" tIns="36576" bIns="36576">
            <a:spAutoFit/>
          </a:bodyPr>
          <a:lstStyle/>
          <a:p>
            <a:pPr algn="l">
              <a:defRPr sz="2800" b="1">
                <a:solidFill>
                  <a:srgbClr val="F5F7FA"/>
                </a:solidFill>
                <a:latin typeface="Aptos"/>
              </a:defRPr>
            </a:pPr>
            <a:r>
              <a:rPr>
                <a:solidFill>
                  <a:srgbClr val="191919"/>
                </a:solidFill>
                <a:latin typeface="Aptos"/>
              </a:rPr>
              <a:t>ARP Spoofing</a:t>
            </a:r>
          </a:p>
        </p:txBody>
      </p:sp>
      <p:sp>
        <p:nvSpPr>
          <p:cNvPr id="5" name="Rounded Rectangle 4"/>
          <p:cNvSpPr/>
          <p:nvPr/>
        </p:nvSpPr>
        <p:spPr>
          <a:xfrm>
            <a:off x="786384" y="1207008"/>
            <a:ext cx="1645920" cy="347472"/>
          </a:xfrm>
          <a:prstGeom prst="round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252728"/>
            <a:ext cx="1417320" cy="201168"/>
          </a:xfrm>
          <a:prstGeom prst="rect">
            <a:avLst/>
          </a:prstGeom>
          <a:noFill/>
        </p:spPr>
        <p:txBody>
          <a:bodyPr wrap="square" lIns="73152" rIns="73152" tIns="36576" bIns="36576">
            <a:spAutoFit/>
          </a:bodyPr>
          <a:lstStyle/>
          <a:p>
            <a:pPr algn="l">
              <a:defRPr sz="1000" b="1">
                <a:solidFill>
                  <a:srgbClr val="11161D"/>
                </a:solidFill>
                <a:latin typeface="Aptos"/>
              </a:defRPr>
            </a:pPr>
            <a:r>
              <a:rPr>
                <a:solidFill>
                  <a:srgbClr val="191919"/>
                </a:solidFill>
                <a:latin typeface="Aptos"/>
              </a:rPr>
              <a:t>ATTACK 18</a:t>
            </a:r>
          </a:p>
        </p:txBody>
      </p:sp>
      <p:sp>
        <p:nvSpPr>
          <p:cNvPr id="7" name="Rounded Rectangle 6"/>
          <p:cNvSpPr/>
          <p:nvPr/>
        </p:nvSpPr>
        <p:spPr>
          <a:xfrm>
            <a:off x="685800" y="1783080"/>
            <a:ext cx="10835640" cy="4297680"/>
          </a:xfrm>
          <a:prstGeom prst="roundRect">
            <a:avLst/>
          </a:prstGeom>
          <a:solidFill>
            <a:srgbClr val="F6F8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29968"/>
            <a:ext cx="10378440" cy="3749039"/>
          </a:xfrm>
          <a:prstGeom prst="rect">
            <a:avLst/>
          </a:prstGeom>
          <a:noFill/>
        </p:spPr>
        <p:txBody>
          <a:bodyPr wrap="square" lIns="164592" rIns="164592" tIns="109728" bIns="109728">
            <a:spAutoFit/>
          </a:bodyPr>
          <a:lstStyle/>
          <a:p>
            <a:pPr>
              <a:defRPr sz="1900">
                <a:solidFill>
                  <a:srgbClr val="F5F7FA"/>
                </a:solidFill>
                <a:latin typeface="Aptos"/>
              </a:defRPr>
            </a:pPr>
            <a:r>
              <a:rPr sz="1900">
                <a:solidFill>
                  <a:srgbClr val="191919"/>
                </a:solidFill>
                <a:latin typeface="Aptos"/>
              </a:rPr>
              <a:t>ARP spoofing is a local-</a:t>
            </a:r>
            <a:r>
              <a:rPr sz="1900" b="1">
                <a:solidFill>
                  <a:srgbClr val="191919"/>
                </a:solidFill>
                <a:latin typeface="Aptos"/>
              </a:rPr>
              <a:t>network</a:t>
            </a:r>
            <a:r>
              <a:rPr sz="1900">
                <a:solidFill>
                  <a:srgbClr val="191919"/>
                </a:solidFill>
                <a:latin typeface="Aptos"/>
              </a:rPr>
              <a:t> attack in which an </a:t>
            </a:r>
            <a:r>
              <a:rPr sz="1900" b="1">
                <a:solidFill>
                  <a:srgbClr val="191919"/>
                </a:solidFill>
                <a:latin typeface="Aptos"/>
              </a:rPr>
              <a:t>attacker</a:t>
            </a:r>
            <a:r>
              <a:rPr sz="1900">
                <a:solidFill>
                  <a:srgbClr val="191919"/>
                </a:solidFill>
                <a:latin typeface="Aptos"/>
              </a:rPr>
              <a:t> sends forged Address Resolution Protocol (ARP) messages to associate the </a:t>
            </a:r>
            <a:r>
              <a:rPr sz="1900" b="1">
                <a:solidFill>
                  <a:srgbClr val="191919"/>
                </a:solidFill>
                <a:latin typeface="Aptos"/>
              </a:rPr>
              <a:t>attacker</a:t>
            </a:r>
            <a:r>
              <a:rPr sz="1900">
                <a:solidFill>
                  <a:srgbClr val="191919"/>
                </a:solidFill>
                <a:latin typeface="Aptos"/>
              </a:rPr>
              <a:t>'s MAC address with another device's IP address, such as the default gateway. Devices on the local </a:t>
            </a:r>
            <a:r>
              <a:rPr sz="1900" b="1">
                <a:solidFill>
                  <a:srgbClr val="191919"/>
                </a:solidFill>
                <a:latin typeface="Aptos"/>
              </a:rPr>
              <a:t>network</a:t>
            </a:r>
            <a:r>
              <a:rPr sz="1900">
                <a:solidFill>
                  <a:srgbClr val="191919"/>
                </a:solidFill>
                <a:latin typeface="Aptos"/>
              </a:rPr>
              <a:t> may then send traffic to the </a:t>
            </a:r>
            <a:r>
              <a:rPr sz="1900" b="1">
                <a:solidFill>
                  <a:srgbClr val="191919"/>
                </a:solidFill>
                <a:latin typeface="Aptos"/>
              </a:rPr>
              <a:t>attacker</a:t>
            </a:r>
            <a:r>
              <a:rPr sz="1900">
                <a:solidFill>
                  <a:srgbClr val="191919"/>
                </a:solidFill>
                <a:latin typeface="Aptos"/>
              </a:rPr>
              <a:t> instead of the intended destination. This can allow traffic interception, modification, or disruption and may support a man-in-the-middle attack. ARP spoofing is mainly relevant to local or shared </a:t>
            </a:r>
            <a:r>
              <a:rPr sz="1900" b="1">
                <a:solidFill>
                  <a:srgbClr val="191919"/>
                </a:solidFill>
                <a:latin typeface="Aptos"/>
              </a:rPr>
              <a:t>network</a:t>
            </a:r>
            <a:r>
              <a:rPr sz="1900">
                <a:solidFill>
                  <a:srgbClr val="191919"/>
                </a:solidFill>
                <a:latin typeface="Aptos"/>
              </a:rPr>
              <a:t> environments. </a:t>
            </a:r>
            <a:r>
              <a:rPr sz="1900" b="1">
                <a:solidFill>
                  <a:srgbClr val="191919"/>
                </a:solidFill>
                <a:latin typeface="Aptos"/>
              </a:rPr>
              <a:t>Network</a:t>
            </a:r>
            <a:r>
              <a:rPr sz="1900">
                <a:solidFill>
                  <a:srgbClr val="191919"/>
                </a:solidFill>
                <a:latin typeface="Aptos"/>
              </a:rPr>
              <a:t> segmentation, secure switching features, static or protected ARP configurations, </a:t>
            </a:r>
            <a:r>
              <a:rPr sz="1900" b="1">
                <a:solidFill>
                  <a:srgbClr val="191919"/>
                </a:solidFill>
                <a:latin typeface="Aptos"/>
              </a:rPr>
              <a:t>encryption</a:t>
            </a:r>
            <a:r>
              <a:rPr sz="1900">
                <a:solidFill>
                  <a:srgbClr val="191919"/>
                </a:solidFill>
                <a:latin typeface="Aptos"/>
              </a:rPr>
              <a:t>, and monitoring can reduce the risk.</a:t>
            </a:r>
          </a:p>
        </p:txBody>
      </p:sp>
      <p:sp>
        <p:nvSpPr>
          <p:cNvPr id="9" name="TextBox 8"/>
          <p:cNvSpPr txBox="1"/>
          <p:nvPr/>
        </p:nvSpPr>
        <p:spPr>
          <a:xfrm>
            <a:off x="502920" y="6473952"/>
            <a:ext cx="11155680" cy="228600"/>
          </a:xfrm>
          <a:prstGeom prst="rect">
            <a:avLst/>
          </a:prstGeom>
          <a:noFill/>
        </p:spPr>
        <p:txBody>
          <a:bodyPr wrap="none">
            <a:spAutoFit/>
          </a:bodyPr>
          <a:lstStyle/>
          <a:p>
            <a:pPr algn="r">
              <a:defRPr sz="900">
                <a:solidFill>
                  <a:srgbClr val="B7C0CC"/>
                </a:solidFill>
                <a:latin typeface="Aptos"/>
              </a:defRPr>
            </a:pPr>
            <a:r>
              <a:rPr>
                <a:solidFill>
                  <a:srgbClr val="191919"/>
                </a:solidFill>
                <a:latin typeface="Aptos"/>
              </a:rPr>
              <a:t>Cybersecurity Study Presentation • Exam-ready definitions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146304"/>
          </a:xfrm>
          <a:prstGeom prst="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640080" cy="320040"/>
          </a:xfrm>
          <a:prstGeom prst="rect">
            <a:avLst/>
          </a:prstGeom>
          <a:noFill/>
        </p:spPr>
        <p:txBody>
          <a:bodyPr wrap="none">
            <a:spAutoFit/>
          </a:bodyPr>
          <a:lstStyle/>
          <a:p>
            <a:pPr>
              <a:defRPr sz="1500" b="1">
                <a:solidFill>
                  <a:srgbClr val="FFE25C"/>
                </a:solidFill>
              </a:defRPr>
            </a:pPr>
            <a:r>
              <a:rPr>
                <a:solidFill>
                  <a:srgbClr val="191919"/>
                </a:solidFill>
                <a:latin typeface="Aptos"/>
              </a:rPr>
              <a:t>19</a:t>
            </a:r>
          </a:p>
        </p:txBody>
      </p:sp>
      <p:sp>
        <p:nvSpPr>
          <p:cNvPr id="4" name="TextBox 3"/>
          <p:cNvSpPr txBox="1"/>
          <p:nvPr/>
        </p:nvSpPr>
        <p:spPr>
          <a:xfrm>
            <a:off x="777240" y="530352"/>
            <a:ext cx="10698480" cy="658368"/>
          </a:xfrm>
          <a:prstGeom prst="rect">
            <a:avLst/>
          </a:prstGeom>
          <a:noFill/>
        </p:spPr>
        <p:txBody>
          <a:bodyPr wrap="square" lIns="73152" rIns="73152" tIns="36576" bIns="36576">
            <a:spAutoFit/>
          </a:bodyPr>
          <a:lstStyle/>
          <a:p>
            <a:pPr algn="l">
              <a:defRPr sz="2800" b="1">
                <a:solidFill>
                  <a:srgbClr val="F5F7FA"/>
                </a:solidFill>
                <a:latin typeface="Aptos"/>
              </a:defRPr>
            </a:pPr>
            <a:r>
              <a:rPr>
                <a:solidFill>
                  <a:srgbClr val="191919"/>
                </a:solidFill>
                <a:latin typeface="Aptos"/>
              </a:rPr>
              <a:t>Command Injection</a:t>
            </a:r>
          </a:p>
        </p:txBody>
      </p:sp>
      <p:sp>
        <p:nvSpPr>
          <p:cNvPr id="5" name="Rounded Rectangle 4"/>
          <p:cNvSpPr/>
          <p:nvPr/>
        </p:nvSpPr>
        <p:spPr>
          <a:xfrm>
            <a:off x="786384" y="1207008"/>
            <a:ext cx="1645920" cy="347472"/>
          </a:xfrm>
          <a:prstGeom prst="round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252728"/>
            <a:ext cx="1417320" cy="201168"/>
          </a:xfrm>
          <a:prstGeom prst="rect">
            <a:avLst/>
          </a:prstGeom>
          <a:noFill/>
        </p:spPr>
        <p:txBody>
          <a:bodyPr wrap="square" lIns="73152" rIns="73152" tIns="36576" bIns="36576">
            <a:spAutoFit/>
          </a:bodyPr>
          <a:lstStyle/>
          <a:p>
            <a:pPr algn="l">
              <a:defRPr sz="1000" b="1">
                <a:solidFill>
                  <a:srgbClr val="11161D"/>
                </a:solidFill>
                <a:latin typeface="Aptos"/>
              </a:defRPr>
            </a:pPr>
            <a:r>
              <a:rPr>
                <a:solidFill>
                  <a:srgbClr val="191919"/>
                </a:solidFill>
                <a:latin typeface="Aptos"/>
              </a:rPr>
              <a:t>ATTACK 19</a:t>
            </a:r>
          </a:p>
        </p:txBody>
      </p:sp>
      <p:sp>
        <p:nvSpPr>
          <p:cNvPr id="7" name="Rounded Rectangle 6"/>
          <p:cNvSpPr/>
          <p:nvPr/>
        </p:nvSpPr>
        <p:spPr>
          <a:xfrm>
            <a:off x="685800" y="1783080"/>
            <a:ext cx="10835640" cy="4297680"/>
          </a:xfrm>
          <a:prstGeom prst="roundRect">
            <a:avLst/>
          </a:prstGeom>
          <a:solidFill>
            <a:srgbClr val="F6F8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29968"/>
            <a:ext cx="10378440" cy="3749039"/>
          </a:xfrm>
          <a:prstGeom prst="rect">
            <a:avLst/>
          </a:prstGeom>
          <a:noFill/>
        </p:spPr>
        <p:txBody>
          <a:bodyPr wrap="square" lIns="164592" rIns="164592" tIns="109728" bIns="109728">
            <a:spAutoFit/>
          </a:bodyPr>
          <a:lstStyle/>
          <a:p>
            <a:pPr>
              <a:defRPr sz="1900">
                <a:solidFill>
                  <a:srgbClr val="F5F7FA"/>
                </a:solidFill>
                <a:latin typeface="Aptos"/>
              </a:defRPr>
            </a:pPr>
            <a:r>
              <a:rPr sz="1900">
                <a:solidFill>
                  <a:srgbClr val="191919"/>
                </a:solidFill>
                <a:latin typeface="Aptos"/>
              </a:rPr>
              <a:t>Command injection is an attack in which an </a:t>
            </a:r>
            <a:r>
              <a:rPr sz="1900" b="1">
                <a:solidFill>
                  <a:srgbClr val="191919"/>
                </a:solidFill>
                <a:latin typeface="Aptos"/>
              </a:rPr>
              <a:t>attacker</a:t>
            </a:r>
            <a:r>
              <a:rPr sz="1900">
                <a:solidFill>
                  <a:srgbClr val="191919"/>
                </a:solidFill>
                <a:latin typeface="Aptos"/>
              </a:rPr>
              <a:t> causes an </a:t>
            </a:r>
            <a:r>
              <a:rPr sz="1900" b="1">
                <a:solidFill>
                  <a:srgbClr val="191919"/>
                </a:solidFill>
                <a:latin typeface="Aptos"/>
              </a:rPr>
              <a:t>application</a:t>
            </a:r>
            <a:r>
              <a:rPr sz="1900">
                <a:solidFill>
                  <a:srgbClr val="191919"/>
                </a:solidFill>
                <a:latin typeface="Aptos"/>
              </a:rPr>
              <a:t> to execute unintended operating-</a:t>
            </a:r>
            <a:r>
              <a:rPr sz="1900" b="1">
                <a:solidFill>
                  <a:srgbClr val="191919"/>
                </a:solidFill>
                <a:latin typeface="Aptos"/>
              </a:rPr>
              <a:t>system</a:t>
            </a:r>
            <a:r>
              <a:rPr sz="1900">
                <a:solidFill>
                  <a:srgbClr val="191919"/>
                </a:solidFill>
                <a:latin typeface="Aptos"/>
              </a:rPr>
              <a:t> commands by supplying specially crafted input to a function that invokes a command interpreter or </a:t>
            </a:r>
            <a:r>
              <a:rPr sz="1900" b="1">
                <a:solidFill>
                  <a:srgbClr val="191919"/>
                </a:solidFill>
                <a:latin typeface="Aptos"/>
              </a:rPr>
              <a:t>system</a:t>
            </a:r>
            <a:r>
              <a:rPr sz="1900">
                <a:solidFill>
                  <a:srgbClr val="191919"/>
                </a:solidFill>
                <a:latin typeface="Aptos"/>
              </a:rPr>
              <a:t> utility. The vulnerability usually occurs when </a:t>
            </a:r>
            <a:r>
              <a:rPr sz="1900" b="1">
                <a:solidFill>
                  <a:srgbClr val="191919"/>
                </a:solidFill>
                <a:latin typeface="Aptos"/>
              </a:rPr>
              <a:t>untrusted input</a:t>
            </a:r>
            <a:r>
              <a:rPr sz="1900">
                <a:solidFill>
                  <a:srgbClr val="191919"/>
                </a:solidFill>
                <a:latin typeface="Aptos"/>
              </a:rPr>
              <a:t> is concatenated into a </a:t>
            </a:r>
            <a:r>
              <a:rPr sz="1900" b="1">
                <a:solidFill>
                  <a:srgbClr val="191919"/>
                </a:solidFill>
                <a:latin typeface="Aptos"/>
              </a:rPr>
              <a:t>system</a:t>
            </a:r>
            <a:r>
              <a:rPr sz="1900">
                <a:solidFill>
                  <a:srgbClr val="191919"/>
                </a:solidFill>
                <a:latin typeface="Aptos"/>
              </a:rPr>
              <a:t> command without safe separation between data and commands. If successful, the </a:t>
            </a:r>
            <a:r>
              <a:rPr sz="1900" b="1">
                <a:solidFill>
                  <a:srgbClr val="191919"/>
                </a:solidFill>
                <a:latin typeface="Aptos"/>
              </a:rPr>
              <a:t>attacker</a:t>
            </a:r>
            <a:r>
              <a:rPr sz="1900">
                <a:solidFill>
                  <a:srgbClr val="191919"/>
                </a:solidFill>
                <a:latin typeface="Aptos"/>
              </a:rPr>
              <a:t> may execute actions with the privileges of the vulnerable </a:t>
            </a:r>
            <a:r>
              <a:rPr sz="1900" b="1">
                <a:solidFill>
                  <a:srgbClr val="191919"/>
                </a:solidFill>
                <a:latin typeface="Aptos"/>
              </a:rPr>
              <a:t>application</a:t>
            </a:r>
            <a:r>
              <a:rPr sz="1900">
                <a:solidFill>
                  <a:srgbClr val="191919"/>
                </a:solidFill>
                <a:latin typeface="Aptos"/>
              </a:rPr>
              <a:t>, potentially reading files, changing </a:t>
            </a:r>
            <a:r>
              <a:rPr sz="1900" b="1">
                <a:solidFill>
                  <a:srgbClr val="191919"/>
                </a:solidFill>
                <a:latin typeface="Aptos"/>
              </a:rPr>
              <a:t>system</a:t>
            </a:r>
            <a:r>
              <a:rPr sz="1900">
                <a:solidFill>
                  <a:srgbClr val="191919"/>
                </a:solidFill>
                <a:latin typeface="Aptos"/>
              </a:rPr>
              <a:t> settings, or affecting other resources. Avoiding shell interpretation, using safe APIs, strict allow-list validation, and least privilege are key defenses.</a:t>
            </a:r>
          </a:p>
        </p:txBody>
      </p:sp>
      <p:sp>
        <p:nvSpPr>
          <p:cNvPr id="9" name="TextBox 8"/>
          <p:cNvSpPr txBox="1"/>
          <p:nvPr/>
        </p:nvSpPr>
        <p:spPr>
          <a:xfrm>
            <a:off x="502920" y="6473952"/>
            <a:ext cx="11155680" cy="228600"/>
          </a:xfrm>
          <a:prstGeom prst="rect">
            <a:avLst/>
          </a:prstGeom>
          <a:noFill/>
        </p:spPr>
        <p:txBody>
          <a:bodyPr wrap="none">
            <a:spAutoFit/>
          </a:bodyPr>
          <a:lstStyle/>
          <a:p>
            <a:pPr algn="r">
              <a:defRPr sz="900">
                <a:solidFill>
                  <a:srgbClr val="B7C0CC"/>
                </a:solidFill>
                <a:latin typeface="Aptos"/>
              </a:defRPr>
            </a:pPr>
            <a:r>
              <a:rPr>
                <a:solidFill>
                  <a:srgbClr val="191919"/>
                </a:solidFill>
                <a:latin typeface="Aptos"/>
              </a:rPr>
              <a:t>Cybersecurity Study Presentation • Exam-ready definitions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146304"/>
          </a:xfrm>
          <a:prstGeom prst="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640080" cy="320040"/>
          </a:xfrm>
          <a:prstGeom prst="rect">
            <a:avLst/>
          </a:prstGeom>
          <a:noFill/>
        </p:spPr>
        <p:txBody>
          <a:bodyPr wrap="none">
            <a:spAutoFit/>
          </a:bodyPr>
          <a:lstStyle/>
          <a:p>
            <a:pPr>
              <a:defRPr sz="1500" b="1">
                <a:solidFill>
                  <a:srgbClr val="FFE25C"/>
                </a:solidFill>
              </a:defRPr>
            </a:pPr>
            <a:r>
              <a:rPr>
                <a:solidFill>
                  <a:srgbClr val="191919"/>
                </a:solidFill>
                <a:latin typeface="Aptos"/>
              </a:rPr>
              <a:t>20</a:t>
            </a:r>
          </a:p>
        </p:txBody>
      </p:sp>
      <p:sp>
        <p:nvSpPr>
          <p:cNvPr id="4" name="TextBox 3"/>
          <p:cNvSpPr txBox="1"/>
          <p:nvPr/>
        </p:nvSpPr>
        <p:spPr>
          <a:xfrm>
            <a:off x="777240" y="530352"/>
            <a:ext cx="10698480" cy="658368"/>
          </a:xfrm>
          <a:prstGeom prst="rect">
            <a:avLst/>
          </a:prstGeom>
          <a:noFill/>
        </p:spPr>
        <p:txBody>
          <a:bodyPr wrap="square" lIns="73152" rIns="73152" tIns="36576" bIns="36576">
            <a:spAutoFit/>
          </a:bodyPr>
          <a:lstStyle/>
          <a:p>
            <a:pPr algn="l">
              <a:defRPr sz="2800" b="1">
                <a:solidFill>
                  <a:srgbClr val="F5F7FA"/>
                </a:solidFill>
                <a:latin typeface="Aptos"/>
              </a:defRPr>
            </a:pPr>
            <a:r>
              <a:rPr>
                <a:solidFill>
                  <a:srgbClr val="191919"/>
                </a:solidFill>
                <a:latin typeface="Aptos"/>
              </a:rPr>
              <a:t>Buffer Overflow Attack</a:t>
            </a:r>
          </a:p>
        </p:txBody>
      </p:sp>
      <p:sp>
        <p:nvSpPr>
          <p:cNvPr id="5" name="Rounded Rectangle 4"/>
          <p:cNvSpPr/>
          <p:nvPr/>
        </p:nvSpPr>
        <p:spPr>
          <a:xfrm>
            <a:off x="786384" y="1207008"/>
            <a:ext cx="1645920" cy="347472"/>
          </a:xfrm>
          <a:prstGeom prst="round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252728"/>
            <a:ext cx="1417320" cy="201168"/>
          </a:xfrm>
          <a:prstGeom prst="rect">
            <a:avLst/>
          </a:prstGeom>
          <a:noFill/>
        </p:spPr>
        <p:txBody>
          <a:bodyPr wrap="square" lIns="73152" rIns="73152" tIns="36576" bIns="36576">
            <a:spAutoFit/>
          </a:bodyPr>
          <a:lstStyle/>
          <a:p>
            <a:pPr algn="l">
              <a:defRPr sz="1000" b="1">
                <a:solidFill>
                  <a:srgbClr val="11161D"/>
                </a:solidFill>
                <a:latin typeface="Aptos"/>
              </a:defRPr>
            </a:pPr>
            <a:r>
              <a:rPr>
                <a:solidFill>
                  <a:srgbClr val="191919"/>
                </a:solidFill>
                <a:latin typeface="Aptos"/>
              </a:rPr>
              <a:t>ATTACK 20</a:t>
            </a:r>
          </a:p>
        </p:txBody>
      </p:sp>
      <p:sp>
        <p:nvSpPr>
          <p:cNvPr id="7" name="Rounded Rectangle 6"/>
          <p:cNvSpPr/>
          <p:nvPr/>
        </p:nvSpPr>
        <p:spPr>
          <a:xfrm>
            <a:off x="685800" y="1783080"/>
            <a:ext cx="10835640" cy="4297680"/>
          </a:xfrm>
          <a:prstGeom prst="roundRect">
            <a:avLst/>
          </a:prstGeom>
          <a:solidFill>
            <a:srgbClr val="F6F8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29968"/>
            <a:ext cx="10378440" cy="3749039"/>
          </a:xfrm>
          <a:prstGeom prst="rect">
            <a:avLst/>
          </a:prstGeom>
          <a:noFill/>
        </p:spPr>
        <p:txBody>
          <a:bodyPr wrap="square" lIns="164592" rIns="164592" tIns="109728" bIns="109728">
            <a:spAutoFit/>
          </a:bodyPr>
          <a:lstStyle/>
          <a:p>
            <a:pPr>
              <a:defRPr sz="1900">
                <a:solidFill>
                  <a:srgbClr val="F5F7FA"/>
                </a:solidFill>
                <a:latin typeface="Aptos"/>
              </a:defRPr>
            </a:pPr>
            <a:r>
              <a:rPr sz="1900">
                <a:solidFill>
                  <a:srgbClr val="191919"/>
                </a:solidFill>
                <a:latin typeface="Aptos"/>
              </a:rPr>
              <a:t>A buffer overflow attack occurs when a program writes more data into a fixed-size memory buffer than the buffer can safely hold, causing data to overwrite adjacent memory. The overwritten memory may contain control information, program data, or other important values. Depending on the programming language, architecture, and security protections, an </a:t>
            </a:r>
            <a:r>
              <a:rPr sz="1900" b="1">
                <a:solidFill>
                  <a:srgbClr val="191919"/>
                </a:solidFill>
                <a:latin typeface="Aptos"/>
              </a:rPr>
              <a:t>attacker</a:t>
            </a:r>
            <a:r>
              <a:rPr sz="1900">
                <a:solidFill>
                  <a:srgbClr val="191919"/>
                </a:solidFill>
                <a:latin typeface="Aptos"/>
              </a:rPr>
              <a:t> may cause a crash, alter program behavior, or potentially achieve </a:t>
            </a:r>
            <a:r>
              <a:rPr sz="1900" b="1">
                <a:solidFill>
                  <a:srgbClr val="191919"/>
                </a:solidFill>
                <a:latin typeface="Aptos"/>
              </a:rPr>
              <a:t>unauthorized</a:t>
            </a:r>
            <a:r>
              <a:rPr sz="1900">
                <a:solidFill>
                  <a:srgbClr val="191919"/>
                </a:solidFill>
                <a:latin typeface="Aptos"/>
              </a:rPr>
              <a:t> code execution. Secure memory handling, bounds checking, memory-safe programming languages, compiler protections, address-space layout randomization, and non-executable memory are important defensive measures.</a:t>
            </a:r>
          </a:p>
        </p:txBody>
      </p:sp>
      <p:sp>
        <p:nvSpPr>
          <p:cNvPr id="9" name="TextBox 8"/>
          <p:cNvSpPr txBox="1"/>
          <p:nvPr/>
        </p:nvSpPr>
        <p:spPr>
          <a:xfrm>
            <a:off x="502920" y="6473952"/>
            <a:ext cx="11155680" cy="228600"/>
          </a:xfrm>
          <a:prstGeom prst="rect">
            <a:avLst/>
          </a:prstGeom>
          <a:noFill/>
        </p:spPr>
        <p:txBody>
          <a:bodyPr wrap="none">
            <a:spAutoFit/>
          </a:bodyPr>
          <a:lstStyle/>
          <a:p>
            <a:pPr algn="r">
              <a:defRPr sz="900">
                <a:solidFill>
                  <a:srgbClr val="B7C0CC"/>
                </a:solidFill>
                <a:latin typeface="Aptos"/>
              </a:defRPr>
            </a:pPr>
            <a:r>
              <a:rPr>
                <a:solidFill>
                  <a:srgbClr val="191919"/>
                </a:solidFill>
                <a:latin typeface="Aptos"/>
              </a:rPr>
              <a:t>Cybersecurity Study Presentation • Exam-ready definitions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146304"/>
          </a:xfrm>
          <a:prstGeom prst="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640080" cy="320040"/>
          </a:xfrm>
          <a:prstGeom prst="rect">
            <a:avLst/>
          </a:prstGeom>
          <a:noFill/>
        </p:spPr>
        <p:txBody>
          <a:bodyPr wrap="none">
            <a:spAutoFit/>
          </a:bodyPr>
          <a:lstStyle/>
          <a:p>
            <a:pPr>
              <a:defRPr sz="1500" b="1">
                <a:solidFill>
                  <a:srgbClr val="FFE25C"/>
                </a:solidFill>
              </a:defRPr>
            </a:pPr>
            <a:r>
              <a:rPr>
                <a:solidFill>
                  <a:srgbClr val="191919"/>
                </a:solidFill>
                <a:latin typeface="Aptos"/>
              </a:rPr>
              <a:t>21</a:t>
            </a:r>
          </a:p>
        </p:txBody>
      </p:sp>
      <p:sp>
        <p:nvSpPr>
          <p:cNvPr id="4" name="TextBox 3"/>
          <p:cNvSpPr txBox="1"/>
          <p:nvPr/>
        </p:nvSpPr>
        <p:spPr>
          <a:xfrm>
            <a:off x="777240" y="530352"/>
            <a:ext cx="10698480" cy="658368"/>
          </a:xfrm>
          <a:prstGeom prst="rect">
            <a:avLst/>
          </a:prstGeom>
          <a:noFill/>
        </p:spPr>
        <p:txBody>
          <a:bodyPr wrap="square" lIns="73152" rIns="73152" tIns="36576" bIns="36576">
            <a:spAutoFit/>
          </a:bodyPr>
          <a:lstStyle/>
          <a:p>
            <a:pPr algn="l">
              <a:defRPr sz="2800" b="1">
                <a:solidFill>
                  <a:srgbClr val="F5F7FA"/>
                </a:solidFill>
                <a:latin typeface="Aptos"/>
              </a:defRPr>
            </a:pPr>
            <a:r>
              <a:rPr>
                <a:solidFill>
                  <a:srgbClr val="191919"/>
                </a:solidFill>
                <a:latin typeface="Aptos"/>
              </a:rPr>
              <a:t>Supply Chain Attack</a:t>
            </a:r>
          </a:p>
        </p:txBody>
      </p:sp>
      <p:sp>
        <p:nvSpPr>
          <p:cNvPr id="5" name="Rounded Rectangle 4"/>
          <p:cNvSpPr/>
          <p:nvPr/>
        </p:nvSpPr>
        <p:spPr>
          <a:xfrm>
            <a:off x="786384" y="1207008"/>
            <a:ext cx="1645920" cy="347472"/>
          </a:xfrm>
          <a:prstGeom prst="round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252728"/>
            <a:ext cx="1417320" cy="201168"/>
          </a:xfrm>
          <a:prstGeom prst="rect">
            <a:avLst/>
          </a:prstGeom>
          <a:noFill/>
        </p:spPr>
        <p:txBody>
          <a:bodyPr wrap="square" lIns="73152" rIns="73152" tIns="36576" bIns="36576">
            <a:spAutoFit/>
          </a:bodyPr>
          <a:lstStyle/>
          <a:p>
            <a:pPr algn="l">
              <a:defRPr sz="1000" b="1">
                <a:solidFill>
                  <a:srgbClr val="11161D"/>
                </a:solidFill>
                <a:latin typeface="Aptos"/>
              </a:defRPr>
            </a:pPr>
            <a:r>
              <a:rPr>
                <a:solidFill>
                  <a:srgbClr val="191919"/>
                </a:solidFill>
                <a:latin typeface="Aptos"/>
              </a:rPr>
              <a:t>ATTACK 21</a:t>
            </a:r>
          </a:p>
        </p:txBody>
      </p:sp>
      <p:sp>
        <p:nvSpPr>
          <p:cNvPr id="7" name="Rounded Rectangle 6"/>
          <p:cNvSpPr/>
          <p:nvPr/>
        </p:nvSpPr>
        <p:spPr>
          <a:xfrm>
            <a:off x="685800" y="1783080"/>
            <a:ext cx="10835640" cy="4297680"/>
          </a:xfrm>
          <a:prstGeom prst="roundRect">
            <a:avLst/>
          </a:prstGeom>
          <a:solidFill>
            <a:srgbClr val="F6F8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29968"/>
            <a:ext cx="10378440" cy="3749039"/>
          </a:xfrm>
          <a:prstGeom prst="rect">
            <a:avLst/>
          </a:prstGeom>
          <a:noFill/>
        </p:spPr>
        <p:txBody>
          <a:bodyPr wrap="square" lIns="164592" rIns="164592" tIns="109728" bIns="109728">
            <a:spAutoFit/>
          </a:bodyPr>
          <a:lstStyle/>
          <a:p>
            <a:pPr>
              <a:defRPr sz="1900">
                <a:solidFill>
                  <a:srgbClr val="F5F7FA"/>
                </a:solidFill>
                <a:latin typeface="Aptos"/>
              </a:defRPr>
            </a:pPr>
            <a:r>
              <a:rPr sz="1900">
                <a:solidFill>
                  <a:srgbClr val="191919"/>
                </a:solidFill>
                <a:latin typeface="Aptos"/>
              </a:rPr>
              <a:t>A supply chain attack targets the relationships, software, hardware, services, vendors, dependencies, or update mechanisms that an organization trusts rather than attacking the final target directly. An </a:t>
            </a:r>
            <a:r>
              <a:rPr sz="1900" b="1">
                <a:solidFill>
                  <a:srgbClr val="191919"/>
                </a:solidFill>
                <a:latin typeface="Aptos"/>
              </a:rPr>
              <a:t>attacker</a:t>
            </a:r>
            <a:r>
              <a:rPr sz="1900">
                <a:solidFill>
                  <a:srgbClr val="191919"/>
                </a:solidFill>
                <a:latin typeface="Aptos"/>
              </a:rPr>
              <a:t> may compromise a supplier, developer environment, software dependency, build </a:t>
            </a:r>
            <a:r>
              <a:rPr sz="1900" b="1">
                <a:solidFill>
                  <a:srgbClr val="191919"/>
                </a:solidFill>
                <a:latin typeface="Aptos"/>
              </a:rPr>
              <a:t>system</a:t>
            </a:r>
            <a:r>
              <a:rPr sz="1900">
                <a:solidFill>
                  <a:srgbClr val="191919"/>
                </a:solidFill>
                <a:latin typeface="Aptos"/>
              </a:rPr>
              <a:t>, distribution channel, or service provider and use that trusted position to reach downstream </a:t>
            </a:r>
            <a:r>
              <a:rPr sz="1900" b="1">
                <a:solidFill>
                  <a:srgbClr val="191919"/>
                </a:solidFill>
                <a:latin typeface="Aptos"/>
              </a:rPr>
              <a:t>victim</a:t>
            </a:r>
            <a:r>
              <a:rPr sz="1900">
                <a:solidFill>
                  <a:srgbClr val="191919"/>
                </a:solidFill>
                <a:latin typeface="Aptos"/>
              </a:rPr>
              <a:t>s. Because the </a:t>
            </a:r>
            <a:r>
              <a:rPr sz="1900" b="1">
                <a:solidFill>
                  <a:srgbClr val="191919"/>
                </a:solidFill>
                <a:latin typeface="Aptos"/>
              </a:rPr>
              <a:t>malicious</a:t>
            </a:r>
            <a:r>
              <a:rPr sz="1900">
                <a:solidFill>
                  <a:srgbClr val="191919"/>
                </a:solidFill>
                <a:latin typeface="Aptos"/>
              </a:rPr>
              <a:t> component may arrive through a legitimate channel, detection can be difficult. Software bill of materials, vendor assessment, signed updates, dependency management, build security, access controls, monitoring, and verification of third-party components help reduce supply-chain risk.</a:t>
            </a:r>
          </a:p>
        </p:txBody>
      </p:sp>
      <p:sp>
        <p:nvSpPr>
          <p:cNvPr id="9" name="TextBox 8"/>
          <p:cNvSpPr txBox="1"/>
          <p:nvPr/>
        </p:nvSpPr>
        <p:spPr>
          <a:xfrm>
            <a:off x="502920" y="6473952"/>
            <a:ext cx="11155680" cy="228600"/>
          </a:xfrm>
          <a:prstGeom prst="rect">
            <a:avLst/>
          </a:prstGeom>
          <a:noFill/>
        </p:spPr>
        <p:txBody>
          <a:bodyPr wrap="none">
            <a:spAutoFit/>
          </a:bodyPr>
          <a:lstStyle/>
          <a:p>
            <a:pPr algn="r">
              <a:defRPr sz="900">
                <a:solidFill>
                  <a:srgbClr val="B7C0CC"/>
                </a:solidFill>
                <a:latin typeface="Aptos"/>
              </a:defRPr>
            </a:pPr>
            <a:r>
              <a:rPr>
                <a:solidFill>
                  <a:srgbClr val="191919"/>
                </a:solidFill>
                <a:latin typeface="Aptos"/>
              </a:rPr>
              <a:t>Cybersecurity Study Presentation • Exam-ready definitions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146304"/>
          </a:xfrm>
          <a:prstGeom prst="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640080" cy="320040"/>
          </a:xfrm>
          <a:prstGeom prst="rect">
            <a:avLst/>
          </a:prstGeom>
          <a:noFill/>
        </p:spPr>
        <p:txBody>
          <a:bodyPr wrap="none">
            <a:spAutoFit/>
          </a:bodyPr>
          <a:lstStyle/>
          <a:p>
            <a:pPr>
              <a:defRPr sz="1500" b="1">
                <a:solidFill>
                  <a:srgbClr val="FFE25C"/>
                </a:solidFill>
              </a:defRPr>
            </a:pPr>
            <a:r>
              <a:rPr>
                <a:solidFill>
                  <a:srgbClr val="191919"/>
                </a:solidFill>
                <a:latin typeface="Aptos"/>
              </a:rPr>
              <a:t>22</a:t>
            </a:r>
          </a:p>
        </p:txBody>
      </p:sp>
      <p:sp>
        <p:nvSpPr>
          <p:cNvPr id="4" name="TextBox 3"/>
          <p:cNvSpPr txBox="1"/>
          <p:nvPr/>
        </p:nvSpPr>
        <p:spPr>
          <a:xfrm>
            <a:off x="777240" y="530352"/>
            <a:ext cx="10698480" cy="658368"/>
          </a:xfrm>
          <a:prstGeom prst="rect">
            <a:avLst/>
          </a:prstGeom>
          <a:noFill/>
        </p:spPr>
        <p:txBody>
          <a:bodyPr wrap="square" lIns="73152" rIns="73152" tIns="36576" bIns="36576">
            <a:spAutoFit/>
          </a:bodyPr>
          <a:lstStyle/>
          <a:p>
            <a:pPr algn="l">
              <a:defRPr sz="2800" b="1">
                <a:solidFill>
                  <a:srgbClr val="F5F7FA"/>
                </a:solidFill>
                <a:latin typeface="Aptos"/>
              </a:defRPr>
            </a:pPr>
            <a:r>
              <a:rPr>
                <a:solidFill>
                  <a:srgbClr val="191919"/>
                </a:solidFill>
                <a:latin typeface="Aptos"/>
              </a:rPr>
              <a:t>Insider Attack</a:t>
            </a:r>
          </a:p>
        </p:txBody>
      </p:sp>
      <p:sp>
        <p:nvSpPr>
          <p:cNvPr id="5" name="Rounded Rectangle 4"/>
          <p:cNvSpPr/>
          <p:nvPr/>
        </p:nvSpPr>
        <p:spPr>
          <a:xfrm>
            <a:off x="786384" y="1207008"/>
            <a:ext cx="1645920" cy="347472"/>
          </a:xfrm>
          <a:prstGeom prst="round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252728"/>
            <a:ext cx="1417320" cy="201168"/>
          </a:xfrm>
          <a:prstGeom prst="rect">
            <a:avLst/>
          </a:prstGeom>
          <a:noFill/>
        </p:spPr>
        <p:txBody>
          <a:bodyPr wrap="square" lIns="73152" rIns="73152" tIns="36576" bIns="36576">
            <a:spAutoFit/>
          </a:bodyPr>
          <a:lstStyle/>
          <a:p>
            <a:pPr algn="l">
              <a:defRPr sz="1000" b="1">
                <a:solidFill>
                  <a:srgbClr val="11161D"/>
                </a:solidFill>
                <a:latin typeface="Aptos"/>
              </a:defRPr>
            </a:pPr>
            <a:r>
              <a:rPr>
                <a:solidFill>
                  <a:srgbClr val="191919"/>
                </a:solidFill>
                <a:latin typeface="Aptos"/>
              </a:rPr>
              <a:t>ATTACK 22</a:t>
            </a:r>
          </a:p>
        </p:txBody>
      </p:sp>
      <p:sp>
        <p:nvSpPr>
          <p:cNvPr id="7" name="Rounded Rectangle 6"/>
          <p:cNvSpPr/>
          <p:nvPr/>
        </p:nvSpPr>
        <p:spPr>
          <a:xfrm>
            <a:off x="685800" y="1783080"/>
            <a:ext cx="10835640" cy="4297680"/>
          </a:xfrm>
          <a:prstGeom prst="roundRect">
            <a:avLst/>
          </a:prstGeom>
          <a:solidFill>
            <a:srgbClr val="F6F8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29968"/>
            <a:ext cx="10378440" cy="3749039"/>
          </a:xfrm>
          <a:prstGeom prst="rect">
            <a:avLst/>
          </a:prstGeom>
          <a:noFill/>
        </p:spPr>
        <p:txBody>
          <a:bodyPr wrap="square" lIns="164592" rIns="164592" tIns="109728" bIns="109728">
            <a:spAutoFit/>
          </a:bodyPr>
          <a:lstStyle/>
          <a:p>
            <a:pPr>
              <a:defRPr sz="1900">
                <a:solidFill>
                  <a:srgbClr val="F5F7FA"/>
                </a:solidFill>
                <a:latin typeface="Aptos"/>
              </a:defRPr>
            </a:pPr>
            <a:r>
              <a:rPr sz="1900">
                <a:solidFill>
                  <a:srgbClr val="191919"/>
                </a:solidFill>
                <a:latin typeface="Aptos"/>
              </a:rPr>
              <a:t>An insider attack is a security incident caused or enabled by a person who has legitimate access to an organization's </a:t>
            </a:r>
            <a:r>
              <a:rPr sz="1900" b="1">
                <a:solidFill>
                  <a:srgbClr val="191919"/>
                </a:solidFill>
                <a:latin typeface="Aptos"/>
              </a:rPr>
              <a:t>system</a:t>
            </a:r>
            <a:r>
              <a:rPr sz="1900">
                <a:solidFill>
                  <a:srgbClr val="191919"/>
                </a:solidFill>
                <a:latin typeface="Aptos"/>
              </a:rPr>
              <a:t>s, facilities, data, or resources. The insider may be a current employee, contractor, administrator, partner, or another trusted user. The behavior can be intentional, such as stealing information or deliberately damaging </a:t>
            </a:r>
            <a:r>
              <a:rPr sz="1900" b="1">
                <a:solidFill>
                  <a:srgbClr val="191919"/>
                </a:solidFill>
                <a:latin typeface="Aptos"/>
              </a:rPr>
              <a:t>system</a:t>
            </a:r>
            <a:r>
              <a:rPr sz="1900">
                <a:solidFill>
                  <a:srgbClr val="191919"/>
                </a:solidFill>
                <a:latin typeface="Aptos"/>
              </a:rPr>
              <a:t>s, or unintentional, such as exposing data through negligence or unsafe actions. Insider attacks are difficult because legitimate </a:t>
            </a:r>
            <a:r>
              <a:rPr sz="1900" b="1">
                <a:solidFill>
                  <a:srgbClr val="191919"/>
                </a:solidFill>
                <a:latin typeface="Aptos"/>
              </a:rPr>
              <a:t>credentials</a:t>
            </a:r>
            <a:r>
              <a:rPr sz="1900">
                <a:solidFill>
                  <a:srgbClr val="191919"/>
                </a:solidFill>
                <a:latin typeface="Aptos"/>
              </a:rPr>
              <a:t> may be used. Least privilege, separation of duties, access reviews, logging, monitoring, security awareness, and strong offboarding procedures can reduce the risk.</a:t>
            </a:r>
          </a:p>
        </p:txBody>
      </p:sp>
      <p:sp>
        <p:nvSpPr>
          <p:cNvPr id="9" name="TextBox 8"/>
          <p:cNvSpPr txBox="1"/>
          <p:nvPr/>
        </p:nvSpPr>
        <p:spPr>
          <a:xfrm>
            <a:off x="502920" y="6473952"/>
            <a:ext cx="11155680" cy="228600"/>
          </a:xfrm>
          <a:prstGeom prst="rect">
            <a:avLst/>
          </a:prstGeom>
          <a:noFill/>
        </p:spPr>
        <p:txBody>
          <a:bodyPr wrap="none">
            <a:spAutoFit/>
          </a:bodyPr>
          <a:lstStyle/>
          <a:p>
            <a:pPr algn="r">
              <a:defRPr sz="900">
                <a:solidFill>
                  <a:srgbClr val="B7C0CC"/>
                </a:solidFill>
                <a:latin typeface="Aptos"/>
              </a:defRPr>
            </a:pPr>
            <a:r>
              <a:rPr>
                <a:solidFill>
                  <a:srgbClr val="191919"/>
                </a:solidFill>
                <a:latin typeface="Aptos"/>
              </a:rPr>
              <a:t>Cybersecurity Study Presentation • Exam-ready definitions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146304"/>
          </a:xfrm>
          <a:prstGeom prst="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640080" cy="320040"/>
          </a:xfrm>
          <a:prstGeom prst="rect">
            <a:avLst/>
          </a:prstGeom>
          <a:noFill/>
        </p:spPr>
        <p:txBody>
          <a:bodyPr wrap="none">
            <a:spAutoFit/>
          </a:bodyPr>
          <a:lstStyle/>
          <a:p>
            <a:pPr>
              <a:defRPr sz="1500" b="1">
                <a:solidFill>
                  <a:srgbClr val="FFE25C"/>
                </a:solidFill>
              </a:defRPr>
            </a:pPr>
            <a:r>
              <a:rPr>
                <a:solidFill>
                  <a:srgbClr val="191919"/>
                </a:solidFill>
                <a:latin typeface="Aptos"/>
              </a:rPr>
              <a:t>23</a:t>
            </a:r>
          </a:p>
        </p:txBody>
      </p:sp>
      <p:sp>
        <p:nvSpPr>
          <p:cNvPr id="4" name="TextBox 3"/>
          <p:cNvSpPr txBox="1"/>
          <p:nvPr/>
        </p:nvSpPr>
        <p:spPr>
          <a:xfrm>
            <a:off x="777240" y="530352"/>
            <a:ext cx="10698480" cy="658368"/>
          </a:xfrm>
          <a:prstGeom prst="rect">
            <a:avLst/>
          </a:prstGeom>
          <a:noFill/>
        </p:spPr>
        <p:txBody>
          <a:bodyPr wrap="square" lIns="73152" rIns="73152" tIns="36576" bIns="36576">
            <a:spAutoFit/>
          </a:bodyPr>
          <a:lstStyle/>
          <a:p>
            <a:pPr algn="l">
              <a:defRPr sz="2800" b="1">
                <a:solidFill>
                  <a:srgbClr val="F5F7FA"/>
                </a:solidFill>
                <a:latin typeface="Aptos"/>
              </a:defRPr>
            </a:pPr>
            <a:r>
              <a:rPr>
                <a:solidFill>
                  <a:srgbClr val="191919"/>
                </a:solidFill>
                <a:latin typeface="Aptos"/>
              </a:rPr>
              <a:t>Email Spoofing</a:t>
            </a:r>
          </a:p>
        </p:txBody>
      </p:sp>
      <p:sp>
        <p:nvSpPr>
          <p:cNvPr id="5" name="Rounded Rectangle 4"/>
          <p:cNvSpPr/>
          <p:nvPr/>
        </p:nvSpPr>
        <p:spPr>
          <a:xfrm>
            <a:off x="786384" y="1207008"/>
            <a:ext cx="1645920" cy="347472"/>
          </a:xfrm>
          <a:prstGeom prst="round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252728"/>
            <a:ext cx="1417320" cy="201168"/>
          </a:xfrm>
          <a:prstGeom prst="rect">
            <a:avLst/>
          </a:prstGeom>
          <a:noFill/>
        </p:spPr>
        <p:txBody>
          <a:bodyPr wrap="square" lIns="73152" rIns="73152" tIns="36576" bIns="36576">
            <a:spAutoFit/>
          </a:bodyPr>
          <a:lstStyle/>
          <a:p>
            <a:pPr algn="l">
              <a:defRPr sz="1000" b="1">
                <a:solidFill>
                  <a:srgbClr val="11161D"/>
                </a:solidFill>
                <a:latin typeface="Aptos"/>
              </a:defRPr>
            </a:pPr>
            <a:r>
              <a:rPr>
                <a:solidFill>
                  <a:srgbClr val="191919"/>
                </a:solidFill>
                <a:latin typeface="Aptos"/>
              </a:rPr>
              <a:t>ATTACK 23</a:t>
            </a:r>
          </a:p>
        </p:txBody>
      </p:sp>
      <p:sp>
        <p:nvSpPr>
          <p:cNvPr id="7" name="Rounded Rectangle 6"/>
          <p:cNvSpPr/>
          <p:nvPr/>
        </p:nvSpPr>
        <p:spPr>
          <a:xfrm>
            <a:off x="685800" y="1783080"/>
            <a:ext cx="10835640" cy="4297680"/>
          </a:xfrm>
          <a:prstGeom prst="roundRect">
            <a:avLst/>
          </a:prstGeom>
          <a:solidFill>
            <a:srgbClr val="F6F8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29968"/>
            <a:ext cx="10378440" cy="3749039"/>
          </a:xfrm>
          <a:prstGeom prst="rect">
            <a:avLst/>
          </a:prstGeom>
          <a:noFill/>
        </p:spPr>
        <p:txBody>
          <a:bodyPr wrap="square" lIns="164592" rIns="164592" tIns="109728" bIns="109728">
            <a:spAutoFit/>
          </a:bodyPr>
          <a:lstStyle/>
          <a:p>
            <a:pPr>
              <a:defRPr sz="1900">
                <a:solidFill>
                  <a:srgbClr val="F5F7FA"/>
                </a:solidFill>
                <a:latin typeface="Aptos"/>
              </a:defRPr>
            </a:pPr>
            <a:r>
              <a:rPr sz="1900">
                <a:solidFill>
                  <a:srgbClr val="191919"/>
                </a:solidFill>
                <a:latin typeface="Aptos"/>
              </a:rPr>
              <a:t>Email spoofing is the creation or transmission of an email message that falsely appears to come from a trusted sender, person, organization, or domain. </a:t>
            </a:r>
            <a:r>
              <a:rPr sz="1900" b="1">
                <a:solidFill>
                  <a:srgbClr val="191919"/>
                </a:solidFill>
                <a:latin typeface="Aptos"/>
              </a:rPr>
              <a:t>Attacker</a:t>
            </a:r>
            <a:r>
              <a:rPr sz="1900">
                <a:solidFill>
                  <a:srgbClr val="191919"/>
                </a:solidFill>
                <a:latin typeface="Aptos"/>
              </a:rPr>
              <a:t>s may manipulate message information so that the visible sender identity looks legitimate even though the message was not actually sent by that source. Spoofed emails are frequently used in phishing, business email compromise, </a:t>
            </a:r>
            <a:r>
              <a:rPr sz="1900" b="1">
                <a:solidFill>
                  <a:srgbClr val="191919"/>
                </a:solidFill>
                <a:latin typeface="Aptos"/>
              </a:rPr>
              <a:t>malware</a:t>
            </a:r>
            <a:r>
              <a:rPr sz="1900">
                <a:solidFill>
                  <a:srgbClr val="191919"/>
                </a:solidFill>
                <a:latin typeface="Aptos"/>
              </a:rPr>
              <a:t> delivery, and fraud. Email </a:t>
            </a:r>
            <a:r>
              <a:rPr sz="1900" b="1">
                <a:solidFill>
                  <a:srgbClr val="191919"/>
                </a:solidFill>
                <a:latin typeface="Aptos"/>
              </a:rPr>
              <a:t>authentication</a:t>
            </a:r>
            <a:r>
              <a:rPr sz="1900">
                <a:solidFill>
                  <a:srgbClr val="191919"/>
                </a:solidFill>
                <a:latin typeface="Aptos"/>
              </a:rPr>
              <a:t> technologies such as SPF, DKIM, and DMARC can help organizations detect or reduce </a:t>
            </a:r>
            <a:r>
              <a:rPr sz="1900" b="1">
                <a:solidFill>
                  <a:srgbClr val="191919"/>
                </a:solidFill>
                <a:latin typeface="Aptos"/>
              </a:rPr>
              <a:t>unauthorized</a:t>
            </a:r>
            <a:r>
              <a:rPr sz="1900">
                <a:solidFill>
                  <a:srgbClr val="191919"/>
                </a:solidFill>
                <a:latin typeface="Aptos"/>
              </a:rPr>
              <a:t> use of their domains, while users should independently verify unusual requests for money, </a:t>
            </a:r>
            <a:r>
              <a:rPr sz="1900" b="1">
                <a:solidFill>
                  <a:srgbClr val="191919"/>
                </a:solidFill>
                <a:latin typeface="Aptos"/>
              </a:rPr>
              <a:t>credentials</a:t>
            </a:r>
            <a:r>
              <a:rPr sz="1900">
                <a:solidFill>
                  <a:srgbClr val="191919"/>
                </a:solidFill>
                <a:latin typeface="Aptos"/>
              </a:rPr>
              <a:t>, or </a:t>
            </a:r>
            <a:r>
              <a:rPr sz="1900" b="1">
                <a:solidFill>
                  <a:srgbClr val="191919"/>
                </a:solidFill>
                <a:latin typeface="Aptos"/>
              </a:rPr>
              <a:t>sensitive information</a:t>
            </a:r>
            <a:r>
              <a:rPr sz="1900">
                <a:solidFill>
                  <a:srgbClr val="191919"/>
                </a:solidFill>
                <a:latin typeface="Aptos"/>
              </a:rPr>
              <a:t>.</a:t>
            </a:r>
          </a:p>
        </p:txBody>
      </p:sp>
      <p:sp>
        <p:nvSpPr>
          <p:cNvPr id="9" name="TextBox 8"/>
          <p:cNvSpPr txBox="1"/>
          <p:nvPr/>
        </p:nvSpPr>
        <p:spPr>
          <a:xfrm>
            <a:off x="502920" y="6473952"/>
            <a:ext cx="11155680" cy="228600"/>
          </a:xfrm>
          <a:prstGeom prst="rect">
            <a:avLst/>
          </a:prstGeom>
          <a:noFill/>
        </p:spPr>
        <p:txBody>
          <a:bodyPr wrap="none">
            <a:spAutoFit/>
          </a:bodyPr>
          <a:lstStyle/>
          <a:p>
            <a:pPr algn="r">
              <a:defRPr sz="900">
                <a:solidFill>
                  <a:srgbClr val="B7C0CC"/>
                </a:solidFill>
                <a:latin typeface="Aptos"/>
              </a:defRPr>
            </a:pPr>
            <a:r>
              <a:rPr>
                <a:solidFill>
                  <a:srgbClr val="191919"/>
                </a:solidFill>
                <a:latin typeface="Aptos"/>
              </a:rPr>
              <a:t>Cybersecurity Study Presentation • Exam-ready definitions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146304"/>
          </a:xfrm>
          <a:prstGeom prst="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640080" cy="320040"/>
          </a:xfrm>
          <a:prstGeom prst="rect">
            <a:avLst/>
          </a:prstGeom>
          <a:noFill/>
        </p:spPr>
        <p:txBody>
          <a:bodyPr wrap="none">
            <a:spAutoFit/>
          </a:bodyPr>
          <a:lstStyle/>
          <a:p>
            <a:pPr>
              <a:defRPr sz="1500" b="1">
                <a:solidFill>
                  <a:srgbClr val="FFE25C"/>
                </a:solidFill>
              </a:defRPr>
            </a:pPr>
            <a:r>
              <a:rPr>
                <a:solidFill>
                  <a:srgbClr val="191919"/>
                </a:solidFill>
                <a:latin typeface="Aptos"/>
              </a:rPr>
              <a:t>24</a:t>
            </a:r>
          </a:p>
        </p:txBody>
      </p:sp>
      <p:sp>
        <p:nvSpPr>
          <p:cNvPr id="4" name="TextBox 3"/>
          <p:cNvSpPr txBox="1"/>
          <p:nvPr/>
        </p:nvSpPr>
        <p:spPr>
          <a:xfrm>
            <a:off x="777240" y="530352"/>
            <a:ext cx="10698480" cy="658368"/>
          </a:xfrm>
          <a:prstGeom prst="rect">
            <a:avLst/>
          </a:prstGeom>
          <a:noFill/>
        </p:spPr>
        <p:txBody>
          <a:bodyPr wrap="square" lIns="73152" rIns="73152" tIns="36576" bIns="36576">
            <a:spAutoFit/>
          </a:bodyPr>
          <a:lstStyle/>
          <a:p>
            <a:pPr algn="l">
              <a:defRPr sz="2800" b="1">
                <a:solidFill>
                  <a:srgbClr val="F5F7FA"/>
                </a:solidFill>
                <a:latin typeface="Aptos"/>
              </a:defRPr>
            </a:pPr>
            <a:r>
              <a:rPr>
                <a:solidFill>
                  <a:srgbClr val="191919"/>
                </a:solidFill>
                <a:latin typeface="Aptos"/>
              </a:rPr>
              <a:t>Pharming Attack</a:t>
            </a:r>
          </a:p>
        </p:txBody>
      </p:sp>
      <p:sp>
        <p:nvSpPr>
          <p:cNvPr id="5" name="Rounded Rectangle 4"/>
          <p:cNvSpPr/>
          <p:nvPr/>
        </p:nvSpPr>
        <p:spPr>
          <a:xfrm>
            <a:off x="786384" y="1207008"/>
            <a:ext cx="1645920" cy="347472"/>
          </a:xfrm>
          <a:prstGeom prst="round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252728"/>
            <a:ext cx="1417320" cy="201168"/>
          </a:xfrm>
          <a:prstGeom prst="rect">
            <a:avLst/>
          </a:prstGeom>
          <a:noFill/>
        </p:spPr>
        <p:txBody>
          <a:bodyPr wrap="square" lIns="73152" rIns="73152" tIns="36576" bIns="36576">
            <a:spAutoFit/>
          </a:bodyPr>
          <a:lstStyle/>
          <a:p>
            <a:pPr algn="l">
              <a:defRPr sz="1000" b="1">
                <a:solidFill>
                  <a:srgbClr val="11161D"/>
                </a:solidFill>
                <a:latin typeface="Aptos"/>
              </a:defRPr>
            </a:pPr>
            <a:r>
              <a:rPr>
                <a:solidFill>
                  <a:srgbClr val="191919"/>
                </a:solidFill>
                <a:latin typeface="Aptos"/>
              </a:rPr>
              <a:t>ATTACK 24</a:t>
            </a:r>
          </a:p>
        </p:txBody>
      </p:sp>
      <p:sp>
        <p:nvSpPr>
          <p:cNvPr id="7" name="Rounded Rectangle 6"/>
          <p:cNvSpPr/>
          <p:nvPr/>
        </p:nvSpPr>
        <p:spPr>
          <a:xfrm>
            <a:off x="685800" y="1783080"/>
            <a:ext cx="10835640" cy="4297680"/>
          </a:xfrm>
          <a:prstGeom prst="roundRect">
            <a:avLst/>
          </a:prstGeom>
          <a:solidFill>
            <a:srgbClr val="F6F8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29968"/>
            <a:ext cx="10378440" cy="3749039"/>
          </a:xfrm>
          <a:prstGeom prst="rect">
            <a:avLst/>
          </a:prstGeom>
          <a:noFill/>
        </p:spPr>
        <p:txBody>
          <a:bodyPr wrap="square" lIns="164592" rIns="164592" tIns="109728" bIns="109728">
            <a:spAutoFit/>
          </a:bodyPr>
          <a:lstStyle/>
          <a:p>
            <a:pPr>
              <a:defRPr sz="1900">
                <a:solidFill>
                  <a:srgbClr val="F5F7FA"/>
                </a:solidFill>
                <a:latin typeface="Aptos"/>
              </a:defRPr>
            </a:pPr>
            <a:r>
              <a:rPr sz="1900">
                <a:solidFill>
                  <a:srgbClr val="191919"/>
                </a:solidFill>
                <a:latin typeface="Aptos"/>
              </a:rPr>
              <a:t>Pharming is an attack that redirects users from a legitimate </a:t>
            </a:r>
            <a:r>
              <a:rPr sz="1900" b="1">
                <a:solidFill>
                  <a:srgbClr val="191919"/>
                </a:solidFill>
                <a:latin typeface="Aptos"/>
              </a:rPr>
              <a:t>website</a:t>
            </a:r>
            <a:r>
              <a:rPr sz="1900">
                <a:solidFill>
                  <a:srgbClr val="191919"/>
                </a:solidFill>
                <a:latin typeface="Aptos"/>
              </a:rPr>
              <a:t> or domain to a fraudulent destination, often without requiring the </a:t>
            </a:r>
            <a:r>
              <a:rPr sz="1900" b="1">
                <a:solidFill>
                  <a:srgbClr val="191919"/>
                </a:solidFill>
                <a:latin typeface="Aptos"/>
              </a:rPr>
              <a:t>victim</a:t>
            </a:r>
            <a:r>
              <a:rPr sz="1900">
                <a:solidFill>
                  <a:srgbClr val="191919"/>
                </a:solidFill>
                <a:latin typeface="Aptos"/>
              </a:rPr>
              <a:t> to click a </a:t>
            </a:r>
            <a:r>
              <a:rPr sz="1900" b="1">
                <a:solidFill>
                  <a:srgbClr val="191919"/>
                </a:solidFill>
                <a:latin typeface="Aptos"/>
              </a:rPr>
              <a:t>malicious</a:t>
            </a:r>
            <a:r>
              <a:rPr sz="1900">
                <a:solidFill>
                  <a:srgbClr val="191919"/>
                </a:solidFill>
                <a:latin typeface="Aptos"/>
              </a:rPr>
              <a:t> link. The redirection can be achieved through manipulation of DNS information, compromised hosts, </a:t>
            </a:r>
            <a:r>
              <a:rPr sz="1900" b="1">
                <a:solidFill>
                  <a:srgbClr val="191919"/>
                </a:solidFill>
                <a:latin typeface="Aptos"/>
              </a:rPr>
              <a:t>malicious</a:t>
            </a:r>
            <a:r>
              <a:rPr sz="1900">
                <a:solidFill>
                  <a:srgbClr val="191919"/>
                </a:solidFill>
                <a:latin typeface="Aptos"/>
              </a:rPr>
              <a:t> software, or changes to local </a:t>
            </a:r>
            <a:r>
              <a:rPr sz="1900" b="1">
                <a:solidFill>
                  <a:srgbClr val="191919"/>
                </a:solidFill>
                <a:latin typeface="Aptos"/>
              </a:rPr>
              <a:t>network</a:t>
            </a:r>
            <a:r>
              <a:rPr sz="1900">
                <a:solidFill>
                  <a:srgbClr val="191919"/>
                </a:solidFill>
                <a:latin typeface="Aptos"/>
              </a:rPr>
              <a:t> or device configuration. The </a:t>
            </a:r>
            <a:r>
              <a:rPr sz="1900" b="1">
                <a:solidFill>
                  <a:srgbClr val="191919"/>
                </a:solidFill>
                <a:latin typeface="Aptos"/>
              </a:rPr>
              <a:t>victim</a:t>
            </a:r>
            <a:r>
              <a:rPr sz="1900">
                <a:solidFill>
                  <a:srgbClr val="191919"/>
                </a:solidFill>
                <a:latin typeface="Aptos"/>
              </a:rPr>
              <a:t> may enter usernames, </a:t>
            </a:r>
            <a:r>
              <a:rPr sz="1900" b="1">
                <a:solidFill>
                  <a:srgbClr val="191919"/>
                </a:solidFill>
                <a:latin typeface="Aptos"/>
              </a:rPr>
              <a:t>password</a:t>
            </a:r>
            <a:r>
              <a:rPr sz="1900">
                <a:solidFill>
                  <a:srgbClr val="191919"/>
                </a:solidFill>
                <a:latin typeface="Aptos"/>
              </a:rPr>
              <a:t>s, payment details, or other information into the fake site because the redirection can appear unexpected or legitimate. Secure DNS services, DNSSEC where applicable, endpoint protection, secure configuration, and checking certificate and domain information can help reduce the risk.</a:t>
            </a:r>
          </a:p>
        </p:txBody>
      </p:sp>
      <p:sp>
        <p:nvSpPr>
          <p:cNvPr id="9" name="TextBox 8"/>
          <p:cNvSpPr txBox="1"/>
          <p:nvPr/>
        </p:nvSpPr>
        <p:spPr>
          <a:xfrm>
            <a:off x="502920" y="6473952"/>
            <a:ext cx="11155680" cy="228600"/>
          </a:xfrm>
          <a:prstGeom prst="rect">
            <a:avLst/>
          </a:prstGeom>
          <a:noFill/>
        </p:spPr>
        <p:txBody>
          <a:bodyPr wrap="none">
            <a:spAutoFit/>
          </a:bodyPr>
          <a:lstStyle/>
          <a:p>
            <a:pPr algn="r">
              <a:defRPr sz="900">
                <a:solidFill>
                  <a:srgbClr val="B7C0CC"/>
                </a:solidFill>
                <a:latin typeface="Aptos"/>
              </a:defRPr>
            </a:pPr>
            <a:r>
              <a:rPr>
                <a:solidFill>
                  <a:srgbClr val="191919"/>
                </a:solidFill>
                <a:latin typeface="Aptos"/>
              </a:rPr>
              <a:t>Cybersecurity Study Presentation • Exam-ready definitions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146304"/>
          </a:xfrm>
          <a:prstGeom prst="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640080" cy="320040"/>
          </a:xfrm>
          <a:prstGeom prst="rect">
            <a:avLst/>
          </a:prstGeom>
          <a:noFill/>
        </p:spPr>
        <p:txBody>
          <a:bodyPr wrap="none">
            <a:spAutoFit/>
          </a:bodyPr>
          <a:lstStyle/>
          <a:p>
            <a:pPr>
              <a:defRPr sz="1500" b="1">
                <a:solidFill>
                  <a:srgbClr val="FFE25C"/>
                </a:solidFill>
              </a:defRPr>
            </a:pPr>
            <a:r>
              <a:rPr>
                <a:solidFill>
                  <a:srgbClr val="191919"/>
                </a:solidFill>
                <a:latin typeface="Aptos"/>
              </a:rPr>
              <a:t>25</a:t>
            </a:r>
          </a:p>
        </p:txBody>
      </p:sp>
      <p:sp>
        <p:nvSpPr>
          <p:cNvPr id="4" name="TextBox 3"/>
          <p:cNvSpPr txBox="1"/>
          <p:nvPr/>
        </p:nvSpPr>
        <p:spPr>
          <a:xfrm>
            <a:off x="777240" y="530352"/>
            <a:ext cx="10698480" cy="658368"/>
          </a:xfrm>
          <a:prstGeom prst="rect">
            <a:avLst/>
          </a:prstGeom>
          <a:noFill/>
        </p:spPr>
        <p:txBody>
          <a:bodyPr wrap="square" lIns="73152" rIns="73152" tIns="36576" bIns="36576">
            <a:spAutoFit/>
          </a:bodyPr>
          <a:lstStyle/>
          <a:p>
            <a:pPr algn="l">
              <a:defRPr sz="2800" b="1">
                <a:solidFill>
                  <a:srgbClr val="F5F7FA"/>
                </a:solidFill>
                <a:latin typeface="Aptos"/>
              </a:defRPr>
            </a:pPr>
            <a:r>
              <a:rPr>
                <a:solidFill>
                  <a:srgbClr val="191919"/>
                </a:solidFill>
                <a:latin typeface="Aptos"/>
              </a:rPr>
              <a:t>Whaling Attack</a:t>
            </a:r>
          </a:p>
        </p:txBody>
      </p:sp>
      <p:sp>
        <p:nvSpPr>
          <p:cNvPr id="5" name="Rounded Rectangle 4"/>
          <p:cNvSpPr/>
          <p:nvPr/>
        </p:nvSpPr>
        <p:spPr>
          <a:xfrm>
            <a:off x="786384" y="1207008"/>
            <a:ext cx="1645920" cy="347472"/>
          </a:xfrm>
          <a:prstGeom prst="round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252728"/>
            <a:ext cx="1417320" cy="201168"/>
          </a:xfrm>
          <a:prstGeom prst="rect">
            <a:avLst/>
          </a:prstGeom>
          <a:noFill/>
        </p:spPr>
        <p:txBody>
          <a:bodyPr wrap="square" lIns="73152" rIns="73152" tIns="36576" bIns="36576">
            <a:spAutoFit/>
          </a:bodyPr>
          <a:lstStyle/>
          <a:p>
            <a:pPr algn="l">
              <a:defRPr sz="1000" b="1">
                <a:solidFill>
                  <a:srgbClr val="11161D"/>
                </a:solidFill>
                <a:latin typeface="Aptos"/>
              </a:defRPr>
            </a:pPr>
            <a:r>
              <a:rPr>
                <a:solidFill>
                  <a:srgbClr val="191919"/>
                </a:solidFill>
                <a:latin typeface="Aptos"/>
              </a:rPr>
              <a:t>ATTACK 25</a:t>
            </a:r>
          </a:p>
        </p:txBody>
      </p:sp>
      <p:sp>
        <p:nvSpPr>
          <p:cNvPr id="7" name="Rounded Rectangle 6"/>
          <p:cNvSpPr/>
          <p:nvPr/>
        </p:nvSpPr>
        <p:spPr>
          <a:xfrm>
            <a:off x="685800" y="1783080"/>
            <a:ext cx="10835640" cy="4297680"/>
          </a:xfrm>
          <a:prstGeom prst="roundRect">
            <a:avLst/>
          </a:prstGeom>
          <a:solidFill>
            <a:srgbClr val="F6F8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29968"/>
            <a:ext cx="10378440" cy="3749039"/>
          </a:xfrm>
          <a:prstGeom prst="rect">
            <a:avLst/>
          </a:prstGeom>
          <a:noFill/>
        </p:spPr>
        <p:txBody>
          <a:bodyPr wrap="square" lIns="164592" rIns="164592" tIns="109728" bIns="109728">
            <a:spAutoFit/>
          </a:bodyPr>
          <a:lstStyle/>
          <a:p>
            <a:pPr>
              <a:defRPr sz="1900">
                <a:solidFill>
                  <a:srgbClr val="F5F7FA"/>
                </a:solidFill>
                <a:latin typeface="Aptos"/>
              </a:defRPr>
            </a:pPr>
            <a:r>
              <a:rPr sz="1900">
                <a:solidFill>
                  <a:srgbClr val="191919"/>
                </a:solidFill>
                <a:latin typeface="Aptos"/>
              </a:rPr>
              <a:t>Whaling is a highly targeted form of phishing that focuses on senior executives, high-value employees, or individuals with significant authority or access to </a:t>
            </a:r>
            <a:r>
              <a:rPr sz="1900" b="1">
                <a:solidFill>
                  <a:srgbClr val="191919"/>
                </a:solidFill>
                <a:latin typeface="Aptos"/>
              </a:rPr>
              <a:t>sensitive information</a:t>
            </a:r>
            <a:r>
              <a:rPr sz="1900">
                <a:solidFill>
                  <a:srgbClr val="191919"/>
                </a:solidFill>
                <a:latin typeface="Aptos"/>
              </a:rPr>
              <a:t> and financial resources. The </a:t>
            </a:r>
            <a:r>
              <a:rPr sz="1900" b="1">
                <a:solidFill>
                  <a:srgbClr val="191919"/>
                </a:solidFill>
                <a:latin typeface="Aptos"/>
              </a:rPr>
              <a:t>attacker</a:t>
            </a:r>
            <a:r>
              <a:rPr sz="1900">
                <a:solidFill>
                  <a:srgbClr val="191919"/>
                </a:solidFill>
                <a:latin typeface="Aptos"/>
              </a:rPr>
              <a:t> researches the target and creates a convincing message that may imitate a senior colleague, business partner, lawyer, bank, or other trusted party. The objective may be to obtain </a:t>
            </a:r>
            <a:r>
              <a:rPr sz="1900" b="1">
                <a:solidFill>
                  <a:srgbClr val="191919"/>
                </a:solidFill>
                <a:latin typeface="Aptos"/>
              </a:rPr>
              <a:t>credentials</a:t>
            </a:r>
            <a:r>
              <a:rPr sz="1900">
                <a:solidFill>
                  <a:srgbClr val="191919"/>
                </a:solidFill>
                <a:latin typeface="Aptos"/>
              </a:rPr>
              <a:t>, confidential information, approve a payment, or authorize another sensitive action. Because senior personnel may have broad privileges, a successful whaling attack can have significant organizational consequences. Verification procedures and strong </a:t>
            </a:r>
            <a:r>
              <a:rPr sz="1900" b="1">
                <a:solidFill>
                  <a:srgbClr val="191919"/>
                </a:solidFill>
                <a:latin typeface="Aptos"/>
              </a:rPr>
              <a:t>authentication</a:t>
            </a:r>
            <a:r>
              <a:rPr sz="1900">
                <a:solidFill>
                  <a:srgbClr val="191919"/>
                </a:solidFill>
                <a:latin typeface="Aptos"/>
              </a:rPr>
              <a:t> are important defenses.</a:t>
            </a:r>
          </a:p>
        </p:txBody>
      </p:sp>
      <p:sp>
        <p:nvSpPr>
          <p:cNvPr id="9" name="TextBox 8"/>
          <p:cNvSpPr txBox="1"/>
          <p:nvPr/>
        </p:nvSpPr>
        <p:spPr>
          <a:xfrm>
            <a:off x="502920" y="6473952"/>
            <a:ext cx="11155680" cy="228600"/>
          </a:xfrm>
          <a:prstGeom prst="rect">
            <a:avLst/>
          </a:prstGeom>
          <a:noFill/>
        </p:spPr>
        <p:txBody>
          <a:bodyPr wrap="none">
            <a:spAutoFit/>
          </a:bodyPr>
          <a:lstStyle/>
          <a:p>
            <a:pPr algn="r">
              <a:defRPr sz="900">
                <a:solidFill>
                  <a:srgbClr val="B7C0CC"/>
                </a:solidFill>
                <a:latin typeface="Aptos"/>
              </a:defRPr>
            </a:pPr>
            <a:r>
              <a:rPr>
                <a:solidFill>
                  <a:srgbClr val="191919"/>
                </a:solidFill>
                <a:latin typeface="Aptos"/>
              </a:rPr>
              <a:t>Cybersecurity Study Presentation • Exam-ready definitions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146304"/>
          </a:xfrm>
          <a:prstGeom prst="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640080" cy="320040"/>
          </a:xfrm>
          <a:prstGeom prst="rect">
            <a:avLst/>
          </a:prstGeom>
          <a:noFill/>
        </p:spPr>
        <p:txBody>
          <a:bodyPr wrap="none">
            <a:spAutoFit/>
          </a:bodyPr>
          <a:lstStyle/>
          <a:p>
            <a:pPr>
              <a:defRPr sz="1500" b="1">
                <a:solidFill>
                  <a:srgbClr val="FFE25C"/>
                </a:solidFill>
              </a:defRPr>
            </a:pPr>
            <a:r>
              <a:rPr>
                <a:solidFill>
                  <a:srgbClr val="191919"/>
                </a:solidFill>
                <a:latin typeface="Aptos"/>
              </a:rPr>
              <a:t>26</a:t>
            </a:r>
          </a:p>
        </p:txBody>
      </p:sp>
      <p:sp>
        <p:nvSpPr>
          <p:cNvPr id="4" name="TextBox 3"/>
          <p:cNvSpPr txBox="1"/>
          <p:nvPr/>
        </p:nvSpPr>
        <p:spPr>
          <a:xfrm>
            <a:off x="777240" y="530352"/>
            <a:ext cx="10698480" cy="658368"/>
          </a:xfrm>
          <a:prstGeom prst="rect">
            <a:avLst/>
          </a:prstGeom>
          <a:noFill/>
        </p:spPr>
        <p:txBody>
          <a:bodyPr wrap="square" lIns="73152" rIns="73152" tIns="36576" bIns="36576">
            <a:spAutoFit/>
          </a:bodyPr>
          <a:lstStyle/>
          <a:p>
            <a:pPr algn="l">
              <a:defRPr sz="2800" b="1">
                <a:solidFill>
                  <a:srgbClr val="F5F7FA"/>
                </a:solidFill>
                <a:latin typeface="Aptos"/>
              </a:defRPr>
            </a:pPr>
            <a:r>
              <a:rPr>
                <a:solidFill>
                  <a:srgbClr val="191919"/>
                </a:solidFill>
                <a:latin typeface="Aptos"/>
              </a:rPr>
              <a:t>Evil Twin Attack</a:t>
            </a:r>
          </a:p>
        </p:txBody>
      </p:sp>
      <p:sp>
        <p:nvSpPr>
          <p:cNvPr id="5" name="Rounded Rectangle 4"/>
          <p:cNvSpPr/>
          <p:nvPr/>
        </p:nvSpPr>
        <p:spPr>
          <a:xfrm>
            <a:off x="786384" y="1207008"/>
            <a:ext cx="1645920" cy="347472"/>
          </a:xfrm>
          <a:prstGeom prst="round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252728"/>
            <a:ext cx="1417320" cy="201168"/>
          </a:xfrm>
          <a:prstGeom prst="rect">
            <a:avLst/>
          </a:prstGeom>
          <a:noFill/>
        </p:spPr>
        <p:txBody>
          <a:bodyPr wrap="square" lIns="73152" rIns="73152" tIns="36576" bIns="36576">
            <a:spAutoFit/>
          </a:bodyPr>
          <a:lstStyle/>
          <a:p>
            <a:pPr algn="l">
              <a:defRPr sz="1000" b="1">
                <a:solidFill>
                  <a:srgbClr val="11161D"/>
                </a:solidFill>
                <a:latin typeface="Aptos"/>
              </a:defRPr>
            </a:pPr>
            <a:r>
              <a:rPr>
                <a:solidFill>
                  <a:srgbClr val="191919"/>
                </a:solidFill>
                <a:latin typeface="Aptos"/>
              </a:rPr>
              <a:t>ATTACK 26</a:t>
            </a:r>
          </a:p>
        </p:txBody>
      </p:sp>
      <p:sp>
        <p:nvSpPr>
          <p:cNvPr id="7" name="Rounded Rectangle 6"/>
          <p:cNvSpPr/>
          <p:nvPr/>
        </p:nvSpPr>
        <p:spPr>
          <a:xfrm>
            <a:off x="685800" y="1783080"/>
            <a:ext cx="10835640" cy="4297680"/>
          </a:xfrm>
          <a:prstGeom prst="roundRect">
            <a:avLst/>
          </a:prstGeom>
          <a:solidFill>
            <a:srgbClr val="F6F8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29968"/>
            <a:ext cx="10378440" cy="3749039"/>
          </a:xfrm>
          <a:prstGeom prst="rect">
            <a:avLst/>
          </a:prstGeom>
          <a:noFill/>
        </p:spPr>
        <p:txBody>
          <a:bodyPr wrap="square" lIns="164592" rIns="164592" tIns="109728" bIns="109728">
            <a:spAutoFit/>
          </a:bodyPr>
          <a:lstStyle/>
          <a:p>
            <a:pPr>
              <a:defRPr sz="1900">
                <a:solidFill>
                  <a:srgbClr val="F5F7FA"/>
                </a:solidFill>
                <a:latin typeface="Aptos"/>
              </a:defRPr>
            </a:pPr>
            <a:r>
              <a:rPr sz="1900">
                <a:solidFill>
                  <a:srgbClr val="191919"/>
                </a:solidFill>
                <a:latin typeface="Aptos"/>
              </a:rPr>
              <a:t>An Evil Twin attack occurs when an </a:t>
            </a:r>
            <a:r>
              <a:rPr sz="1900" b="1">
                <a:solidFill>
                  <a:srgbClr val="191919"/>
                </a:solidFill>
                <a:latin typeface="Aptos"/>
              </a:rPr>
              <a:t>attacker</a:t>
            </a:r>
            <a:r>
              <a:rPr sz="1900">
                <a:solidFill>
                  <a:srgbClr val="191919"/>
                </a:solidFill>
                <a:latin typeface="Aptos"/>
              </a:rPr>
              <a:t> creates a fraudulent wireless </a:t>
            </a:r>
            <a:r>
              <a:rPr sz="1900" b="1">
                <a:solidFill>
                  <a:srgbClr val="191919"/>
                </a:solidFill>
                <a:latin typeface="Aptos"/>
              </a:rPr>
              <a:t>network</a:t>
            </a:r>
            <a:r>
              <a:rPr sz="1900">
                <a:solidFill>
                  <a:srgbClr val="191919"/>
                </a:solidFill>
                <a:latin typeface="Aptos"/>
              </a:rPr>
              <a:t> that imitates a legitimate Wi-Fi </a:t>
            </a:r>
            <a:r>
              <a:rPr sz="1900" b="1">
                <a:solidFill>
                  <a:srgbClr val="191919"/>
                </a:solidFill>
                <a:latin typeface="Aptos"/>
              </a:rPr>
              <a:t>network</a:t>
            </a:r>
            <a:r>
              <a:rPr sz="1900">
                <a:solidFill>
                  <a:srgbClr val="191919"/>
                </a:solidFill>
                <a:latin typeface="Aptos"/>
              </a:rPr>
              <a:t>, often using a similar or identical </a:t>
            </a:r>
            <a:r>
              <a:rPr sz="1900" b="1">
                <a:solidFill>
                  <a:srgbClr val="191919"/>
                </a:solidFill>
                <a:latin typeface="Aptos"/>
              </a:rPr>
              <a:t>network</a:t>
            </a:r>
            <a:r>
              <a:rPr sz="1900">
                <a:solidFill>
                  <a:srgbClr val="191919"/>
                </a:solidFill>
                <a:latin typeface="Aptos"/>
              </a:rPr>
              <a:t> name. </a:t>
            </a:r>
            <a:r>
              <a:rPr sz="1900" b="1">
                <a:solidFill>
                  <a:srgbClr val="191919"/>
                </a:solidFill>
                <a:latin typeface="Aptos"/>
              </a:rPr>
              <a:t>Victim</a:t>
            </a:r>
            <a:r>
              <a:rPr sz="1900">
                <a:solidFill>
                  <a:srgbClr val="191919"/>
                </a:solidFill>
                <a:latin typeface="Aptos"/>
              </a:rPr>
              <a:t>s may connect because they believe the </a:t>
            </a:r>
            <a:r>
              <a:rPr sz="1900" b="1">
                <a:solidFill>
                  <a:srgbClr val="191919"/>
                </a:solidFill>
                <a:latin typeface="Aptos"/>
              </a:rPr>
              <a:t>network</a:t>
            </a:r>
            <a:r>
              <a:rPr sz="1900">
                <a:solidFill>
                  <a:srgbClr val="191919"/>
                </a:solidFill>
                <a:latin typeface="Aptos"/>
              </a:rPr>
              <a:t> is an official hotspot, office </a:t>
            </a:r>
            <a:r>
              <a:rPr sz="1900" b="1">
                <a:solidFill>
                  <a:srgbClr val="191919"/>
                </a:solidFill>
                <a:latin typeface="Aptos"/>
              </a:rPr>
              <a:t>network</a:t>
            </a:r>
            <a:r>
              <a:rPr sz="1900">
                <a:solidFill>
                  <a:srgbClr val="191919"/>
                </a:solidFill>
                <a:latin typeface="Aptos"/>
              </a:rPr>
              <a:t>, hotel </a:t>
            </a:r>
            <a:r>
              <a:rPr sz="1900" b="1">
                <a:solidFill>
                  <a:srgbClr val="191919"/>
                </a:solidFill>
                <a:latin typeface="Aptos"/>
              </a:rPr>
              <a:t>network</a:t>
            </a:r>
            <a:r>
              <a:rPr sz="1900">
                <a:solidFill>
                  <a:srgbClr val="191919"/>
                </a:solidFill>
                <a:latin typeface="Aptos"/>
              </a:rPr>
              <a:t>, or public Wi-Fi service. Once connected, the </a:t>
            </a:r>
            <a:r>
              <a:rPr sz="1900" b="1">
                <a:solidFill>
                  <a:srgbClr val="191919"/>
                </a:solidFill>
                <a:latin typeface="Aptos"/>
              </a:rPr>
              <a:t>attacker</a:t>
            </a:r>
            <a:r>
              <a:rPr sz="1900">
                <a:solidFill>
                  <a:srgbClr val="191919"/>
                </a:solidFill>
                <a:latin typeface="Aptos"/>
              </a:rPr>
              <a:t> may attempt to observe traffic, redirect users to </a:t>
            </a:r>
            <a:r>
              <a:rPr sz="1900" b="1">
                <a:solidFill>
                  <a:srgbClr val="191919"/>
                </a:solidFill>
                <a:latin typeface="Aptos"/>
              </a:rPr>
              <a:t>malicious</a:t>
            </a:r>
            <a:r>
              <a:rPr sz="1900">
                <a:solidFill>
                  <a:srgbClr val="191919"/>
                </a:solidFill>
                <a:latin typeface="Aptos"/>
              </a:rPr>
              <a:t> pages, or capture information that is not adequately protected. Using trusted </a:t>
            </a:r>
            <a:r>
              <a:rPr sz="1900" b="1">
                <a:solidFill>
                  <a:srgbClr val="191919"/>
                </a:solidFill>
                <a:latin typeface="Aptos"/>
              </a:rPr>
              <a:t>network</a:t>
            </a:r>
            <a:r>
              <a:rPr sz="1900">
                <a:solidFill>
                  <a:srgbClr val="191919"/>
                </a:solidFill>
                <a:latin typeface="Aptos"/>
              </a:rPr>
              <a:t>s, verifying Wi-Fi details, avoiding sensitive activity on unknown hotspots, and using end-to-end </a:t>
            </a:r>
            <a:r>
              <a:rPr sz="1900" b="1">
                <a:solidFill>
                  <a:srgbClr val="191919"/>
                </a:solidFill>
                <a:latin typeface="Aptos"/>
              </a:rPr>
              <a:t>encryption</a:t>
            </a:r>
            <a:r>
              <a:rPr sz="1900">
                <a:solidFill>
                  <a:srgbClr val="191919"/>
                </a:solidFill>
                <a:latin typeface="Aptos"/>
              </a:rPr>
              <a:t> and VPNs where appropriate can reduce exposure.</a:t>
            </a:r>
          </a:p>
        </p:txBody>
      </p:sp>
      <p:sp>
        <p:nvSpPr>
          <p:cNvPr id="9" name="TextBox 8"/>
          <p:cNvSpPr txBox="1"/>
          <p:nvPr/>
        </p:nvSpPr>
        <p:spPr>
          <a:xfrm>
            <a:off x="502920" y="6473952"/>
            <a:ext cx="11155680" cy="228600"/>
          </a:xfrm>
          <a:prstGeom prst="rect">
            <a:avLst/>
          </a:prstGeom>
          <a:noFill/>
        </p:spPr>
        <p:txBody>
          <a:bodyPr wrap="none">
            <a:spAutoFit/>
          </a:bodyPr>
          <a:lstStyle/>
          <a:p>
            <a:pPr algn="r">
              <a:defRPr sz="900">
                <a:solidFill>
                  <a:srgbClr val="B7C0CC"/>
                </a:solidFill>
                <a:latin typeface="Aptos"/>
              </a:defRPr>
            </a:pPr>
            <a:r>
              <a:rPr>
                <a:solidFill>
                  <a:srgbClr val="191919"/>
                </a:solidFill>
                <a:latin typeface="Aptos"/>
              </a:rPr>
              <a:t>Cybersecurity Study Presentation • Exam-ready definitions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146304"/>
          </a:xfrm>
          <a:prstGeom prst="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640080" cy="320040"/>
          </a:xfrm>
          <a:prstGeom prst="rect">
            <a:avLst/>
          </a:prstGeom>
          <a:noFill/>
        </p:spPr>
        <p:txBody>
          <a:bodyPr wrap="none">
            <a:spAutoFit/>
          </a:bodyPr>
          <a:lstStyle/>
          <a:p>
            <a:pPr>
              <a:defRPr sz="1500" b="1">
                <a:solidFill>
                  <a:srgbClr val="FFE25C"/>
                </a:solidFill>
              </a:defRPr>
            </a:pPr>
            <a:r>
              <a:rPr>
                <a:solidFill>
                  <a:srgbClr val="191919"/>
                </a:solidFill>
                <a:latin typeface="Aptos"/>
              </a:rPr>
              <a:t>27</a:t>
            </a:r>
          </a:p>
        </p:txBody>
      </p:sp>
      <p:sp>
        <p:nvSpPr>
          <p:cNvPr id="4" name="TextBox 3"/>
          <p:cNvSpPr txBox="1"/>
          <p:nvPr/>
        </p:nvSpPr>
        <p:spPr>
          <a:xfrm>
            <a:off x="777240" y="530352"/>
            <a:ext cx="10698480" cy="658368"/>
          </a:xfrm>
          <a:prstGeom prst="rect">
            <a:avLst/>
          </a:prstGeom>
          <a:noFill/>
        </p:spPr>
        <p:txBody>
          <a:bodyPr wrap="square" lIns="73152" rIns="73152" tIns="36576" bIns="36576">
            <a:spAutoFit/>
          </a:bodyPr>
          <a:lstStyle/>
          <a:p>
            <a:pPr algn="l">
              <a:defRPr sz="2800" b="1">
                <a:solidFill>
                  <a:srgbClr val="F5F7FA"/>
                </a:solidFill>
                <a:latin typeface="Aptos"/>
              </a:defRPr>
            </a:pPr>
            <a:r>
              <a:rPr>
                <a:solidFill>
                  <a:srgbClr val="191919"/>
                </a:solidFill>
                <a:latin typeface="Aptos"/>
              </a:rPr>
              <a:t>Website Defacement</a:t>
            </a:r>
          </a:p>
        </p:txBody>
      </p:sp>
      <p:sp>
        <p:nvSpPr>
          <p:cNvPr id="5" name="Rounded Rectangle 4"/>
          <p:cNvSpPr/>
          <p:nvPr/>
        </p:nvSpPr>
        <p:spPr>
          <a:xfrm>
            <a:off x="786384" y="1207008"/>
            <a:ext cx="1645920" cy="347472"/>
          </a:xfrm>
          <a:prstGeom prst="round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252728"/>
            <a:ext cx="1417320" cy="201168"/>
          </a:xfrm>
          <a:prstGeom prst="rect">
            <a:avLst/>
          </a:prstGeom>
          <a:noFill/>
        </p:spPr>
        <p:txBody>
          <a:bodyPr wrap="square" lIns="73152" rIns="73152" tIns="36576" bIns="36576">
            <a:spAutoFit/>
          </a:bodyPr>
          <a:lstStyle/>
          <a:p>
            <a:pPr algn="l">
              <a:defRPr sz="1000" b="1">
                <a:solidFill>
                  <a:srgbClr val="11161D"/>
                </a:solidFill>
                <a:latin typeface="Aptos"/>
              </a:defRPr>
            </a:pPr>
            <a:r>
              <a:rPr>
                <a:solidFill>
                  <a:srgbClr val="191919"/>
                </a:solidFill>
                <a:latin typeface="Aptos"/>
              </a:rPr>
              <a:t>ATTACK 27</a:t>
            </a:r>
          </a:p>
        </p:txBody>
      </p:sp>
      <p:sp>
        <p:nvSpPr>
          <p:cNvPr id="7" name="Rounded Rectangle 6"/>
          <p:cNvSpPr/>
          <p:nvPr/>
        </p:nvSpPr>
        <p:spPr>
          <a:xfrm>
            <a:off x="685800" y="1783080"/>
            <a:ext cx="10835640" cy="4297680"/>
          </a:xfrm>
          <a:prstGeom prst="roundRect">
            <a:avLst/>
          </a:prstGeom>
          <a:solidFill>
            <a:srgbClr val="F6F8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29968"/>
            <a:ext cx="10378440" cy="3749039"/>
          </a:xfrm>
          <a:prstGeom prst="rect">
            <a:avLst/>
          </a:prstGeom>
          <a:noFill/>
        </p:spPr>
        <p:txBody>
          <a:bodyPr wrap="square" lIns="164592" rIns="164592" tIns="109728" bIns="109728">
            <a:spAutoFit/>
          </a:bodyPr>
          <a:lstStyle/>
          <a:p>
            <a:pPr>
              <a:defRPr sz="1900">
                <a:solidFill>
                  <a:srgbClr val="F5F7FA"/>
                </a:solidFill>
                <a:latin typeface="Aptos"/>
              </a:defRPr>
            </a:pPr>
            <a:r>
              <a:rPr sz="1900" b="1">
                <a:solidFill>
                  <a:srgbClr val="191919"/>
                </a:solidFill>
                <a:latin typeface="Aptos"/>
              </a:rPr>
              <a:t>Website</a:t>
            </a:r>
            <a:r>
              <a:rPr sz="1900">
                <a:solidFill>
                  <a:srgbClr val="191919"/>
                </a:solidFill>
                <a:latin typeface="Aptos"/>
              </a:rPr>
              <a:t> defacement is an attack in which an </a:t>
            </a:r>
            <a:r>
              <a:rPr sz="1900" b="1">
                <a:solidFill>
                  <a:srgbClr val="191919"/>
                </a:solidFill>
                <a:latin typeface="Aptos"/>
              </a:rPr>
              <a:t>unauthorized</a:t>
            </a:r>
            <a:r>
              <a:rPr sz="1900">
                <a:solidFill>
                  <a:srgbClr val="191919"/>
                </a:solidFill>
                <a:latin typeface="Aptos"/>
              </a:rPr>
              <a:t> person changes the visible content or appearance of a </a:t>
            </a:r>
            <a:r>
              <a:rPr sz="1900" b="1">
                <a:solidFill>
                  <a:srgbClr val="191919"/>
                </a:solidFill>
                <a:latin typeface="Aptos"/>
              </a:rPr>
              <a:t>website</a:t>
            </a:r>
            <a:r>
              <a:rPr sz="1900">
                <a:solidFill>
                  <a:srgbClr val="191919"/>
                </a:solidFill>
                <a:latin typeface="Aptos"/>
              </a:rPr>
              <a:t>. The </a:t>
            </a:r>
            <a:r>
              <a:rPr sz="1900" b="1">
                <a:solidFill>
                  <a:srgbClr val="191919"/>
                </a:solidFill>
                <a:latin typeface="Aptos"/>
              </a:rPr>
              <a:t>attacker</a:t>
            </a:r>
            <a:r>
              <a:rPr sz="1900">
                <a:solidFill>
                  <a:srgbClr val="191919"/>
                </a:solidFill>
                <a:latin typeface="Aptos"/>
              </a:rPr>
              <a:t> may replace the normal homepage or other pages with </a:t>
            </a:r>
            <a:r>
              <a:rPr sz="1900" b="1">
                <a:solidFill>
                  <a:srgbClr val="191919"/>
                </a:solidFill>
                <a:latin typeface="Aptos"/>
              </a:rPr>
              <a:t>unauthorized</a:t>
            </a:r>
            <a:r>
              <a:rPr sz="1900">
                <a:solidFill>
                  <a:srgbClr val="191919"/>
                </a:solidFill>
                <a:latin typeface="Aptos"/>
              </a:rPr>
              <a:t> text, images, messages, political statements, advertisements, or other content. Defacement generally requires the </a:t>
            </a:r>
            <a:r>
              <a:rPr sz="1900" b="1">
                <a:solidFill>
                  <a:srgbClr val="191919"/>
                </a:solidFill>
                <a:latin typeface="Aptos"/>
              </a:rPr>
              <a:t>attacker</a:t>
            </a:r>
            <a:r>
              <a:rPr sz="1900">
                <a:solidFill>
                  <a:srgbClr val="191919"/>
                </a:solidFill>
                <a:latin typeface="Aptos"/>
              </a:rPr>
              <a:t> to obtain </a:t>
            </a:r>
            <a:r>
              <a:rPr sz="1900" b="1">
                <a:solidFill>
                  <a:srgbClr val="191919"/>
                </a:solidFill>
                <a:latin typeface="Aptos"/>
              </a:rPr>
              <a:t>unauthorized</a:t>
            </a:r>
            <a:r>
              <a:rPr sz="1900">
                <a:solidFill>
                  <a:srgbClr val="191919"/>
                </a:solidFill>
                <a:latin typeface="Aptos"/>
              </a:rPr>
              <a:t> access to the web </a:t>
            </a:r>
            <a:r>
              <a:rPr sz="1900" b="1">
                <a:solidFill>
                  <a:srgbClr val="191919"/>
                </a:solidFill>
                <a:latin typeface="Aptos"/>
              </a:rPr>
              <a:t>server</a:t>
            </a:r>
            <a:r>
              <a:rPr sz="1900">
                <a:solidFill>
                  <a:srgbClr val="191919"/>
                </a:solidFill>
                <a:latin typeface="Aptos"/>
              </a:rPr>
              <a:t>, content management </a:t>
            </a:r>
            <a:r>
              <a:rPr sz="1900" b="1">
                <a:solidFill>
                  <a:srgbClr val="191919"/>
                </a:solidFill>
                <a:latin typeface="Aptos"/>
              </a:rPr>
              <a:t>system</a:t>
            </a:r>
            <a:r>
              <a:rPr sz="1900">
                <a:solidFill>
                  <a:srgbClr val="191919"/>
                </a:solidFill>
                <a:latin typeface="Aptos"/>
              </a:rPr>
              <a:t>, hosting account, or another component used to publish the site. It can damage an organization's reputation and may indicate deeper compromise. Secure </a:t>
            </a:r>
            <a:r>
              <a:rPr sz="1900" b="1">
                <a:solidFill>
                  <a:srgbClr val="191919"/>
                </a:solidFill>
                <a:latin typeface="Aptos"/>
              </a:rPr>
              <a:t>authentication</a:t>
            </a:r>
            <a:r>
              <a:rPr sz="1900">
                <a:solidFill>
                  <a:srgbClr val="191919"/>
                </a:solidFill>
                <a:latin typeface="Aptos"/>
              </a:rPr>
              <a:t>, patching, access control, backups, file-integrity monitoring, and secure deployment practices help prevent and recover from defacement.</a:t>
            </a:r>
          </a:p>
        </p:txBody>
      </p:sp>
      <p:sp>
        <p:nvSpPr>
          <p:cNvPr id="9" name="TextBox 8"/>
          <p:cNvSpPr txBox="1"/>
          <p:nvPr/>
        </p:nvSpPr>
        <p:spPr>
          <a:xfrm>
            <a:off x="502920" y="6473952"/>
            <a:ext cx="11155680" cy="228600"/>
          </a:xfrm>
          <a:prstGeom prst="rect">
            <a:avLst/>
          </a:prstGeom>
          <a:noFill/>
        </p:spPr>
        <p:txBody>
          <a:bodyPr wrap="none">
            <a:spAutoFit/>
          </a:bodyPr>
          <a:lstStyle/>
          <a:p>
            <a:pPr algn="r">
              <a:defRPr sz="900">
                <a:solidFill>
                  <a:srgbClr val="B7C0CC"/>
                </a:solidFill>
                <a:latin typeface="Aptos"/>
              </a:defRPr>
            </a:pPr>
            <a:r>
              <a:rPr>
                <a:solidFill>
                  <a:srgbClr val="191919"/>
                </a:solidFill>
                <a:latin typeface="Aptos"/>
              </a:rPr>
              <a:t>Cybersecurity Study Presentation • Exam-ready definitions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146304"/>
          </a:xfrm>
          <a:prstGeom prst="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640080" cy="320040"/>
          </a:xfrm>
          <a:prstGeom prst="rect">
            <a:avLst/>
          </a:prstGeom>
          <a:noFill/>
        </p:spPr>
        <p:txBody>
          <a:bodyPr wrap="none">
            <a:spAutoFit/>
          </a:bodyPr>
          <a:lstStyle/>
          <a:p>
            <a:pPr>
              <a:defRPr sz="1500" b="1">
                <a:solidFill>
                  <a:srgbClr val="FFE25C"/>
                </a:solidFill>
              </a:defRPr>
            </a:pPr>
            <a:r>
              <a:rPr>
                <a:solidFill>
                  <a:srgbClr val="191919"/>
                </a:solidFill>
                <a:latin typeface="Aptos"/>
              </a:rPr>
              <a:t>28</a:t>
            </a:r>
          </a:p>
        </p:txBody>
      </p:sp>
      <p:sp>
        <p:nvSpPr>
          <p:cNvPr id="4" name="TextBox 3"/>
          <p:cNvSpPr txBox="1"/>
          <p:nvPr/>
        </p:nvSpPr>
        <p:spPr>
          <a:xfrm>
            <a:off x="777240" y="530352"/>
            <a:ext cx="10698480" cy="658368"/>
          </a:xfrm>
          <a:prstGeom prst="rect">
            <a:avLst/>
          </a:prstGeom>
          <a:noFill/>
        </p:spPr>
        <p:txBody>
          <a:bodyPr wrap="square" lIns="73152" rIns="73152" tIns="36576" bIns="36576">
            <a:spAutoFit/>
          </a:bodyPr>
          <a:lstStyle/>
          <a:p>
            <a:pPr algn="l">
              <a:defRPr sz="2800" b="1">
                <a:solidFill>
                  <a:srgbClr val="F5F7FA"/>
                </a:solidFill>
                <a:latin typeface="Aptos"/>
              </a:defRPr>
            </a:pPr>
            <a:r>
              <a:rPr>
                <a:solidFill>
                  <a:srgbClr val="191919"/>
                </a:solidFill>
                <a:latin typeface="Aptos"/>
              </a:rPr>
              <a:t>Drive-by Download Attack</a:t>
            </a:r>
          </a:p>
        </p:txBody>
      </p:sp>
      <p:sp>
        <p:nvSpPr>
          <p:cNvPr id="5" name="Rounded Rectangle 4"/>
          <p:cNvSpPr/>
          <p:nvPr/>
        </p:nvSpPr>
        <p:spPr>
          <a:xfrm>
            <a:off x="786384" y="1207008"/>
            <a:ext cx="1645920" cy="347472"/>
          </a:xfrm>
          <a:prstGeom prst="round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252728"/>
            <a:ext cx="1417320" cy="201168"/>
          </a:xfrm>
          <a:prstGeom prst="rect">
            <a:avLst/>
          </a:prstGeom>
          <a:noFill/>
        </p:spPr>
        <p:txBody>
          <a:bodyPr wrap="square" lIns="73152" rIns="73152" tIns="36576" bIns="36576">
            <a:spAutoFit/>
          </a:bodyPr>
          <a:lstStyle/>
          <a:p>
            <a:pPr algn="l">
              <a:defRPr sz="1000" b="1">
                <a:solidFill>
                  <a:srgbClr val="11161D"/>
                </a:solidFill>
                <a:latin typeface="Aptos"/>
              </a:defRPr>
            </a:pPr>
            <a:r>
              <a:rPr>
                <a:solidFill>
                  <a:srgbClr val="191919"/>
                </a:solidFill>
                <a:latin typeface="Aptos"/>
              </a:rPr>
              <a:t>ATTACK 28</a:t>
            </a:r>
          </a:p>
        </p:txBody>
      </p:sp>
      <p:sp>
        <p:nvSpPr>
          <p:cNvPr id="7" name="Rounded Rectangle 6"/>
          <p:cNvSpPr/>
          <p:nvPr/>
        </p:nvSpPr>
        <p:spPr>
          <a:xfrm>
            <a:off x="685800" y="1783080"/>
            <a:ext cx="10835640" cy="4297680"/>
          </a:xfrm>
          <a:prstGeom prst="roundRect">
            <a:avLst/>
          </a:prstGeom>
          <a:solidFill>
            <a:srgbClr val="F6F8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29968"/>
            <a:ext cx="10378440" cy="3749039"/>
          </a:xfrm>
          <a:prstGeom prst="rect">
            <a:avLst/>
          </a:prstGeom>
          <a:noFill/>
        </p:spPr>
        <p:txBody>
          <a:bodyPr wrap="square" lIns="164592" rIns="164592" tIns="109728" bIns="109728">
            <a:spAutoFit/>
          </a:bodyPr>
          <a:lstStyle/>
          <a:p>
            <a:pPr>
              <a:defRPr sz="1900">
                <a:solidFill>
                  <a:srgbClr val="F5F7FA"/>
                </a:solidFill>
                <a:latin typeface="Aptos"/>
              </a:defRPr>
            </a:pPr>
            <a:r>
              <a:rPr sz="1900">
                <a:solidFill>
                  <a:srgbClr val="191919"/>
                </a:solidFill>
                <a:latin typeface="Aptos"/>
              </a:rPr>
              <a:t>A drive-by download attack occurs when visiting a compromised or </a:t>
            </a:r>
            <a:r>
              <a:rPr sz="1900" b="1">
                <a:solidFill>
                  <a:srgbClr val="191919"/>
                </a:solidFill>
                <a:latin typeface="Aptos"/>
              </a:rPr>
              <a:t>malicious</a:t>
            </a:r>
            <a:r>
              <a:rPr sz="1900">
                <a:solidFill>
                  <a:srgbClr val="191919"/>
                </a:solidFill>
                <a:latin typeface="Aptos"/>
              </a:rPr>
              <a:t> </a:t>
            </a:r>
            <a:r>
              <a:rPr sz="1900" b="1">
                <a:solidFill>
                  <a:srgbClr val="191919"/>
                </a:solidFill>
                <a:latin typeface="Aptos"/>
              </a:rPr>
              <a:t>website</a:t>
            </a:r>
            <a:r>
              <a:rPr sz="1900">
                <a:solidFill>
                  <a:srgbClr val="191919"/>
                </a:solidFill>
                <a:latin typeface="Aptos"/>
              </a:rPr>
              <a:t> causes unwanted software or </a:t>
            </a:r>
            <a:r>
              <a:rPr sz="1900" b="1">
                <a:solidFill>
                  <a:srgbClr val="191919"/>
                </a:solidFill>
                <a:latin typeface="Aptos"/>
              </a:rPr>
              <a:t>malicious</a:t>
            </a:r>
            <a:r>
              <a:rPr sz="1900">
                <a:solidFill>
                  <a:srgbClr val="191919"/>
                </a:solidFill>
                <a:latin typeface="Aptos"/>
              </a:rPr>
              <a:t> content to be downloaded, and in some cases executed, on the visitor's device. The attack may exploit vulnerabilities in the browser, plugins, operating </a:t>
            </a:r>
            <a:r>
              <a:rPr sz="1900" b="1">
                <a:solidFill>
                  <a:srgbClr val="191919"/>
                </a:solidFill>
                <a:latin typeface="Aptos"/>
              </a:rPr>
              <a:t>system</a:t>
            </a:r>
            <a:r>
              <a:rPr sz="1900">
                <a:solidFill>
                  <a:srgbClr val="191919"/>
                </a:solidFill>
                <a:latin typeface="Aptos"/>
              </a:rPr>
              <a:t>, or web </a:t>
            </a:r>
            <a:r>
              <a:rPr sz="1900" b="1">
                <a:solidFill>
                  <a:srgbClr val="191919"/>
                </a:solidFill>
                <a:latin typeface="Aptos"/>
              </a:rPr>
              <a:t>application</a:t>
            </a:r>
            <a:r>
              <a:rPr sz="1900">
                <a:solidFill>
                  <a:srgbClr val="191919"/>
                </a:solidFill>
                <a:latin typeface="Aptos"/>
              </a:rPr>
              <a:t>, or may use deceptive prompts to persuade the user to install software. A </a:t>
            </a:r>
            <a:r>
              <a:rPr sz="1900" b="1">
                <a:solidFill>
                  <a:srgbClr val="191919"/>
                </a:solidFill>
                <a:latin typeface="Aptos"/>
              </a:rPr>
              <a:t>victim</a:t>
            </a:r>
            <a:r>
              <a:rPr sz="1900">
                <a:solidFill>
                  <a:srgbClr val="191919"/>
                </a:solidFill>
                <a:latin typeface="Aptos"/>
              </a:rPr>
              <a:t> may not realize that an attack occurred because it can happen during ordinary web browsing. Keeping browsers and operating </a:t>
            </a:r>
            <a:r>
              <a:rPr sz="1900" b="1">
                <a:solidFill>
                  <a:srgbClr val="191919"/>
                </a:solidFill>
                <a:latin typeface="Aptos"/>
              </a:rPr>
              <a:t>system</a:t>
            </a:r>
            <a:r>
              <a:rPr sz="1900">
                <a:solidFill>
                  <a:srgbClr val="191919"/>
                </a:solidFill>
                <a:latin typeface="Aptos"/>
              </a:rPr>
              <a:t>s updated, using security controls, limiting unnecessary plugins, and avoiding untrusted downloads can reduce the risk.</a:t>
            </a:r>
          </a:p>
        </p:txBody>
      </p:sp>
      <p:sp>
        <p:nvSpPr>
          <p:cNvPr id="9" name="TextBox 8"/>
          <p:cNvSpPr txBox="1"/>
          <p:nvPr/>
        </p:nvSpPr>
        <p:spPr>
          <a:xfrm>
            <a:off x="502920" y="6473952"/>
            <a:ext cx="11155680" cy="228600"/>
          </a:xfrm>
          <a:prstGeom prst="rect">
            <a:avLst/>
          </a:prstGeom>
          <a:noFill/>
        </p:spPr>
        <p:txBody>
          <a:bodyPr wrap="none">
            <a:spAutoFit/>
          </a:bodyPr>
          <a:lstStyle/>
          <a:p>
            <a:pPr algn="r">
              <a:defRPr sz="900">
                <a:solidFill>
                  <a:srgbClr val="B7C0CC"/>
                </a:solidFill>
                <a:latin typeface="Aptos"/>
              </a:defRPr>
            </a:pPr>
            <a:r>
              <a:rPr>
                <a:solidFill>
                  <a:srgbClr val="191919"/>
                </a:solidFill>
                <a:latin typeface="Aptos"/>
              </a:rPr>
              <a:t>Cybersecurity Study Presentation • Exam-ready definitions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146304"/>
          </a:xfrm>
          <a:prstGeom prst="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640080" cy="320040"/>
          </a:xfrm>
          <a:prstGeom prst="rect">
            <a:avLst/>
          </a:prstGeom>
          <a:noFill/>
        </p:spPr>
        <p:txBody>
          <a:bodyPr wrap="none">
            <a:spAutoFit/>
          </a:bodyPr>
          <a:lstStyle/>
          <a:p>
            <a:pPr>
              <a:defRPr sz="1500" b="1">
                <a:solidFill>
                  <a:srgbClr val="FFE25C"/>
                </a:solidFill>
              </a:defRPr>
            </a:pPr>
            <a:r>
              <a:rPr>
                <a:solidFill>
                  <a:srgbClr val="191919"/>
                </a:solidFill>
                <a:latin typeface="Aptos"/>
              </a:rPr>
              <a:t>29</a:t>
            </a:r>
          </a:p>
        </p:txBody>
      </p:sp>
      <p:sp>
        <p:nvSpPr>
          <p:cNvPr id="4" name="TextBox 3"/>
          <p:cNvSpPr txBox="1"/>
          <p:nvPr/>
        </p:nvSpPr>
        <p:spPr>
          <a:xfrm>
            <a:off x="777240" y="530352"/>
            <a:ext cx="10698480" cy="658368"/>
          </a:xfrm>
          <a:prstGeom prst="rect">
            <a:avLst/>
          </a:prstGeom>
          <a:noFill/>
        </p:spPr>
        <p:txBody>
          <a:bodyPr wrap="square" lIns="73152" rIns="73152" tIns="36576" bIns="36576">
            <a:spAutoFit/>
          </a:bodyPr>
          <a:lstStyle/>
          <a:p>
            <a:pPr algn="l">
              <a:defRPr sz="2800" b="1">
                <a:solidFill>
                  <a:srgbClr val="F5F7FA"/>
                </a:solidFill>
                <a:latin typeface="Aptos"/>
              </a:defRPr>
            </a:pPr>
            <a:r>
              <a:rPr>
                <a:solidFill>
                  <a:srgbClr val="191919"/>
                </a:solidFill>
                <a:latin typeface="Aptos"/>
              </a:rPr>
              <a:t>Replay Attack</a:t>
            </a:r>
          </a:p>
        </p:txBody>
      </p:sp>
      <p:sp>
        <p:nvSpPr>
          <p:cNvPr id="5" name="Rounded Rectangle 4"/>
          <p:cNvSpPr/>
          <p:nvPr/>
        </p:nvSpPr>
        <p:spPr>
          <a:xfrm>
            <a:off x="786384" y="1207008"/>
            <a:ext cx="1645920" cy="347472"/>
          </a:xfrm>
          <a:prstGeom prst="round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252728"/>
            <a:ext cx="1417320" cy="201168"/>
          </a:xfrm>
          <a:prstGeom prst="rect">
            <a:avLst/>
          </a:prstGeom>
          <a:noFill/>
        </p:spPr>
        <p:txBody>
          <a:bodyPr wrap="square" lIns="73152" rIns="73152" tIns="36576" bIns="36576">
            <a:spAutoFit/>
          </a:bodyPr>
          <a:lstStyle/>
          <a:p>
            <a:pPr algn="l">
              <a:defRPr sz="1000" b="1">
                <a:solidFill>
                  <a:srgbClr val="11161D"/>
                </a:solidFill>
                <a:latin typeface="Aptos"/>
              </a:defRPr>
            </a:pPr>
            <a:r>
              <a:rPr>
                <a:solidFill>
                  <a:srgbClr val="191919"/>
                </a:solidFill>
                <a:latin typeface="Aptos"/>
              </a:rPr>
              <a:t>ATTACK 29</a:t>
            </a:r>
          </a:p>
        </p:txBody>
      </p:sp>
      <p:sp>
        <p:nvSpPr>
          <p:cNvPr id="7" name="Rounded Rectangle 6"/>
          <p:cNvSpPr/>
          <p:nvPr/>
        </p:nvSpPr>
        <p:spPr>
          <a:xfrm>
            <a:off x="685800" y="1783080"/>
            <a:ext cx="10835640" cy="4297680"/>
          </a:xfrm>
          <a:prstGeom prst="roundRect">
            <a:avLst/>
          </a:prstGeom>
          <a:solidFill>
            <a:srgbClr val="F6F8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29968"/>
            <a:ext cx="10378440" cy="3749039"/>
          </a:xfrm>
          <a:prstGeom prst="rect">
            <a:avLst/>
          </a:prstGeom>
          <a:noFill/>
        </p:spPr>
        <p:txBody>
          <a:bodyPr wrap="square" lIns="164592" rIns="164592" tIns="109728" bIns="109728">
            <a:spAutoFit/>
          </a:bodyPr>
          <a:lstStyle/>
          <a:p>
            <a:pPr>
              <a:defRPr sz="1900">
                <a:solidFill>
                  <a:srgbClr val="F5F7FA"/>
                </a:solidFill>
                <a:latin typeface="Aptos"/>
              </a:defRPr>
            </a:pPr>
            <a:r>
              <a:rPr sz="1900">
                <a:solidFill>
                  <a:srgbClr val="191919"/>
                </a:solidFill>
                <a:latin typeface="Aptos"/>
              </a:rPr>
              <a:t>A replay attack occurs when an </a:t>
            </a:r>
            <a:r>
              <a:rPr sz="1900" b="1">
                <a:solidFill>
                  <a:srgbClr val="191919"/>
                </a:solidFill>
                <a:latin typeface="Aptos"/>
              </a:rPr>
              <a:t>attacker</a:t>
            </a:r>
            <a:r>
              <a:rPr sz="1900">
                <a:solidFill>
                  <a:srgbClr val="191919"/>
                </a:solidFill>
                <a:latin typeface="Aptos"/>
              </a:rPr>
              <a:t> captures a valid communication, </a:t>
            </a:r>
            <a:r>
              <a:rPr sz="1900" b="1">
                <a:solidFill>
                  <a:srgbClr val="191919"/>
                </a:solidFill>
                <a:latin typeface="Aptos"/>
              </a:rPr>
              <a:t>authentication</a:t>
            </a:r>
            <a:r>
              <a:rPr sz="1900">
                <a:solidFill>
                  <a:srgbClr val="191919"/>
                </a:solidFill>
                <a:latin typeface="Aptos"/>
              </a:rPr>
              <a:t> message, transaction, or token and later retransmits it to make the </a:t>
            </a:r>
            <a:r>
              <a:rPr sz="1900" b="1">
                <a:solidFill>
                  <a:srgbClr val="191919"/>
                </a:solidFill>
                <a:latin typeface="Aptos"/>
              </a:rPr>
              <a:t>system</a:t>
            </a:r>
            <a:r>
              <a:rPr sz="1900">
                <a:solidFill>
                  <a:srgbClr val="191919"/>
                </a:solidFill>
                <a:latin typeface="Aptos"/>
              </a:rPr>
              <a:t> accept the old information again. The </a:t>
            </a:r>
            <a:r>
              <a:rPr sz="1900" b="1">
                <a:solidFill>
                  <a:srgbClr val="191919"/>
                </a:solidFill>
                <a:latin typeface="Aptos"/>
              </a:rPr>
              <a:t>attacker</a:t>
            </a:r>
            <a:r>
              <a:rPr sz="1900">
                <a:solidFill>
                  <a:srgbClr val="191919"/>
                </a:solidFill>
                <a:latin typeface="Aptos"/>
              </a:rPr>
              <a:t> does not necessarily need to understand or decrypt the original message; the goal is to reuse a valid message at a later time. Replay attacks can affect </a:t>
            </a:r>
            <a:r>
              <a:rPr sz="1900" b="1">
                <a:solidFill>
                  <a:srgbClr val="191919"/>
                </a:solidFill>
                <a:latin typeface="Aptos"/>
              </a:rPr>
              <a:t>authentication</a:t>
            </a:r>
            <a:r>
              <a:rPr sz="1900">
                <a:solidFill>
                  <a:srgbClr val="191919"/>
                </a:solidFill>
                <a:latin typeface="Aptos"/>
              </a:rPr>
              <a:t> </a:t>
            </a:r>
            <a:r>
              <a:rPr sz="1900" b="1">
                <a:solidFill>
                  <a:srgbClr val="191919"/>
                </a:solidFill>
                <a:latin typeface="Aptos"/>
              </a:rPr>
              <a:t>system</a:t>
            </a:r>
            <a:r>
              <a:rPr sz="1900">
                <a:solidFill>
                  <a:srgbClr val="191919"/>
                </a:solidFill>
                <a:latin typeface="Aptos"/>
              </a:rPr>
              <a:t>s, payment </a:t>
            </a:r>
            <a:r>
              <a:rPr sz="1900" b="1">
                <a:solidFill>
                  <a:srgbClr val="191919"/>
                </a:solidFill>
                <a:latin typeface="Aptos"/>
              </a:rPr>
              <a:t>system</a:t>
            </a:r>
            <a:r>
              <a:rPr sz="1900">
                <a:solidFill>
                  <a:srgbClr val="191919"/>
                </a:solidFill>
                <a:latin typeface="Aptos"/>
              </a:rPr>
              <a:t>s, </a:t>
            </a:r>
            <a:r>
              <a:rPr sz="1900" b="1">
                <a:solidFill>
                  <a:srgbClr val="191919"/>
                </a:solidFill>
                <a:latin typeface="Aptos"/>
              </a:rPr>
              <a:t>network</a:t>
            </a:r>
            <a:r>
              <a:rPr sz="1900">
                <a:solidFill>
                  <a:srgbClr val="191919"/>
                </a:solidFill>
                <a:latin typeface="Aptos"/>
              </a:rPr>
              <a:t> protocols, and other communications when freshness is not properly enforced. Nonces, timestamps, sequence numbers, short-lived tokens, challenge-response mechanisms, and cryptographic integrity protections are common defenses.</a:t>
            </a:r>
          </a:p>
        </p:txBody>
      </p:sp>
      <p:sp>
        <p:nvSpPr>
          <p:cNvPr id="9" name="TextBox 8"/>
          <p:cNvSpPr txBox="1"/>
          <p:nvPr/>
        </p:nvSpPr>
        <p:spPr>
          <a:xfrm>
            <a:off x="502920" y="6473952"/>
            <a:ext cx="11155680" cy="228600"/>
          </a:xfrm>
          <a:prstGeom prst="rect">
            <a:avLst/>
          </a:prstGeom>
          <a:noFill/>
        </p:spPr>
        <p:txBody>
          <a:bodyPr wrap="none">
            <a:spAutoFit/>
          </a:bodyPr>
          <a:lstStyle/>
          <a:p>
            <a:pPr algn="r">
              <a:defRPr sz="900">
                <a:solidFill>
                  <a:srgbClr val="B7C0CC"/>
                </a:solidFill>
                <a:latin typeface="Aptos"/>
              </a:defRPr>
            </a:pPr>
            <a:r>
              <a:rPr>
                <a:solidFill>
                  <a:srgbClr val="191919"/>
                </a:solidFill>
                <a:latin typeface="Aptos"/>
              </a:rPr>
              <a:t>Cybersecurity Study Presentation • Exam-ready definitions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146304"/>
          </a:xfrm>
          <a:prstGeom prst="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640080" cy="320040"/>
          </a:xfrm>
          <a:prstGeom prst="rect">
            <a:avLst/>
          </a:prstGeom>
          <a:noFill/>
        </p:spPr>
        <p:txBody>
          <a:bodyPr wrap="none">
            <a:spAutoFit/>
          </a:bodyPr>
          <a:lstStyle/>
          <a:p>
            <a:pPr>
              <a:defRPr sz="1500" b="1">
                <a:solidFill>
                  <a:srgbClr val="FFE25C"/>
                </a:solidFill>
              </a:defRPr>
            </a:pPr>
            <a:r>
              <a:rPr>
                <a:solidFill>
                  <a:srgbClr val="191919"/>
                </a:solidFill>
                <a:latin typeface="Aptos"/>
              </a:rPr>
              <a:t>30</a:t>
            </a:r>
          </a:p>
        </p:txBody>
      </p:sp>
      <p:sp>
        <p:nvSpPr>
          <p:cNvPr id="4" name="TextBox 3"/>
          <p:cNvSpPr txBox="1"/>
          <p:nvPr/>
        </p:nvSpPr>
        <p:spPr>
          <a:xfrm>
            <a:off x="777240" y="530352"/>
            <a:ext cx="10698480" cy="658368"/>
          </a:xfrm>
          <a:prstGeom prst="rect">
            <a:avLst/>
          </a:prstGeom>
          <a:noFill/>
        </p:spPr>
        <p:txBody>
          <a:bodyPr wrap="square" lIns="73152" rIns="73152" tIns="36576" bIns="36576">
            <a:spAutoFit/>
          </a:bodyPr>
          <a:lstStyle/>
          <a:p>
            <a:pPr algn="l">
              <a:defRPr sz="2800" b="1">
                <a:solidFill>
                  <a:srgbClr val="F5F7FA"/>
                </a:solidFill>
                <a:latin typeface="Aptos"/>
              </a:defRPr>
            </a:pPr>
            <a:r>
              <a:rPr>
                <a:solidFill>
                  <a:srgbClr val="191919"/>
                </a:solidFill>
                <a:latin typeface="Aptos"/>
              </a:rPr>
              <a:t>Privilege Escalation Attack</a:t>
            </a:r>
          </a:p>
        </p:txBody>
      </p:sp>
      <p:sp>
        <p:nvSpPr>
          <p:cNvPr id="5" name="Rounded Rectangle 4"/>
          <p:cNvSpPr/>
          <p:nvPr/>
        </p:nvSpPr>
        <p:spPr>
          <a:xfrm>
            <a:off x="786384" y="1207008"/>
            <a:ext cx="1645920" cy="347472"/>
          </a:xfrm>
          <a:prstGeom prst="round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252728"/>
            <a:ext cx="1417320" cy="201168"/>
          </a:xfrm>
          <a:prstGeom prst="rect">
            <a:avLst/>
          </a:prstGeom>
          <a:noFill/>
        </p:spPr>
        <p:txBody>
          <a:bodyPr wrap="square" lIns="73152" rIns="73152" tIns="36576" bIns="36576">
            <a:spAutoFit/>
          </a:bodyPr>
          <a:lstStyle/>
          <a:p>
            <a:pPr algn="l">
              <a:defRPr sz="1000" b="1">
                <a:solidFill>
                  <a:srgbClr val="11161D"/>
                </a:solidFill>
                <a:latin typeface="Aptos"/>
              </a:defRPr>
            </a:pPr>
            <a:r>
              <a:rPr>
                <a:solidFill>
                  <a:srgbClr val="191919"/>
                </a:solidFill>
                <a:latin typeface="Aptos"/>
              </a:rPr>
              <a:t>ATTACK 30</a:t>
            </a:r>
          </a:p>
        </p:txBody>
      </p:sp>
      <p:sp>
        <p:nvSpPr>
          <p:cNvPr id="7" name="Rounded Rectangle 6"/>
          <p:cNvSpPr/>
          <p:nvPr/>
        </p:nvSpPr>
        <p:spPr>
          <a:xfrm>
            <a:off x="685800" y="1783080"/>
            <a:ext cx="10835640" cy="4297680"/>
          </a:xfrm>
          <a:prstGeom prst="roundRect">
            <a:avLst/>
          </a:prstGeom>
          <a:solidFill>
            <a:srgbClr val="F6F8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29968"/>
            <a:ext cx="10378440" cy="3749039"/>
          </a:xfrm>
          <a:prstGeom prst="rect">
            <a:avLst/>
          </a:prstGeom>
          <a:noFill/>
        </p:spPr>
        <p:txBody>
          <a:bodyPr wrap="square" lIns="164592" rIns="164592" tIns="109728" bIns="109728">
            <a:spAutoFit/>
          </a:bodyPr>
          <a:lstStyle/>
          <a:p>
            <a:pPr>
              <a:defRPr sz="1900">
                <a:solidFill>
                  <a:srgbClr val="F5F7FA"/>
                </a:solidFill>
                <a:latin typeface="Aptos"/>
              </a:defRPr>
            </a:pPr>
            <a:r>
              <a:rPr sz="1900">
                <a:solidFill>
                  <a:srgbClr val="191919"/>
                </a:solidFill>
                <a:latin typeface="Aptos"/>
              </a:rPr>
              <a:t>A privilege escalation attack occurs when an </a:t>
            </a:r>
            <a:r>
              <a:rPr sz="1900" b="1">
                <a:solidFill>
                  <a:srgbClr val="191919"/>
                </a:solidFill>
                <a:latin typeface="Aptos"/>
              </a:rPr>
              <a:t>attacker</a:t>
            </a:r>
            <a:r>
              <a:rPr sz="1900">
                <a:solidFill>
                  <a:srgbClr val="191919"/>
                </a:solidFill>
                <a:latin typeface="Aptos"/>
              </a:rPr>
              <a:t> who has limited access obtains permissions or capabilities beyond those originally assigned to the account or process. In vertical privilege escalation, a lower-privileged user attempts to obtain higher privileges such as administrator or root access. In horizontal privilege escalation, an </a:t>
            </a:r>
            <a:r>
              <a:rPr sz="1900" b="1">
                <a:solidFill>
                  <a:srgbClr val="191919"/>
                </a:solidFill>
                <a:latin typeface="Aptos"/>
              </a:rPr>
              <a:t>attacker</a:t>
            </a:r>
            <a:r>
              <a:rPr sz="1900">
                <a:solidFill>
                  <a:srgbClr val="191919"/>
                </a:solidFill>
                <a:latin typeface="Aptos"/>
              </a:rPr>
              <a:t> accesses resources belonging to another user with similar privilege levels. The attack may exploit software vulnerabilities, incorrect permissions, weak configurations, or stolen privileged </a:t>
            </a:r>
            <a:r>
              <a:rPr sz="1900" b="1">
                <a:solidFill>
                  <a:srgbClr val="191919"/>
                </a:solidFill>
                <a:latin typeface="Aptos"/>
              </a:rPr>
              <a:t>credentials</a:t>
            </a:r>
            <a:r>
              <a:rPr sz="1900">
                <a:solidFill>
                  <a:srgbClr val="191919"/>
                </a:solidFill>
                <a:latin typeface="Aptos"/>
              </a:rPr>
              <a:t>. Least privilege, secure configuration, patching, access reviews, and strong privilege separation help reduce the risk.</a:t>
            </a:r>
          </a:p>
        </p:txBody>
      </p:sp>
      <p:sp>
        <p:nvSpPr>
          <p:cNvPr id="9" name="TextBox 8"/>
          <p:cNvSpPr txBox="1"/>
          <p:nvPr/>
        </p:nvSpPr>
        <p:spPr>
          <a:xfrm>
            <a:off x="502920" y="6473952"/>
            <a:ext cx="11155680" cy="228600"/>
          </a:xfrm>
          <a:prstGeom prst="rect">
            <a:avLst/>
          </a:prstGeom>
          <a:noFill/>
        </p:spPr>
        <p:txBody>
          <a:bodyPr wrap="none">
            <a:spAutoFit/>
          </a:bodyPr>
          <a:lstStyle/>
          <a:p>
            <a:pPr algn="r">
              <a:defRPr sz="900">
                <a:solidFill>
                  <a:srgbClr val="B7C0CC"/>
                </a:solidFill>
                <a:latin typeface="Aptos"/>
              </a:defRPr>
            </a:pPr>
            <a:r>
              <a:rPr>
                <a:solidFill>
                  <a:srgbClr val="191919"/>
                </a:solidFill>
                <a:latin typeface="Aptos"/>
              </a:rPr>
              <a:t>Cybersecurity Study Presentation • Exam-ready definitions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146304"/>
          </a:xfrm>
          <a:prstGeom prst="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640080" cy="320040"/>
          </a:xfrm>
          <a:prstGeom prst="rect">
            <a:avLst/>
          </a:prstGeom>
          <a:noFill/>
        </p:spPr>
        <p:txBody>
          <a:bodyPr wrap="none">
            <a:spAutoFit/>
          </a:bodyPr>
          <a:lstStyle/>
          <a:p>
            <a:pPr>
              <a:defRPr sz="1500" b="1">
                <a:solidFill>
                  <a:srgbClr val="FFE25C"/>
                </a:solidFill>
              </a:defRPr>
            </a:pPr>
            <a:r>
              <a:rPr>
                <a:solidFill>
                  <a:srgbClr val="191919"/>
                </a:solidFill>
                <a:latin typeface="Aptos"/>
              </a:rPr>
              <a:t>31</a:t>
            </a:r>
          </a:p>
        </p:txBody>
      </p:sp>
      <p:sp>
        <p:nvSpPr>
          <p:cNvPr id="4" name="TextBox 3"/>
          <p:cNvSpPr txBox="1"/>
          <p:nvPr/>
        </p:nvSpPr>
        <p:spPr>
          <a:xfrm>
            <a:off x="777240" y="530352"/>
            <a:ext cx="10698480" cy="658368"/>
          </a:xfrm>
          <a:prstGeom prst="rect">
            <a:avLst/>
          </a:prstGeom>
          <a:noFill/>
        </p:spPr>
        <p:txBody>
          <a:bodyPr wrap="square" lIns="73152" rIns="73152" tIns="36576" bIns="36576">
            <a:spAutoFit/>
          </a:bodyPr>
          <a:lstStyle/>
          <a:p>
            <a:pPr algn="l">
              <a:defRPr sz="2800" b="1">
                <a:solidFill>
                  <a:srgbClr val="F5F7FA"/>
                </a:solidFill>
                <a:latin typeface="Aptos"/>
              </a:defRPr>
            </a:pPr>
            <a:r>
              <a:rPr>
                <a:solidFill>
                  <a:srgbClr val="191919"/>
                </a:solidFill>
                <a:latin typeface="Aptos"/>
              </a:rPr>
              <a:t>Remote Code Execution (RCE)</a:t>
            </a:r>
          </a:p>
        </p:txBody>
      </p:sp>
      <p:sp>
        <p:nvSpPr>
          <p:cNvPr id="5" name="Rounded Rectangle 4"/>
          <p:cNvSpPr/>
          <p:nvPr/>
        </p:nvSpPr>
        <p:spPr>
          <a:xfrm>
            <a:off x="786384" y="1207008"/>
            <a:ext cx="1645920" cy="347472"/>
          </a:xfrm>
          <a:prstGeom prst="round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252728"/>
            <a:ext cx="1417320" cy="201168"/>
          </a:xfrm>
          <a:prstGeom prst="rect">
            <a:avLst/>
          </a:prstGeom>
          <a:noFill/>
        </p:spPr>
        <p:txBody>
          <a:bodyPr wrap="square" lIns="73152" rIns="73152" tIns="36576" bIns="36576">
            <a:spAutoFit/>
          </a:bodyPr>
          <a:lstStyle/>
          <a:p>
            <a:pPr algn="l">
              <a:defRPr sz="1000" b="1">
                <a:solidFill>
                  <a:srgbClr val="11161D"/>
                </a:solidFill>
                <a:latin typeface="Aptos"/>
              </a:defRPr>
            </a:pPr>
            <a:r>
              <a:rPr>
                <a:solidFill>
                  <a:srgbClr val="191919"/>
                </a:solidFill>
                <a:latin typeface="Aptos"/>
              </a:rPr>
              <a:t>ATTACK 31</a:t>
            </a:r>
          </a:p>
        </p:txBody>
      </p:sp>
      <p:sp>
        <p:nvSpPr>
          <p:cNvPr id="7" name="Rounded Rectangle 6"/>
          <p:cNvSpPr/>
          <p:nvPr/>
        </p:nvSpPr>
        <p:spPr>
          <a:xfrm>
            <a:off x="685800" y="1783080"/>
            <a:ext cx="10835640" cy="4297680"/>
          </a:xfrm>
          <a:prstGeom prst="roundRect">
            <a:avLst/>
          </a:prstGeom>
          <a:solidFill>
            <a:srgbClr val="F6F8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29968"/>
            <a:ext cx="10378440" cy="3749039"/>
          </a:xfrm>
          <a:prstGeom prst="rect">
            <a:avLst/>
          </a:prstGeom>
          <a:noFill/>
        </p:spPr>
        <p:txBody>
          <a:bodyPr wrap="square" lIns="164592" rIns="164592" tIns="109728" bIns="109728">
            <a:spAutoFit/>
          </a:bodyPr>
          <a:lstStyle/>
          <a:p>
            <a:pPr>
              <a:defRPr sz="1900">
                <a:solidFill>
                  <a:srgbClr val="F5F7FA"/>
                </a:solidFill>
                <a:latin typeface="Aptos"/>
              </a:defRPr>
            </a:pPr>
            <a:r>
              <a:rPr sz="1900">
                <a:solidFill>
                  <a:srgbClr val="191919"/>
                </a:solidFill>
                <a:latin typeface="Aptos"/>
              </a:rPr>
              <a:t>Remote Code Execution (RCE) is a security condition in which an </a:t>
            </a:r>
            <a:r>
              <a:rPr sz="1900" b="1">
                <a:solidFill>
                  <a:srgbClr val="191919"/>
                </a:solidFill>
                <a:latin typeface="Aptos"/>
              </a:rPr>
              <a:t>attacker</a:t>
            </a:r>
            <a:r>
              <a:rPr sz="1900">
                <a:solidFill>
                  <a:srgbClr val="191919"/>
                </a:solidFill>
                <a:latin typeface="Aptos"/>
              </a:rPr>
              <a:t> is able to cause arbitrary code or commands to execute on a target </a:t>
            </a:r>
            <a:r>
              <a:rPr sz="1900" b="1">
                <a:solidFill>
                  <a:srgbClr val="191919"/>
                </a:solidFill>
                <a:latin typeface="Aptos"/>
              </a:rPr>
              <a:t>system</a:t>
            </a:r>
            <a:r>
              <a:rPr sz="1900">
                <a:solidFill>
                  <a:srgbClr val="191919"/>
                </a:solidFill>
                <a:latin typeface="Aptos"/>
              </a:rPr>
              <a:t> from a remote location. RCE may result from vulnerabilities such as unsafe deserialization, command injection, memory corruption, insecure software components, or other flaws that allow </a:t>
            </a:r>
            <a:r>
              <a:rPr sz="1900" b="1">
                <a:solidFill>
                  <a:srgbClr val="191919"/>
                </a:solidFill>
                <a:latin typeface="Aptos"/>
              </a:rPr>
              <a:t>attacker</a:t>
            </a:r>
            <a:r>
              <a:rPr sz="1900">
                <a:solidFill>
                  <a:srgbClr val="191919"/>
                </a:solidFill>
                <a:latin typeface="Aptos"/>
              </a:rPr>
              <a:t>-controlled input to reach an execution path. Successful RCE can provide a powerful foothold because the </a:t>
            </a:r>
            <a:r>
              <a:rPr sz="1900" b="1">
                <a:solidFill>
                  <a:srgbClr val="191919"/>
                </a:solidFill>
                <a:latin typeface="Aptos"/>
              </a:rPr>
              <a:t>attacker</a:t>
            </a:r>
            <a:r>
              <a:rPr sz="1900">
                <a:solidFill>
                  <a:srgbClr val="191919"/>
                </a:solidFill>
                <a:latin typeface="Aptos"/>
              </a:rPr>
              <a:t> may execute actions with the privileges of the vulnerable service. Patching, input validation, isolation, least privilege, secure coding, and monitoring are important defenses.</a:t>
            </a:r>
          </a:p>
        </p:txBody>
      </p:sp>
      <p:sp>
        <p:nvSpPr>
          <p:cNvPr id="9" name="TextBox 8"/>
          <p:cNvSpPr txBox="1"/>
          <p:nvPr/>
        </p:nvSpPr>
        <p:spPr>
          <a:xfrm>
            <a:off x="502920" y="6473952"/>
            <a:ext cx="11155680" cy="228600"/>
          </a:xfrm>
          <a:prstGeom prst="rect">
            <a:avLst/>
          </a:prstGeom>
          <a:noFill/>
        </p:spPr>
        <p:txBody>
          <a:bodyPr wrap="none">
            <a:spAutoFit/>
          </a:bodyPr>
          <a:lstStyle/>
          <a:p>
            <a:pPr algn="r">
              <a:defRPr sz="900">
                <a:solidFill>
                  <a:srgbClr val="B7C0CC"/>
                </a:solidFill>
                <a:latin typeface="Aptos"/>
              </a:defRPr>
            </a:pPr>
            <a:r>
              <a:rPr>
                <a:solidFill>
                  <a:srgbClr val="191919"/>
                </a:solidFill>
                <a:latin typeface="Aptos"/>
              </a:rPr>
              <a:t>Cybersecurity Study Presentation • Exam-ready definitions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146304"/>
          </a:xfrm>
          <a:prstGeom prst="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640080" cy="320040"/>
          </a:xfrm>
          <a:prstGeom prst="rect">
            <a:avLst/>
          </a:prstGeom>
          <a:noFill/>
        </p:spPr>
        <p:txBody>
          <a:bodyPr wrap="none">
            <a:spAutoFit/>
          </a:bodyPr>
          <a:lstStyle/>
          <a:p>
            <a:pPr>
              <a:defRPr sz="1500" b="1">
                <a:solidFill>
                  <a:srgbClr val="FFE25C"/>
                </a:solidFill>
              </a:defRPr>
            </a:pPr>
            <a:r>
              <a:rPr>
                <a:solidFill>
                  <a:srgbClr val="191919"/>
                </a:solidFill>
                <a:latin typeface="Aptos"/>
              </a:rPr>
              <a:t>32</a:t>
            </a:r>
          </a:p>
        </p:txBody>
      </p:sp>
      <p:sp>
        <p:nvSpPr>
          <p:cNvPr id="4" name="TextBox 3"/>
          <p:cNvSpPr txBox="1"/>
          <p:nvPr/>
        </p:nvSpPr>
        <p:spPr>
          <a:xfrm>
            <a:off x="777240" y="530352"/>
            <a:ext cx="10698480" cy="658368"/>
          </a:xfrm>
          <a:prstGeom prst="rect">
            <a:avLst/>
          </a:prstGeom>
          <a:noFill/>
        </p:spPr>
        <p:txBody>
          <a:bodyPr wrap="square" lIns="73152" rIns="73152" tIns="36576" bIns="36576">
            <a:spAutoFit/>
          </a:bodyPr>
          <a:lstStyle/>
          <a:p>
            <a:pPr algn="l">
              <a:defRPr sz="2800" b="1">
                <a:solidFill>
                  <a:srgbClr val="F5F7FA"/>
                </a:solidFill>
                <a:latin typeface="Aptos"/>
              </a:defRPr>
            </a:pPr>
            <a:r>
              <a:rPr>
                <a:solidFill>
                  <a:srgbClr val="191919"/>
                </a:solidFill>
                <a:latin typeface="Aptos"/>
              </a:rPr>
              <a:t>Directory Traversal Attack</a:t>
            </a:r>
          </a:p>
        </p:txBody>
      </p:sp>
      <p:sp>
        <p:nvSpPr>
          <p:cNvPr id="5" name="Rounded Rectangle 4"/>
          <p:cNvSpPr/>
          <p:nvPr/>
        </p:nvSpPr>
        <p:spPr>
          <a:xfrm>
            <a:off x="786384" y="1207008"/>
            <a:ext cx="1645920" cy="347472"/>
          </a:xfrm>
          <a:prstGeom prst="round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252728"/>
            <a:ext cx="1417320" cy="201168"/>
          </a:xfrm>
          <a:prstGeom prst="rect">
            <a:avLst/>
          </a:prstGeom>
          <a:noFill/>
        </p:spPr>
        <p:txBody>
          <a:bodyPr wrap="square" lIns="73152" rIns="73152" tIns="36576" bIns="36576">
            <a:spAutoFit/>
          </a:bodyPr>
          <a:lstStyle/>
          <a:p>
            <a:pPr algn="l">
              <a:defRPr sz="1000" b="1">
                <a:solidFill>
                  <a:srgbClr val="11161D"/>
                </a:solidFill>
                <a:latin typeface="Aptos"/>
              </a:defRPr>
            </a:pPr>
            <a:r>
              <a:rPr>
                <a:solidFill>
                  <a:srgbClr val="191919"/>
                </a:solidFill>
                <a:latin typeface="Aptos"/>
              </a:rPr>
              <a:t>ATTACK 32</a:t>
            </a:r>
          </a:p>
        </p:txBody>
      </p:sp>
      <p:sp>
        <p:nvSpPr>
          <p:cNvPr id="7" name="Rounded Rectangle 6"/>
          <p:cNvSpPr/>
          <p:nvPr/>
        </p:nvSpPr>
        <p:spPr>
          <a:xfrm>
            <a:off x="685800" y="1783080"/>
            <a:ext cx="10835640" cy="4297680"/>
          </a:xfrm>
          <a:prstGeom prst="roundRect">
            <a:avLst/>
          </a:prstGeom>
          <a:solidFill>
            <a:srgbClr val="F6F8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29968"/>
            <a:ext cx="10378440" cy="3749039"/>
          </a:xfrm>
          <a:prstGeom prst="rect">
            <a:avLst/>
          </a:prstGeom>
          <a:noFill/>
        </p:spPr>
        <p:txBody>
          <a:bodyPr wrap="square" lIns="164592" rIns="164592" tIns="109728" bIns="109728">
            <a:spAutoFit/>
          </a:bodyPr>
          <a:lstStyle/>
          <a:p>
            <a:pPr>
              <a:defRPr sz="1900">
                <a:solidFill>
                  <a:srgbClr val="F5F7FA"/>
                </a:solidFill>
                <a:latin typeface="Aptos"/>
              </a:defRPr>
            </a:pPr>
            <a:r>
              <a:rPr sz="1900">
                <a:solidFill>
                  <a:srgbClr val="191919"/>
                </a:solidFill>
                <a:latin typeface="Aptos"/>
              </a:rPr>
              <a:t>A directory traversal attack, also called path traversal, occurs when an </a:t>
            </a:r>
            <a:r>
              <a:rPr sz="1900" b="1">
                <a:solidFill>
                  <a:srgbClr val="191919"/>
                </a:solidFill>
                <a:latin typeface="Aptos"/>
              </a:rPr>
              <a:t>attacker</a:t>
            </a:r>
            <a:r>
              <a:rPr sz="1900">
                <a:solidFill>
                  <a:srgbClr val="191919"/>
                </a:solidFill>
                <a:latin typeface="Aptos"/>
              </a:rPr>
              <a:t> manipulates a file or directory path supplied to an </a:t>
            </a:r>
            <a:r>
              <a:rPr sz="1900" b="1">
                <a:solidFill>
                  <a:srgbClr val="191919"/>
                </a:solidFill>
                <a:latin typeface="Aptos"/>
              </a:rPr>
              <a:t>application</a:t>
            </a:r>
            <a:r>
              <a:rPr sz="1900">
                <a:solidFill>
                  <a:srgbClr val="191919"/>
                </a:solidFill>
                <a:latin typeface="Aptos"/>
              </a:rPr>
              <a:t> so that the </a:t>
            </a:r>
            <a:r>
              <a:rPr sz="1900" b="1">
                <a:solidFill>
                  <a:srgbClr val="191919"/>
                </a:solidFill>
                <a:latin typeface="Aptos"/>
              </a:rPr>
              <a:t>application</a:t>
            </a:r>
            <a:r>
              <a:rPr sz="1900">
                <a:solidFill>
                  <a:srgbClr val="191919"/>
                </a:solidFill>
                <a:latin typeface="Aptos"/>
              </a:rPr>
              <a:t> accesses files outside the intended directory. The attack takes advantage of inadequate validation of file paths and can expose configuration files, source code, </a:t>
            </a:r>
            <a:r>
              <a:rPr sz="1900" b="1">
                <a:solidFill>
                  <a:srgbClr val="191919"/>
                </a:solidFill>
                <a:latin typeface="Aptos"/>
              </a:rPr>
              <a:t>credentials</a:t>
            </a:r>
            <a:r>
              <a:rPr sz="1900">
                <a:solidFill>
                  <a:srgbClr val="191919"/>
                </a:solidFill>
                <a:latin typeface="Aptos"/>
              </a:rPr>
              <a:t>, or other sensitive resources. In more severe cases, unsafe file handling can also contribute to </a:t>
            </a:r>
            <a:r>
              <a:rPr sz="1900" b="1">
                <a:solidFill>
                  <a:srgbClr val="191919"/>
                </a:solidFill>
                <a:latin typeface="Aptos"/>
              </a:rPr>
              <a:t>unauthorized</a:t>
            </a:r>
            <a:r>
              <a:rPr sz="1900">
                <a:solidFill>
                  <a:srgbClr val="191919"/>
                </a:solidFill>
                <a:latin typeface="Aptos"/>
              </a:rPr>
              <a:t> modification or code execution. </a:t>
            </a:r>
            <a:r>
              <a:rPr sz="1900" b="1">
                <a:solidFill>
                  <a:srgbClr val="191919"/>
                </a:solidFill>
                <a:latin typeface="Aptos"/>
              </a:rPr>
              <a:t>Application</a:t>
            </a:r>
            <a:r>
              <a:rPr sz="1900">
                <a:solidFill>
                  <a:srgbClr val="191919"/>
                </a:solidFill>
                <a:latin typeface="Aptos"/>
              </a:rPr>
              <a:t>s should avoid constructing file</a:t>
            </a:r>
            <a:r>
              <a:rPr sz="1900" b="1">
                <a:solidFill>
                  <a:srgbClr val="191919"/>
                </a:solidFill>
                <a:latin typeface="Aptos"/>
              </a:rPr>
              <a:t>system</a:t>
            </a:r>
            <a:r>
              <a:rPr sz="1900">
                <a:solidFill>
                  <a:srgbClr val="191919"/>
                </a:solidFill>
                <a:latin typeface="Aptos"/>
              </a:rPr>
              <a:t> paths directly from </a:t>
            </a:r>
            <a:r>
              <a:rPr sz="1900" b="1">
                <a:solidFill>
                  <a:srgbClr val="191919"/>
                </a:solidFill>
                <a:latin typeface="Aptos"/>
              </a:rPr>
              <a:t>untrusted input</a:t>
            </a:r>
            <a:r>
              <a:rPr sz="1900">
                <a:solidFill>
                  <a:srgbClr val="191919"/>
                </a:solidFill>
                <a:latin typeface="Aptos"/>
              </a:rPr>
              <a:t>, use safe path APIs, apply allow-list validation, enforce permissions, and isolate sensitive files.</a:t>
            </a:r>
          </a:p>
        </p:txBody>
      </p:sp>
      <p:sp>
        <p:nvSpPr>
          <p:cNvPr id="9" name="TextBox 8"/>
          <p:cNvSpPr txBox="1"/>
          <p:nvPr/>
        </p:nvSpPr>
        <p:spPr>
          <a:xfrm>
            <a:off x="502920" y="6473952"/>
            <a:ext cx="11155680" cy="228600"/>
          </a:xfrm>
          <a:prstGeom prst="rect">
            <a:avLst/>
          </a:prstGeom>
          <a:noFill/>
        </p:spPr>
        <p:txBody>
          <a:bodyPr wrap="none">
            <a:spAutoFit/>
          </a:bodyPr>
          <a:lstStyle/>
          <a:p>
            <a:pPr algn="r">
              <a:defRPr sz="900">
                <a:solidFill>
                  <a:srgbClr val="B7C0CC"/>
                </a:solidFill>
                <a:latin typeface="Aptos"/>
              </a:defRPr>
            </a:pPr>
            <a:r>
              <a:rPr>
                <a:solidFill>
                  <a:srgbClr val="191919"/>
                </a:solidFill>
                <a:latin typeface="Aptos"/>
              </a:rPr>
              <a:t>Cybersecurity Study Presentation • Exam-ready definitions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146304"/>
          </a:xfrm>
          <a:prstGeom prst="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640080" cy="320040"/>
          </a:xfrm>
          <a:prstGeom prst="rect">
            <a:avLst/>
          </a:prstGeom>
          <a:noFill/>
        </p:spPr>
        <p:txBody>
          <a:bodyPr wrap="none">
            <a:spAutoFit/>
          </a:bodyPr>
          <a:lstStyle/>
          <a:p>
            <a:pPr>
              <a:defRPr sz="1500" b="1">
                <a:solidFill>
                  <a:srgbClr val="FFE25C"/>
                </a:solidFill>
              </a:defRPr>
            </a:pPr>
            <a:r>
              <a:rPr>
                <a:solidFill>
                  <a:srgbClr val="191919"/>
                </a:solidFill>
                <a:latin typeface="Aptos"/>
              </a:rPr>
              <a:t>33</a:t>
            </a:r>
          </a:p>
        </p:txBody>
      </p:sp>
      <p:sp>
        <p:nvSpPr>
          <p:cNvPr id="4" name="TextBox 3"/>
          <p:cNvSpPr txBox="1"/>
          <p:nvPr/>
        </p:nvSpPr>
        <p:spPr>
          <a:xfrm>
            <a:off x="777240" y="530352"/>
            <a:ext cx="10698480" cy="658368"/>
          </a:xfrm>
          <a:prstGeom prst="rect">
            <a:avLst/>
          </a:prstGeom>
          <a:noFill/>
        </p:spPr>
        <p:txBody>
          <a:bodyPr wrap="square" lIns="73152" rIns="73152" tIns="36576" bIns="36576">
            <a:spAutoFit/>
          </a:bodyPr>
          <a:lstStyle/>
          <a:p>
            <a:pPr algn="l">
              <a:defRPr sz="2800" b="1">
                <a:solidFill>
                  <a:srgbClr val="F5F7FA"/>
                </a:solidFill>
                <a:latin typeface="Aptos"/>
              </a:defRPr>
            </a:pPr>
            <a:r>
              <a:rPr>
                <a:solidFill>
                  <a:srgbClr val="191919"/>
                </a:solidFill>
                <a:latin typeface="Aptos"/>
              </a:rPr>
              <a:t>LDAP Injection</a:t>
            </a:r>
          </a:p>
        </p:txBody>
      </p:sp>
      <p:sp>
        <p:nvSpPr>
          <p:cNvPr id="5" name="Rounded Rectangle 4"/>
          <p:cNvSpPr/>
          <p:nvPr/>
        </p:nvSpPr>
        <p:spPr>
          <a:xfrm>
            <a:off x="786384" y="1207008"/>
            <a:ext cx="1645920" cy="347472"/>
          </a:xfrm>
          <a:prstGeom prst="round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252728"/>
            <a:ext cx="1417320" cy="201168"/>
          </a:xfrm>
          <a:prstGeom prst="rect">
            <a:avLst/>
          </a:prstGeom>
          <a:noFill/>
        </p:spPr>
        <p:txBody>
          <a:bodyPr wrap="square" lIns="73152" rIns="73152" tIns="36576" bIns="36576">
            <a:spAutoFit/>
          </a:bodyPr>
          <a:lstStyle/>
          <a:p>
            <a:pPr algn="l">
              <a:defRPr sz="1000" b="1">
                <a:solidFill>
                  <a:srgbClr val="11161D"/>
                </a:solidFill>
                <a:latin typeface="Aptos"/>
              </a:defRPr>
            </a:pPr>
            <a:r>
              <a:rPr>
                <a:solidFill>
                  <a:srgbClr val="191919"/>
                </a:solidFill>
                <a:latin typeface="Aptos"/>
              </a:rPr>
              <a:t>ATTACK 33</a:t>
            </a:r>
          </a:p>
        </p:txBody>
      </p:sp>
      <p:sp>
        <p:nvSpPr>
          <p:cNvPr id="7" name="Rounded Rectangle 6"/>
          <p:cNvSpPr/>
          <p:nvPr/>
        </p:nvSpPr>
        <p:spPr>
          <a:xfrm>
            <a:off x="685800" y="1783080"/>
            <a:ext cx="10835640" cy="4297680"/>
          </a:xfrm>
          <a:prstGeom prst="roundRect">
            <a:avLst/>
          </a:prstGeom>
          <a:solidFill>
            <a:srgbClr val="F6F8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29968"/>
            <a:ext cx="10378440" cy="3749039"/>
          </a:xfrm>
          <a:prstGeom prst="rect">
            <a:avLst/>
          </a:prstGeom>
          <a:noFill/>
        </p:spPr>
        <p:txBody>
          <a:bodyPr wrap="square" lIns="164592" rIns="164592" tIns="109728" bIns="109728">
            <a:spAutoFit/>
          </a:bodyPr>
          <a:lstStyle/>
          <a:p>
            <a:pPr>
              <a:defRPr sz="1900">
                <a:solidFill>
                  <a:srgbClr val="F5F7FA"/>
                </a:solidFill>
                <a:latin typeface="Aptos"/>
              </a:defRPr>
            </a:pPr>
            <a:r>
              <a:rPr sz="1900">
                <a:solidFill>
                  <a:srgbClr val="191919"/>
                </a:solidFill>
                <a:latin typeface="Aptos"/>
              </a:rPr>
              <a:t>LDAP Injection is an attack against </a:t>
            </a:r>
            <a:r>
              <a:rPr sz="1900" b="1">
                <a:solidFill>
                  <a:srgbClr val="191919"/>
                </a:solidFill>
                <a:latin typeface="Aptos"/>
              </a:rPr>
              <a:t>application</a:t>
            </a:r>
            <a:r>
              <a:rPr sz="1900">
                <a:solidFill>
                  <a:srgbClr val="191919"/>
                </a:solidFill>
                <a:latin typeface="Aptos"/>
              </a:rPr>
              <a:t>s that construct Lightweight Directory Access Protocol (LDAP) queries or filters using untrusted user input without proper validation or escaping. By supplying specially crafted input, an </a:t>
            </a:r>
            <a:r>
              <a:rPr sz="1900" b="1">
                <a:solidFill>
                  <a:srgbClr val="191919"/>
                </a:solidFill>
                <a:latin typeface="Aptos"/>
              </a:rPr>
              <a:t>attacker</a:t>
            </a:r>
            <a:r>
              <a:rPr sz="1900">
                <a:solidFill>
                  <a:srgbClr val="191919"/>
                </a:solidFill>
                <a:latin typeface="Aptos"/>
              </a:rPr>
              <a:t> may alter the intended LDAP statement and influence directory searches or operations. Depending on the </a:t>
            </a:r>
            <a:r>
              <a:rPr sz="1900" b="1">
                <a:solidFill>
                  <a:srgbClr val="191919"/>
                </a:solidFill>
                <a:latin typeface="Aptos"/>
              </a:rPr>
              <a:t>application</a:t>
            </a:r>
            <a:r>
              <a:rPr sz="1900">
                <a:solidFill>
                  <a:srgbClr val="191919"/>
                </a:solidFill>
                <a:latin typeface="Aptos"/>
              </a:rPr>
              <a:t>'s privileges and design, this may expose restricted information, bypass intended filtering, grant </a:t>
            </a:r>
            <a:r>
              <a:rPr sz="1900" b="1">
                <a:solidFill>
                  <a:srgbClr val="191919"/>
                </a:solidFill>
                <a:latin typeface="Aptos"/>
              </a:rPr>
              <a:t>unauthorized</a:t>
            </a:r>
            <a:r>
              <a:rPr sz="1900">
                <a:solidFill>
                  <a:srgbClr val="191919"/>
                </a:solidFill>
                <a:latin typeface="Aptos"/>
              </a:rPr>
              <a:t> access, or modify directory content. Secure LDAP APIs, correct escaping for LDAP filters and distinguished names, allow-list validation, and least-privilege service accounts are important defenses.</a:t>
            </a:r>
          </a:p>
        </p:txBody>
      </p:sp>
      <p:sp>
        <p:nvSpPr>
          <p:cNvPr id="9" name="TextBox 8"/>
          <p:cNvSpPr txBox="1"/>
          <p:nvPr/>
        </p:nvSpPr>
        <p:spPr>
          <a:xfrm>
            <a:off x="502920" y="6473952"/>
            <a:ext cx="11155680" cy="228600"/>
          </a:xfrm>
          <a:prstGeom prst="rect">
            <a:avLst/>
          </a:prstGeom>
          <a:noFill/>
        </p:spPr>
        <p:txBody>
          <a:bodyPr wrap="none">
            <a:spAutoFit/>
          </a:bodyPr>
          <a:lstStyle/>
          <a:p>
            <a:pPr algn="r">
              <a:defRPr sz="900">
                <a:solidFill>
                  <a:srgbClr val="B7C0CC"/>
                </a:solidFill>
                <a:latin typeface="Aptos"/>
              </a:defRPr>
            </a:pPr>
            <a:r>
              <a:rPr>
                <a:solidFill>
                  <a:srgbClr val="191919"/>
                </a:solidFill>
                <a:latin typeface="Aptos"/>
              </a:rPr>
              <a:t>Cybersecurity Study Presentation • Exam-ready definitions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146304"/>
          </a:xfrm>
          <a:prstGeom prst="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640080" cy="320040"/>
          </a:xfrm>
          <a:prstGeom prst="rect">
            <a:avLst/>
          </a:prstGeom>
          <a:noFill/>
        </p:spPr>
        <p:txBody>
          <a:bodyPr wrap="none">
            <a:spAutoFit/>
          </a:bodyPr>
          <a:lstStyle/>
          <a:p>
            <a:pPr>
              <a:defRPr sz="1500" b="1">
                <a:solidFill>
                  <a:srgbClr val="FFE25C"/>
                </a:solidFill>
              </a:defRPr>
            </a:pPr>
            <a:r>
              <a:rPr>
                <a:solidFill>
                  <a:srgbClr val="191919"/>
                </a:solidFill>
                <a:latin typeface="Aptos"/>
              </a:rPr>
              <a:t>34</a:t>
            </a:r>
          </a:p>
        </p:txBody>
      </p:sp>
      <p:sp>
        <p:nvSpPr>
          <p:cNvPr id="4" name="TextBox 3"/>
          <p:cNvSpPr txBox="1"/>
          <p:nvPr/>
        </p:nvSpPr>
        <p:spPr>
          <a:xfrm>
            <a:off x="777240" y="530352"/>
            <a:ext cx="10698480" cy="658368"/>
          </a:xfrm>
          <a:prstGeom prst="rect">
            <a:avLst/>
          </a:prstGeom>
          <a:noFill/>
        </p:spPr>
        <p:txBody>
          <a:bodyPr wrap="square" lIns="73152" rIns="73152" tIns="36576" bIns="36576">
            <a:spAutoFit/>
          </a:bodyPr>
          <a:lstStyle/>
          <a:p>
            <a:pPr algn="l">
              <a:defRPr sz="2800" b="1">
                <a:solidFill>
                  <a:srgbClr val="F5F7FA"/>
                </a:solidFill>
                <a:latin typeface="Aptos"/>
              </a:defRPr>
            </a:pPr>
            <a:r>
              <a:rPr>
                <a:solidFill>
                  <a:srgbClr val="191919"/>
                </a:solidFill>
                <a:latin typeface="Aptos"/>
              </a:rPr>
              <a:t>XML Injection</a:t>
            </a:r>
          </a:p>
        </p:txBody>
      </p:sp>
      <p:sp>
        <p:nvSpPr>
          <p:cNvPr id="5" name="Rounded Rectangle 4"/>
          <p:cNvSpPr/>
          <p:nvPr/>
        </p:nvSpPr>
        <p:spPr>
          <a:xfrm>
            <a:off x="786384" y="1207008"/>
            <a:ext cx="1645920" cy="347472"/>
          </a:xfrm>
          <a:prstGeom prst="round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252728"/>
            <a:ext cx="1417320" cy="201168"/>
          </a:xfrm>
          <a:prstGeom prst="rect">
            <a:avLst/>
          </a:prstGeom>
          <a:noFill/>
        </p:spPr>
        <p:txBody>
          <a:bodyPr wrap="square" lIns="73152" rIns="73152" tIns="36576" bIns="36576">
            <a:spAutoFit/>
          </a:bodyPr>
          <a:lstStyle/>
          <a:p>
            <a:pPr algn="l">
              <a:defRPr sz="1000" b="1">
                <a:solidFill>
                  <a:srgbClr val="11161D"/>
                </a:solidFill>
                <a:latin typeface="Aptos"/>
              </a:defRPr>
            </a:pPr>
            <a:r>
              <a:rPr>
                <a:solidFill>
                  <a:srgbClr val="191919"/>
                </a:solidFill>
                <a:latin typeface="Aptos"/>
              </a:rPr>
              <a:t>ATTACK 34</a:t>
            </a:r>
          </a:p>
        </p:txBody>
      </p:sp>
      <p:sp>
        <p:nvSpPr>
          <p:cNvPr id="7" name="Rounded Rectangle 6"/>
          <p:cNvSpPr/>
          <p:nvPr/>
        </p:nvSpPr>
        <p:spPr>
          <a:xfrm>
            <a:off x="685800" y="1783080"/>
            <a:ext cx="10835640" cy="4297680"/>
          </a:xfrm>
          <a:prstGeom prst="roundRect">
            <a:avLst/>
          </a:prstGeom>
          <a:solidFill>
            <a:srgbClr val="F6F8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29968"/>
            <a:ext cx="10378440" cy="3749039"/>
          </a:xfrm>
          <a:prstGeom prst="rect">
            <a:avLst/>
          </a:prstGeom>
          <a:noFill/>
        </p:spPr>
        <p:txBody>
          <a:bodyPr wrap="square" lIns="164592" rIns="164592" tIns="109728" bIns="109728">
            <a:spAutoFit/>
          </a:bodyPr>
          <a:lstStyle/>
          <a:p>
            <a:pPr>
              <a:defRPr sz="1900">
                <a:solidFill>
                  <a:srgbClr val="F5F7FA"/>
                </a:solidFill>
                <a:latin typeface="Aptos"/>
              </a:defRPr>
            </a:pPr>
            <a:r>
              <a:rPr sz="1900">
                <a:solidFill>
                  <a:srgbClr val="191919"/>
                </a:solidFill>
                <a:latin typeface="Aptos"/>
              </a:rPr>
              <a:t>XML Injection is an attack in which an </a:t>
            </a:r>
            <a:r>
              <a:rPr sz="1900" b="1">
                <a:solidFill>
                  <a:srgbClr val="191919"/>
                </a:solidFill>
                <a:latin typeface="Aptos"/>
              </a:rPr>
              <a:t>attacker</a:t>
            </a:r>
            <a:r>
              <a:rPr sz="1900">
                <a:solidFill>
                  <a:srgbClr val="191919"/>
                </a:solidFill>
                <a:latin typeface="Aptos"/>
              </a:rPr>
              <a:t> inserts </a:t>
            </a:r>
            <a:r>
              <a:rPr sz="1900" b="1">
                <a:solidFill>
                  <a:srgbClr val="191919"/>
                </a:solidFill>
                <a:latin typeface="Aptos"/>
              </a:rPr>
              <a:t>malicious</a:t>
            </a:r>
            <a:r>
              <a:rPr sz="1900">
                <a:solidFill>
                  <a:srgbClr val="191919"/>
                </a:solidFill>
                <a:latin typeface="Aptos"/>
              </a:rPr>
              <a:t> or unintended XML content into an </a:t>
            </a:r>
            <a:r>
              <a:rPr sz="1900" b="1">
                <a:solidFill>
                  <a:srgbClr val="191919"/>
                </a:solidFill>
                <a:latin typeface="Aptos"/>
              </a:rPr>
              <a:t>application</a:t>
            </a:r>
            <a:r>
              <a:rPr sz="1900">
                <a:solidFill>
                  <a:srgbClr val="191919"/>
                </a:solidFill>
                <a:latin typeface="Aptos"/>
              </a:rPr>
              <a:t>'s XML data or document-processing workflow. It can occur when </a:t>
            </a:r>
            <a:r>
              <a:rPr sz="1900" b="1">
                <a:solidFill>
                  <a:srgbClr val="191919"/>
                </a:solidFill>
                <a:latin typeface="Aptos"/>
              </a:rPr>
              <a:t>untrusted input</a:t>
            </a:r>
            <a:r>
              <a:rPr sz="1900">
                <a:solidFill>
                  <a:srgbClr val="191919"/>
                </a:solidFill>
                <a:latin typeface="Aptos"/>
              </a:rPr>
              <a:t> is combined with XML without adequate validation, escaping, or safe parser configuration. Depending on the </a:t>
            </a:r>
            <a:r>
              <a:rPr sz="1900" b="1">
                <a:solidFill>
                  <a:srgbClr val="191919"/>
                </a:solidFill>
                <a:latin typeface="Aptos"/>
              </a:rPr>
              <a:t>application</a:t>
            </a:r>
            <a:r>
              <a:rPr sz="1900">
                <a:solidFill>
                  <a:srgbClr val="191919"/>
                </a:solidFill>
                <a:latin typeface="Aptos"/>
              </a:rPr>
              <a:t>, manipulated XML may change the structure or meaning of data, bypass </a:t>
            </a:r>
            <a:r>
              <a:rPr sz="1900" b="1">
                <a:solidFill>
                  <a:srgbClr val="191919"/>
                </a:solidFill>
                <a:latin typeface="Aptos"/>
              </a:rPr>
              <a:t>application</a:t>
            </a:r>
            <a:r>
              <a:rPr sz="1900">
                <a:solidFill>
                  <a:srgbClr val="191919"/>
                </a:solidFill>
                <a:latin typeface="Aptos"/>
              </a:rPr>
              <a:t> logic, or contribute to other XML-related vulnerabilities such as XML External Entity processing when insecure parser features are enabled. Secure XML libraries, proper encoding, input validation, disabling unnecessary external entities, and secure parser configuration help reduce the risk.</a:t>
            </a:r>
          </a:p>
        </p:txBody>
      </p:sp>
      <p:sp>
        <p:nvSpPr>
          <p:cNvPr id="9" name="TextBox 8"/>
          <p:cNvSpPr txBox="1"/>
          <p:nvPr/>
        </p:nvSpPr>
        <p:spPr>
          <a:xfrm>
            <a:off x="502920" y="6473952"/>
            <a:ext cx="11155680" cy="228600"/>
          </a:xfrm>
          <a:prstGeom prst="rect">
            <a:avLst/>
          </a:prstGeom>
          <a:noFill/>
        </p:spPr>
        <p:txBody>
          <a:bodyPr wrap="none">
            <a:spAutoFit/>
          </a:bodyPr>
          <a:lstStyle/>
          <a:p>
            <a:pPr algn="r">
              <a:defRPr sz="900">
                <a:solidFill>
                  <a:srgbClr val="B7C0CC"/>
                </a:solidFill>
                <a:latin typeface="Aptos"/>
              </a:defRPr>
            </a:pPr>
            <a:r>
              <a:rPr>
                <a:solidFill>
                  <a:srgbClr val="191919"/>
                </a:solidFill>
                <a:latin typeface="Aptos"/>
              </a:rPr>
              <a:t>Cybersecurity Study Presentation • Exam-ready definitions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146304"/>
          </a:xfrm>
          <a:prstGeom prst="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640080" cy="320040"/>
          </a:xfrm>
          <a:prstGeom prst="rect">
            <a:avLst/>
          </a:prstGeom>
          <a:noFill/>
        </p:spPr>
        <p:txBody>
          <a:bodyPr wrap="none">
            <a:spAutoFit/>
          </a:bodyPr>
          <a:lstStyle/>
          <a:p>
            <a:pPr>
              <a:defRPr sz="1500" b="1">
                <a:solidFill>
                  <a:srgbClr val="FFE25C"/>
                </a:solidFill>
              </a:defRPr>
            </a:pPr>
            <a:r>
              <a:rPr>
                <a:solidFill>
                  <a:srgbClr val="191919"/>
                </a:solidFill>
                <a:latin typeface="Aptos"/>
              </a:rPr>
              <a:t>35</a:t>
            </a:r>
          </a:p>
        </p:txBody>
      </p:sp>
      <p:sp>
        <p:nvSpPr>
          <p:cNvPr id="4" name="TextBox 3"/>
          <p:cNvSpPr txBox="1"/>
          <p:nvPr/>
        </p:nvSpPr>
        <p:spPr>
          <a:xfrm>
            <a:off x="777240" y="530352"/>
            <a:ext cx="10698480" cy="658368"/>
          </a:xfrm>
          <a:prstGeom prst="rect">
            <a:avLst/>
          </a:prstGeom>
          <a:noFill/>
        </p:spPr>
        <p:txBody>
          <a:bodyPr wrap="square" lIns="73152" rIns="73152" tIns="36576" bIns="36576">
            <a:spAutoFit/>
          </a:bodyPr>
          <a:lstStyle/>
          <a:p>
            <a:pPr algn="l">
              <a:defRPr sz="2800" b="1">
                <a:solidFill>
                  <a:srgbClr val="F5F7FA"/>
                </a:solidFill>
                <a:latin typeface="Aptos"/>
              </a:defRPr>
            </a:pPr>
            <a:r>
              <a:rPr>
                <a:solidFill>
                  <a:srgbClr val="191919"/>
                </a:solidFill>
                <a:latin typeface="Aptos"/>
              </a:rPr>
              <a:t>Server-Side Request Forgery (SSRF)</a:t>
            </a:r>
          </a:p>
        </p:txBody>
      </p:sp>
      <p:sp>
        <p:nvSpPr>
          <p:cNvPr id="5" name="Rounded Rectangle 4"/>
          <p:cNvSpPr/>
          <p:nvPr/>
        </p:nvSpPr>
        <p:spPr>
          <a:xfrm>
            <a:off x="786384" y="1207008"/>
            <a:ext cx="1645920" cy="347472"/>
          </a:xfrm>
          <a:prstGeom prst="round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252728"/>
            <a:ext cx="1417320" cy="201168"/>
          </a:xfrm>
          <a:prstGeom prst="rect">
            <a:avLst/>
          </a:prstGeom>
          <a:noFill/>
        </p:spPr>
        <p:txBody>
          <a:bodyPr wrap="square" lIns="73152" rIns="73152" tIns="36576" bIns="36576">
            <a:spAutoFit/>
          </a:bodyPr>
          <a:lstStyle/>
          <a:p>
            <a:pPr algn="l">
              <a:defRPr sz="1000" b="1">
                <a:solidFill>
                  <a:srgbClr val="11161D"/>
                </a:solidFill>
                <a:latin typeface="Aptos"/>
              </a:defRPr>
            </a:pPr>
            <a:r>
              <a:rPr>
                <a:solidFill>
                  <a:srgbClr val="191919"/>
                </a:solidFill>
                <a:latin typeface="Aptos"/>
              </a:rPr>
              <a:t>ATTACK 35</a:t>
            </a:r>
          </a:p>
        </p:txBody>
      </p:sp>
      <p:sp>
        <p:nvSpPr>
          <p:cNvPr id="7" name="Rounded Rectangle 6"/>
          <p:cNvSpPr/>
          <p:nvPr/>
        </p:nvSpPr>
        <p:spPr>
          <a:xfrm>
            <a:off x="685800" y="1783080"/>
            <a:ext cx="10835640" cy="4297680"/>
          </a:xfrm>
          <a:prstGeom prst="roundRect">
            <a:avLst/>
          </a:prstGeom>
          <a:solidFill>
            <a:srgbClr val="F6F8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29968"/>
            <a:ext cx="10378440" cy="3749039"/>
          </a:xfrm>
          <a:prstGeom prst="rect">
            <a:avLst/>
          </a:prstGeom>
          <a:noFill/>
        </p:spPr>
        <p:txBody>
          <a:bodyPr wrap="square" lIns="164592" rIns="164592" tIns="109728" bIns="109728">
            <a:spAutoFit/>
          </a:bodyPr>
          <a:lstStyle/>
          <a:p>
            <a:pPr>
              <a:defRPr sz="1900">
                <a:solidFill>
                  <a:srgbClr val="F5F7FA"/>
                </a:solidFill>
                <a:latin typeface="Aptos"/>
              </a:defRPr>
            </a:pPr>
            <a:r>
              <a:rPr sz="1900" b="1">
                <a:solidFill>
                  <a:srgbClr val="191919"/>
                </a:solidFill>
                <a:latin typeface="Aptos"/>
              </a:rPr>
              <a:t>Server</a:t>
            </a:r>
            <a:r>
              <a:rPr sz="1900">
                <a:solidFill>
                  <a:srgbClr val="191919"/>
                </a:solidFill>
                <a:latin typeface="Aptos"/>
              </a:rPr>
              <a:t>-Side Request Forgery (SSRF) is an attack in which an </a:t>
            </a:r>
            <a:r>
              <a:rPr sz="1900" b="1">
                <a:solidFill>
                  <a:srgbClr val="191919"/>
                </a:solidFill>
                <a:latin typeface="Aptos"/>
              </a:rPr>
              <a:t>attacker</a:t>
            </a:r>
            <a:r>
              <a:rPr sz="1900">
                <a:solidFill>
                  <a:srgbClr val="191919"/>
                </a:solidFill>
                <a:latin typeface="Aptos"/>
              </a:rPr>
              <a:t> abuses a </a:t>
            </a:r>
            <a:r>
              <a:rPr sz="1900" b="1">
                <a:solidFill>
                  <a:srgbClr val="191919"/>
                </a:solidFill>
                <a:latin typeface="Aptos"/>
              </a:rPr>
              <a:t>server</a:t>
            </a:r>
            <a:r>
              <a:rPr sz="1900">
                <a:solidFill>
                  <a:srgbClr val="191919"/>
                </a:solidFill>
                <a:latin typeface="Aptos"/>
              </a:rPr>
              <a:t>-side feature that makes </a:t>
            </a:r>
            <a:r>
              <a:rPr sz="1900" b="1">
                <a:solidFill>
                  <a:srgbClr val="191919"/>
                </a:solidFill>
                <a:latin typeface="Aptos"/>
              </a:rPr>
              <a:t>network</a:t>
            </a:r>
            <a:r>
              <a:rPr sz="1900">
                <a:solidFill>
                  <a:srgbClr val="191919"/>
                </a:solidFill>
                <a:latin typeface="Aptos"/>
              </a:rPr>
              <a:t> requests so that the </a:t>
            </a:r>
            <a:r>
              <a:rPr sz="1900" b="1">
                <a:solidFill>
                  <a:srgbClr val="191919"/>
                </a:solidFill>
                <a:latin typeface="Aptos"/>
              </a:rPr>
              <a:t>server</a:t>
            </a:r>
            <a:r>
              <a:rPr sz="1900">
                <a:solidFill>
                  <a:srgbClr val="191919"/>
                </a:solidFill>
                <a:latin typeface="Aptos"/>
              </a:rPr>
              <a:t> sends a request to an unintended destination. The </a:t>
            </a:r>
            <a:r>
              <a:rPr sz="1900" b="1">
                <a:solidFill>
                  <a:srgbClr val="191919"/>
                </a:solidFill>
                <a:latin typeface="Aptos"/>
              </a:rPr>
              <a:t>attacker</a:t>
            </a:r>
            <a:r>
              <a:rPr sz="1900">
                <a:solidFill>
                  <a:srgbClr val="191919"/>
                </a:solidFill>
                <a:latin typeface="Aptos"/>
              </a:rPr>
              <a:t> may manipulate a URL or another request parameter used by functions such as image fetching, webhooks, import tools, or remote resource retrieval. Because the request originates from the </a:t>
            </a:r>
            <a:r>
              <a:rPr sz="1900" b="1">
                <a:solidFill>
                  <a:srgbClr val="191919"/>
                </a:solidFill>
                <a:latin typeface="Aptos"/>
              </a:rPr>
              <a:t>server</a:t>
            </a:r>
            <a:r>
              <a:rPr sz="1900">
                <a:solidFill>
                  <a:srgbClr val="191919"/>
                </a:solidFill>
                <a:latin typeface="Aptos"/>
              </a:rPr>
              <a:t>, it may reach internal services that are not directly accessible from the internet. SSRF can therefore expose internal resources, metadata, or services and may support further attacks. Strict destination allow-lists, </a:t>
            </a:r>
            <a:r>
              <a:rPr sz="1900" b="1">
                <a:solidFill>
                  <a:srgbClr val="191919"/>
                </a:solidFill>
                <a:latin typeface="Aptos"/>
              </a:rPr>
              <a:t>network</a:t>
            </a:r>
            <a:r>
              <a:rPr sz="1900">
                <a:solidFill>
                  <a:srgbClr val="191919"/>
                </a:solidFill>
                <a:latin typeface="Aptos"/>
              </a:rPr>
              <a:t> segmentation, and safe URL handling are important defenses.</a:t>
            </a:r>
          </a:p>
        </p:txBody>
      </p:sp>
      <p:sp>
        <p:nvSpPr>
          <p:cNvPr id="9" name="TextBox 8"/>
          <p:cNvSpPr txBox="1"/>
          <p:nvPr/>
        </p:nvSpPr>
        <p:spPr>
          <a:xfrm>
            <a:off x="502920" y="6473952"/>
            <a:ext cx="11155680" cy="228600"/>
          </a:xfrm>
          <a:prstGeom prst="rect">
            <a:avLst/>
          </a:prstGeom>
          <a:noFill/>
        </p:spPr>
        <p:txBody>
          <a:bodyPr wrap="none">
            <a:spAutoFit/>
          </a:bodyPr>
          <a:lstStyle/>
          <a:p>
            <a:pPr algn="r">
              <a:defRPr sz="900">
                <a:solidFill>
                  <a:srgbClr val="B7C0CC"/>
                </a:solidFill>
                <a:latin typeface="Aptos"/>
              </a:defRPr>
            </a:pPr>
            <a:r>
              <a:rPr>
                <a:solidFill>
                  <a:srgbClr val="191919"/>
                </a:solidFill>
                <a:latin typeface="Aptos"/>
              </a:rPr>
              <a:t>Cybersecurity Study Presentation • Exam-ready definitions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146304"/>
          </a:xfrm>
          <a:prstGeom prst="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640080" cy="320040"/>
          </a:xfrm>
          <a:prstGeom prst="rect">
            <a:avLst/>
          </a:prstGeom>
          <a:noFill/>
        </p:spPr>
        <p:txBody>
          <a:bodyPr wrap="none">
            <a:spAutoFit/>
          </a:bodyPr>
          <a:lstStyle/>
          <a:p>
            <a:pPr>
              <a:defRPr sz="1500" b="1">
                <a:solidFill>
                  <a:srgbClr val="FFE25C"/>
                </a:solidFill>
              </a:defRPr>
            </a:pPr>
            <a:r>
              <a:rPr>
                <a:solidFill>
                  <a:srgbClr val="191919"/>
                </a:solidFill>
                <a:latin typeface="Aptos"/>
              </a:rPr>
              <a:t>36</a:t>
            </a:r>
          </a:p>
        </p:txBody>
      </p:sp>
      <p:sp>
        <p:nvSpPr>
          <p:cNvPr id="4" name="TextBox 3"/>
          <p:cNvSpPr txBox="1"/>
          <p:nvPr/>
        </p:nvSpPr>
        <p:spPr>
          <a:xfrm>
            <a:off x="777240" y="530352"/>
            <a:ext cx="10698480" cy="658368"/>
          </a:xfrm>
          <a:prstGeom prst="rect">
            <a:avLst/>
          </a:prstGeom>
          <a:noFill/>
        </p:spPr>
        <p:txBody>
          <a:bodyPr wrap="square" lIns="73152" rIns="73152" tIns="36576" bIns="36576">
            <a:spAutoFit/>
          </a:bodyPr>
          <a:lstStyle/>
          <a:p>
            <a:pPr algn="l">
              <a:defRPr sz="2800" b="1">
                <a:solidFill>
                  <a:srgbClr val="F5F7FA"/>
                </a:solidFill>
                <a:latin typeface="Aptos"/>
              </a:defRPr>
            </a:pPr>
            <a:r>
              <a:rPr>
                <a:solidFill>
                  <a:srgbClr val="191919"/>
                </a:solidFill>
                <a:latin typeface="Aptos"/>
              </a:rPr>
              <a:t>DNS Tunneling Attack</a:t>
            </a:r>
          </a:p>
        </p:txBody>
      </p:sp>
      <p:sp>
        <p:nvSpPr>
          <p:cNvPr id="5" name="Rounded Rectangle 4"/>
          <p:cNvSpPr/>
          <p:nvPr/>
        </p:nvSpPr>
        <p:spPr>
          <a:xfrm>
            <a:off x="786384" y="1207008"/>
            <a:ext cx="1645920" cy="347472"/>
          </a:xfrm>
          <a:prstGeom prst="round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252728"/>
            <a:ext cx="1417320" cy="201168"/>
          </a:xfrm>
          <a:prstGeom prst="rect">
            <a:avLst/>
          </a:prstGeom>
          <a:noFill/>
        </p:spPr>
        <p:txBody>
          <a:bodyPr wrap="square" lIns="73152" rIns="73152" tIns="36576" bIns="36576">
            <a:spAutoFit/>
          </a:bodyPr>
          <a:lstStyle/>
          <a:p>
            <a:pPr algn="l">
              <a:defRPr sz="1000" b="1">
                <a:solidFill>
                  <a:srgbClr val="11161D"/>
                </a:solidFill>
                <a:latin typeface="Aptos"/>
              </a:defRPr>
            </a:pPr>
            <a:r>
              <a:rPr>
                <a:solidFill>
                  <a:srgbClr val="191919"/>
                </a:solidFill>
                <a:latin typeface="Aptos"/>
              </a:rPr>
              <a:t>ATTACK 36</a:t>
            </a:r>
          </a:p>
        </p:txBody>
      </p:sp>
      <p:sp>
        <p:nvSpPr>
          <p:cNvPr id="7" name="Rounded Rectangle 6"/>
          <p:cNvSpPr/>
          <p:nvPr/>
        </p:nvSpPr>
        <p:spPr>
          <a:xfrm>
            <a:off x="685800" y="1783080"/>
            <a:ext cx="10835640" cy="4297680"/>
          </a:xfrm>
          <a:prstGeom prst="roundRect">
            <a:avLst/>
          </a:prstGeom>
          <a:solidFill>
            <a:srgbClr val="F6F8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29968"/>
            <a:ext cx="10378440" cy="3749039"/>
          </a:xfrm>
          <a:prstGeom prst="rect">
            <a:avLst/>
          </a:prstGeom>
          <a:noFill/>
        </p:spPr>
        <p:txBody>
          <a:bodyPr wrap="square" lIns="164592" rIns="164592" tIns="109728" bIns="109728">
            <a:spAutoFit/>
          </a:bodyPr>
          <a:lstStyle/>
          <a:p>
            <a:pPr>
              <a:defRPr sz="1900">
                <a:solidFill>
                  <a:srgbClr val="F5F7FA"/>
                </a:solidFill>
                <a:latin typeface="Aptos"/>
              </a:defRPr>
            </a:pPr>
            <a:r>
              <a:rPr sz="1900">
                <a:solidFill>
                  <a:srgbClr val="191919"/>
                </a:solidFill>
                <a:latin typeface="Aptos"/>
              </a:rPr>
              <a:t>DNS tunneling is a technique in which data or commands are encoded within DNS queries and responses to create a covert communication channel. DNS is widely permitted through </a:t>
            </a:r>
            <a:r>
              <a:rPr sz="1900" b="1">
                <a:solidFill>
                  <a:srgbClr val="191919"/>
                </a:solidFill>
                <a:latin typeface="Aptos"/>
              </a:rPr>
              <a:t>network</a:t>
            </a:r>
            <a:r>
              <a:rPr sz="1900">
                <a:solidFill>
                  <a:srgbClr val="191919"/>
                </a:solidFill>
                <a:latin typeface="Aptos"/>
              </a:rPr>
              <a:t> boundaries because normal </a:t>
            </a:r>
            <a:r>
              <a:rPr sz="1900" b="1">
                <a:solidFill>
                  <a:srgbClr val="191919"/>
                </a:solidFill>
                <a:latin typeface="Aptos"/>
              </a:rPr>
              <a:t>system</a:t>
            </a:r>
            <a:r>
              <a:rPr sz="1900">
                <a:solidFill>
                  <a:srgbClr val="191919"/>
                </a:solidFill>
                <a:latin typeface="Aptos"/>
              </a:rPr>
              <a:t>s require it for name resolution, so </a:t>
            </a:r>
            <a:r>
              <a:rPr sz="1900" b="1">
                <a:solidFill>
                  <a:srgbClr val="191919"/>
                </a:solidFill>
                <a:latin typeface="Aptos"/>
              </a:rPr>
              <a:t>attacker</a:t>
            </a:r>
            <a:r>
              <a:rPr sz="1900">
                <a:solidFill>
                  <a:srgbClr val="191919"/>
                </a:solidFill>
                <a:latin typeface="Aptos"/>
              </a:rPr>
              <a:t>s may abuse this trusted protocol to move information or maintain communication with a remote </a:t>
            </a:r>
            <a:r>
              <a:rPr sz="1900" b="1">
                <a:solidFill>
                  <a:srgbClr val="191919"/>
                </a:solidFill>
                <a:latin typeface="Aptos"/>
              </a:rPr>
              <a:t>system</a:t>
            </a:r>
            <a:r>
              <a:rPr sz="1900">
                <a:solidFill>
                  <a:srgbClr val="191919"/>
                </a:solidFill>
                <a:latin typeface="Aptos"/>
              </a:rPr>
              <a:t>. DNS tunneling can be associated with </a:t>
            </a:r>
            <a:r>
              <a:rPr sz="1900" b="1">
                <a:solidFill>
                  <a:srgbClr val="191919"/>
                </a:solidFill>
                <a:latin typeface="Aptos"/>
              </a:rPr>
              <a:t>malware</a:t>
            </a:r>
            <a:r>
              <a:rPr sz="1900">
                <a:solidFill>
                  <a:srgbClr val="191919"/>
                </a:solidFill>
                <a:latin typeface="Aptos"/>
              </a:rPr>
              <a:t> command-and-control or data exfiltration. Unusually long or frequent DNS requests, suspicious domains, high query entropy, and abnormal DNS behavior can indicate tunneling. Protective DNS, logging, filtering, and traffic analysis help detect and restrict it.</a:t>
            </a:r>
          </a:p>
        </p:txBody>
      </p:sp>
      <p:sp>
        <p:nvSpPr>
          <p:cNvPr id="9" name="TextBox 8"/>
          <p:cNvSpPr txBox="1"/>
          <p:nvPr/>
        </p:nvSpPr>
        <p:spPr>
          <a:xfrm>
            <a:off x="502920" y="6473952"/>
            <a:ext cx="11155680" cy="228600"/>
          </a:xfrm>
          <a:prstGeom prst="rect">
            <a:avLst/>
          </a:prstGeom>
          <a:noFill/>
        </p:spPr>
        <p:txBody>
          <a:bodyPr wrap="none">
            <a:spAutoFit/>
          </a:bodyPr>
          <a:lstStyle/>
          <a:p>
            <a:pPr algn="r">
              <a:defRPr sz="900">
                <a:solidFill>
                  <a:srgbClr val="B7C0CC"/>
                </a:solidFill>
                <a:latin typeface="Aptos"/>
              </a:defRPr>
            </a:pPr>
            <a:r>
              <a:rPr>
                <a:solidFill>
                  <a:srgbClr val="191919"/>
                </a:solidFill>
                <a:latin typeface="Aptos"/>
              </a:rPr>
              <a:t>Cybersecurity Study Presentation • Exam-ready definitions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146304"/>
          </a:xfrm>
          <a:prstGeom prst="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640080" cy="320040"/>
          </a:xfrm>
          <a:prstGeom prst="rect">
            <a:avLst/>
          </a:prstGeom>
          <a:noFill/>
        </p:spPr>
        <p:txBody>
          <a:bodyPr wrap="none">
            <a:spAutoFit/>
          </a:bodyPr>
          <a:lstStyle/>
          <a:p>
            <a:pPr>
              <a:defRPr sz="1500" b="1">
                <a:solidFill>
                  <a:srgbClr val="FFE25C"/>
                </a:solidFill>
              </a:defRPr>
            </a:pPr>
            <a:r>
              <a:rPr>
                <a:solidFill>
                  <a:srgbClr val="191919"/>
                </a:solidFill>
                <a:latin typeface="Aptos"/>
              </a:rPr>
              <a:t>37</a:t>
            </a:r>
          </a:p>
        </p:txBody>
      </p:sp>
      <p:sp>
        <p:nvSpPr>
          <p:cNvPr id="4" name="TextBox 3"/>
          <p:cNvSpPr txBox="1"/>
          <p:nvPr/>
        </p:nvSpPr>
        <p:spPr>
          <a:xfrm>
            <a:off x="777240" y="530352"/>
            <a:ext cx="10698480" cy="658368"/>
          </a:xfrm>
          <a:prstGeom prst="rect">
            <a:avLst/>
          </a:prstGeom>
          <a:noFill/>
        </p:spPr>
        <p:txBody>
          <a:bodyPr wrap="square" lIns="73152" rIns="73152" tIns="36576" bIns="36576">
            <a:spAutoFit/>
          </a:bodyPr>
          <a:lstStyle/>
          <a:p>
            <a:pPr algn="l">
              <a:defRPr sz="2800" b="1">
                <a:solidFill>
                  <a:srgbClr val="F5F7FA"/>
                </a:solidFill>
                <a:latin typeface="Aptos"/>
              </a:defRPr>
            </a:pPr>
            <a:r>
              <a:rPr>
                <a:solidFill>
                  <a:srgbClr val="191919"/>
                </a:solidFill>
                <a:latin typeface="Aptos"/>
              </a:rPr>
              <a:t>Watering Hole Attack</a:t>
            </a:r>
          </a:p>
        </p:txBody>
      </p:sp>
      <p:sp>
        <p:nvSpPr>
          <p:cNvPr id="5" name="Rounded Rectangle 4"/>
          <p:cNvSpPr/>
          <p:nvPr/>
        </p:nvSpPr>
        <p:spPr>
          <a:xfrm>
            <a:off x="786384" y="1207008"/>
            <a:ext cx="1645920" cy="347472"/>
          </a:xfrm>
          <a:prstGeom prst="round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252728"/>
            <a:ext cx="1417320" cy="201168"/>
          </a:xfrm>
          <a:prstGeom prst="rect">
            <a:avLst/>
          </a:prstGeom>
          <a:noFill/>
        </p:spPr>
        <p:txBody>
          <a:bodyPr wrap="square" lIns="73152" rIns="73152" tIns="36576" bIns="36576">
            <a:spAutoFit/>
          </a:bodyPr>
          <a:lstStyle/>
          <a:p>
            <a:pPr algn="l">
              <a:defRPr sz="1000" b="1">
                <a:solidFill>
                  <a:srgbClr val="11161D"/>
                </a:solidFill>
                <a:latin typeface="Aptos"/>
              </a:defRPr>
            </a:pPr>
            <a:r>
              <a:rPr>
                <a:solidFill>
                  <a:srgbClr val="191919"/>
                </a:solidFill>
                <a:latin typeface="Aptos"/>
              </a:rPr>
              <a:t>ATTACK 37</a:t>
            </a:r>
          </a:p>
        </p:txBody>
      </p:sp>
      <p:sp>
        <p:nvSpPr>
          <p:cNvPr id="7" name="Rounded Rectangle 6"/>
          <p:cNvSpPr/>
          <p:nvPr/>
        </p:nvSpPr>
        <p:spPr>
          <a:xfrm>
            <a:off x="685800" y="1783080"/>
            <a:ext cx="10835640" cy="4297680"/>
          </a:xfrm>
          <a:prstGeom prst="roundRect">
            <a:avLst/>
          </a:prstGeom>
          <a:solidFill>
            <a:srgbClr val="F6F8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29968"/>
            <a:ext cx="10378440" cy="3749039"/>
          </a:xfrm>
          <a:prstGeom prst="rect">
            <a:avLst/>
          </a:prstGeom>
          <a:noFill/>
        </p:spPr>
        <p:txBody>
          <a:bodyPr wrap="square" lIns="164592" rIns="164592" tIns="109728" bIns="109728">
            <a:spAutoFit/>
          </a:bodyPr>
          <a:lstStyle/>
          <a:p>
            <a:pPr>
              <a:defRPr sz="1900">
                <a:solidFill>
                  <a:srgbClr val="F5F7FA"/>
                </a:solidFill>
                <a:latin typeface="Aptos"/>
              </a:defRPr>
            </a:pPr>
            <a:r>
              <a:rPr sz="1900">
                <a:solidFill>
                  <a:srgbClr val="191919"/>
                </a:solidFill>
                <a:latin typeface="Aptos"/>
              </a:rPr>
              <a:t>A watering hole attack occurs when an </a:t>
            </a:r>
            <a:r>
              <a:rPr sz="1900" b="1">
                <a:solidFill>
                  <a:srgbClr val="191919"/>
                </a:solidFill>
                <a:latin typeface="Aptos"/>
              </a:rPr>
              <a:t>attacker</a:t>
            </a:r>
            <a:r>
              <a:rPr sz="1900">
                <a:solidFill>
                  <a:srgbClr val="191919"/>
                </a:solidFill>
                <a:latin typeface="Aptos"/>
              </a:rPr>
              <a:t> compromises or prepares a </a:t>
            </a:r>
            <a:r>
              <a:rPr sz="1900" b="1">
                <a:solidFill>
                  <a:srgbClr val="191919"/>
                </a:solidFill>
                <a:latin typeface="Aptos"/>
              </a:rPr>
              <a:t>website</a:t>
            </a:r>
            <a:r>
              <a:rPr sz="1900">
                <a:solidFill>
                  <a:srgbClr val="191919"/>
                </a:solidFill>
                <a:latin typeface="Aptos"/>
              </a:rPr>
              <a:t> that members of a particular target group are likely to visit. Instead of directly attacking every </a:t>
            </a:r>
            <a:r>
              <a:rPr sz="1900" b="1">
                <a:solidFill>
                  <a:srgbClr val="191919"/>
                </a:solidFill>
                <a:latin typeface="Aptos"/>
              </a:rPr>
              <a:t>victim</a:t>
            </a:r>
            <a:r>
              <a:rPr sz="1900">
                <a:solidFill>
                  <a:srgbClr val="191919"/>
                </a:solidFill>
                <a:latin typeface="Aptos"/>
              </a:rPr>
              <a:t>, the </a:t>
            </a:r>
            <a:r>
              <a:rPr sz="1900" b="1">
                <a:solidFill>
                  <a:srgbClr val="191919"/>
                </a:solidFill>
                <a:latin typeface="Aptos"/>
              </a:rPr>
              <a:t>attacker</a:t>
            </a:r>
            <a:r>
              <a:rPr sz="1900">
                <a:solidFill>
                  <a:srgbClr val="191919"/>
                </a:solidFill>
                <a:latin typeface="Aptos"/>
              </a:rPr>
              <a:t> places </a:t>
            </a:r>
            <a:r>
              <a:rPr sz="1900" b="1">
                <a:solidFill>
                  <a:srgbClr val="191919"/>
                </a:solidFill>
                <a:latin typeface="Aptos"/>
              </a:rPr>
              <a:t>malicious</a:t>
            </a:r>
            <a:r>
              <a:rPr sz="1900">
                <a:solidFill>
                  <a:srgbClr val="191919"/>
                </a:solidFill>
                <a:latin typeface="Aptos"/>
              </a:rPr>
              <a:t> content or exploit code on a trusted or frequently visited site. When members of the targeted group browse the site, they may be exposed to </a:t>
            </a:r>
            <a:r>
              <a:rPr sz="1900" b="1">
                <a:solidFill>
                  <a:srgbClr val="191919"/>
                </a:solidFill>
                <a:latin typeface="Aptos"/>
              </a:rPr>
              <a:t>malware</a:t>
            </a:r>
            <a:r>
              <a:rPr sz="1900">
                <a:solidFill>
                  <a:srgbClr val="191919"/>
                </a:solidFill>
                <a:latin typeface="Aptos"/>
              </a:rPr>
              <a:t>, phishing, or exploitation of browser and </a:t>
            </a:r>
            <a:r>
              <a:rPr sz="1900" b="1">
                <a:solidFill>
                  <a:srgbClr val="191919"/>
                </a:solidFill>
                <a:latin typeface="Aptos"/>
              </a:rPr>
              <a:t>system</a:t>
            </a:r>
            <a:r>
              <a:rPr sz="1900">
                <a:solidFill>
                  <a:srgbClr val="191919"/>
                </a:solidFill>
                <a:latin typeface="Aptos"/>
              </a:rPr>
              <a:t> vulnerabilities. The attack is named after the idea of </a:t>
            </a:r>
            <a:r>
              <a:rPr sz="1900" b="1">
                <a:solidFill>
                  <a:srgbClr val="191919"/>
                </a:solidFill>
                <a:latin typeface="Aptos"/>
              </a:rPr>
              <a:t>attacker</a:t>
            </a:r>
            <a:r>
              <a:rPr sz="1900">
                <a:solidFill>
                  <a:srgbClr val="191919"/>
                </a:solidFill>
                <a:latin typeface="Aptos"/>
              </a:rPr>
              <a:t>s waiting at a place where their intended </a:t>
            </a:r>
            <a:r>
              <a:rPr sz="1900" b="1">
                <a:solidFill>
                  <a:srgbClr val="191919"/>
                </a:solidFill>
                <a:latin typeface="Aptos"/>
              </a:rPr>
              <a:t>victim</a:t>
            </a:r>
            <a:r>
              <a:rPr sz="1900">
                <a:solidFill>
                  <a:srgbClr val="191919"/>
                </a:solidFill>
                <a:latin typeface="Aptos"/>
              </a:rPr>
              <a:t>s naturally gather. Patching, web isolation, endpoint security, and monitoring of trusted sites help reduce risk.</a:t>
            </a:r>
          </a:p>
        </p:txBody>
      </p:sp>
      <p:sp>
        <p:nvSpPr>
          <p:cNvPr id="9" name="TextBox 8"/>
          <p:cNvSpPr txBox="1"/>
          <p:nvPr/>
        </p:nvSpPr>
        <p:spPr>
          <a:xfrm>
            <a:off x="502920" y="6473952"/>
            <a:ext cx="11155680" cy="228600"/>
          </a:xfrm>
          <a:prstGeom prst="rect">
            <a:avLst/>
          </a:prstGeom>
          <a:noFill/>
        </p:spPr>
        <p:txBody>
          <a:bodyPr wrap="none">
            <a:spAutoFit/>
          </a:bodyPr>
          <a:lstStyle/>
          <a:p>
            <a:pPr algn="r">
              <a:defRPr sz="900">
                <a:solidFill>
                  <a:srgbClr val="B7C0CC"/>
                </a:solidFill>
                <a:latin typeface="Aptos"/>
              </a:defRPr>
            </a:pPr>
            <a:r>
              <a:rPr>
                <a:solidFill>
                  <a:srgbClr val="191919"/>
                </a:solidFill>
                <a:latin typeface="Aptos"/>
              </a:rPr>
              <a:t>Cybersecurity Study Presentation • Exam-ready definitions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146304"/>
          </a:xfrm>
          <a:prstGeom prst="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640080" cy="320040"/>
          </a:xfrm>
          <a:prstGeom prst="rect">
            <a:avLst/>
          </a:prstGeom>
          <a:noFill/>
        </p:spPr>
        <p:txBody>
          <a:bodyPr wrap="none">
            <a:spAutoFit/>
          </a:bodyPr>
          <a:lstStyle/>
          <a:p>
            <a:pPr>
              <a:defRPr sz="1500" b="1">
                <a:solidFill>
                  <a:srgbClr val="FFE25C"/>
                </a:solidFill>
              </a:defRPr>
            </a:pPr>
            <a:r>
              <a:rPr>
                <a:solidFill>
                  <a:srgbClr val="191919"/>
                </a:solidFill>
                <a:latin typeface="Aptos"/>
              </a:rPr>
              <a:t>38</a:t>
            </a:r>
          </a:p>
        </p:txBody>
      </p:sp>
      <p:sp>
        <p:nvSpPr>
          <p:cNvPr id="4" name="TextBox 3"/>
          <p:cNvSpPr txBox="1"/>
          <p:nvPr/>
        </p:nvSpPr>
        <p:spPr>
          <a:xfrm>
            <a:off x="777240" y="530352"/>
            <a:ext cx="10698480" cy="658368"/>
          </a:xfrm>
          <a:prstGeom prst="rect">
            <a:avLst/>
          </a:prstGeom>
          <a:noFill/>
        </p:spPr>
        <p:txBody>
          <a:bodyPr wrap="square" lIns="73152" rIns="73152" tIns="36576" bIns="36576">
            <a:spAutoFit/>
          </a:bodyPr>
          <a:lstStyle/>
          <a:p>
            <a:pPr algn="l">
              <a:defRPr sz="2800" b="1">
                <a:solidFill>
                  <a:srgbClr val="F5F7FA"/>
                </a:solidFill>
                <a:latin typeface="Aptos"/>
              </a:defRPr>
            </a:pPr>
            <a:r>
              <a:rPr>
                <a:solidFill>
                  <a:srgbClr val="191919"/>
                </a:solidFill>
                <a:latin typeface="Aptos"/>
              </a:rPr>
              <a:t>Session Fixation Attack</a:t>
            </a:r>
          </a:p>
        </p:txBody>
      </p:sp>
      <p:sp>
        <p:nvSpPr>
          <p:cNvPr id="5" name="Rounded Rectangle 4"/>
          <p:cNvSpPr/>
          <p:nvPr/>
        </p:nvSpPr>
        <p:spPr>
          <a:xfrm>
            <a:off x="786384" y="1207008"/>
            <a:ext cx="1645920" cy="347472"/>
          </a:xfrm>
          <a:prstGeom prst="round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252728"/>
            <a:ext cx="1417320" cy="201168"/>
          </a:xfrm>
          <a:prstGeom prst="rect">
            <a:avLst/>
          </a:prstGeom>
          <a:noFill/>
        </p:spPr>
        <p:txBody>
          <a:bodyPr wrap="square" lIns="73152" rIns="73152" tIns="36576" bIns="36576">
            <a:spAutoFit/>
          </a:bodyPr>
          <a:lstStyle/>
          <a:p>
            <a:pPr algn="l">
              <a:defRPr sz="1000" b="1">
                <a:solidFill>
                  <a:srgbClr val="11161D"/>
                </a:solidFill>
                <a:latin typeface="Aptos"/>
              </a:defRPr>
            </a:pPr>
            <a:r>
              <a:rPr>
                <a:solidFill>
                  <a:srgbClr val="191919"/>
                </a:solidFill>
                <a:latin typeface="Aptos"/>
              </a:rPr>
              <a:t>ATTACK 38</a:t>
            </a:r>
          </a:p>
        </p:txBody>
      </p:sp>
      <p:sp>
        <p:nvSpPr>
          <p:cNvPr id="7" name="Rounded Rectangle 6"/>
          <p:cNvSpPr/>
          <p:nvPr/>
        </p:nvSpPr>
        <p:spPr>
          <a:xfrm>
            <a:off x="685800" y="1783080"/>
            <a:ext cx="10835640" cy="4297680"/>
          </a:xfrm>
          <a:prstGeom prst="roundRect">
            <a:avLst/>
          </a:prstGeom>
          <a:solidFill>
            <a:srgbClr val="F6F8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29968"/>
            <a:ext cx="10378440" cy="3749039"/>
          </a:xfrm>
          <a:prstGeom prst="rect">
            <a:avLst/>
          </a:prstGeom>
          <a:noFill/>
        </p:spPr>
        <p:txBody>
          <a:bodyPr wrap="square" lIns="164592" rIns="164592" tIns="109728" bIns="109728">
            <a:spAutoFit/>
          </a:bodyPr>
          <a:lstStyle/>
          <a:p>
            <a:pPr>
              <a:defRPr sz="1900">
                <a:solidFill>
                  <a:srgbClr val="F5F7FA"/>
                </a:solidFill>
                <a:latin typeface="Aptos"/>
              </a:defRPr>
            </a:pPr>
            <a:r>
              <a:rPr sz="1900" b="1">
                <a:solidFill>
                  <a:srgbClr val="191919"/>
                </a:solidFill>
                <a:latin typeface="Aptos"/>
              </a:rPr>
              <a:t>Session</a:t>
            </a:r>
            <a:r>
              <a:rPr sz="1900">
                <a:solidFill>
                  <a:srgbClr val="191919"/>
                </a:solidFill>
                <a:latin typeface="Aptos"/>
              </a:rPr>
              <a:t> fixation is an </a:t>
            </a:r>
            <a:r>
              <a:rPr sz="1900" b="1">
                <a:solidFill>
                  <a:srgbClr val="191919"/>
                </a:solidFill>
                <a:latin typeface="Aptos"/>
              </a:rPr>
              <a:t>authentication</a:t>
            </a:r>
            <a:r>
              <a:rPr sz="1900">
                <a:solidFill>
                  <a:srgbClr val="191919"/>
                </a:solidFill>
                <a:latin typeface="Aptos"/>
              </a:rPr>
              <a:t> attack in which an </a:t>
            </a:r>
            <a:r>
              <a:rPr sz="1900" b="1">
                <a:solidFill>
                  <a:srgbClr val="191919"/>
                </a:solidFill>
                <a:latin typeface="Aptos"/>
              </a:rPr>
              <a:t>attacker</a:t>
            </a:r>
            <a:r>
              <a:rPr sz="1900">
                <a:solidFill>
                  <a:srgbClr val="191919"/>
                </a:solidFill>
                <a:latin typeface="Aptos"/>
              </a:rPr>
              <a:t> causes a </a:t>
            </a:r>
            <a:r>
              <a:rPr sz="1900" b="1">
                <a:solidFill>
                  <a:srgbClr val="191919"/>
                </a:solidFill>
                <a:latin typeface="Aptos"/>
              </a:rPr>
              <a:t>victim</a:t>
            </a:r>
            <a:r>
              <a:rPr sz="1900">
                <a:solidFill>
                  <a:srgbClr val="191919"/>
                </a:solidFill>
                <a:latin typeface="Aptos"/>
              </a:rPr>
              <a:t> to use a </a:t>
            </a:r>
            <a:r>
              <a:rPr sz="1900" b="1">
                <a:solidFill>
                  <a:srgbClr val="191919"/>
                </a:solidFill>
                <a:latin typeface="Aptos"/>
              </a:rPr>
              <a:t>session</a:t>
            </a:r>
            <a:r>
              <a:rPr sz="1900">
                <a:solidFill>
                  <a:srgbClr val="191919"/>
                </a:solidFill>
                <a:latin typeface="Aptos"/>
              </a:rPr>
              <a:t> identifier that the </a:t>
            </a:r>
            <a:r>
              <a:rPr sz="1900" b="1">
                <a:solidFill>
                  <a:srgbClr val="191919"/>
                </a:solidFill>
                <a:latin typeface="Aptos"/>
              </a:rPr>
              <a:t>attacker</a:t>
            </a:r>
            <a:r>
              <a:rPr sz="1900">
                <a:solidFill>
                  <a:srgbClr val="191919"/>
                </a:solidFill>
                <a:latin typeface="Aptos"/>
              </a:rPr>
              <a:t> already knows or can predict. After the </a:t>
            </a:r>
            <a:r>
              <a:rPr sz="1900" b="1">
                <a:solidFill>
                  <a:srgbClr val="191919"/>
                </a:solidFill>
                <a:latin typeface="Aptos"/>
              </a:rPr>
              <a:t>victim</a:t>
            </a:r>
            <a:r>
              <a:rPr sz="1900">
                <a:solidFill>
                  <a:srgbClr val="191919"/>
                </a:solidFill>
                <a:latin typeface="Aptos"/>
              </a:rPr>
              <a:t> authenticates using that </a:t>
            </a:r>
            <a:r>
              <a:rPr sz="1900" b="1">
                <a:solidFill>
                  <a:srgbClr val="191919"/>
                </a:solidFill>
                <a:latin typeface="Aptos"/>
              </a:rPr>
              <a:t>session</a:t>
            </a:r>
            <a:r>
              <a:rPr sz="1900">
                <a:solidFill>
                  <a:srgbClr val="191919"/>
                </a:solidFill>
                <a:latin typeface="Aptos"/>
              </a:rPr>
              <a:t>, the </a:t>
            </a:r>
            <a:r>
              <a:rPr sz="1900" b="1">
                <a:solidFill>
                  <a:srgbClr val="191919"/>
                </a:solidFill>
                <a:latin typeface="Aptos"/>
              </a:rPr>
              <a:t>attacker</a:t>
            </a:r>
            <a:r>
              <a:rPr sz="1900">
                <a:solidFill>
                  <a:srgbClr val="191919"/>
                </a:solidFill>
                <a:latin typeface="Aptos"/>
              </a:rPr>
              <a:t> may attempt to reuse the same </a:t>
            </a:r>
            <a:r>
              <a:rPr sz="1900" b="1">
                <a:solidFill>
                  <a:srgbClr val="191919"/>
                </a:solidFill>
                <a:latin typeface="Aptos"/>
              </a:rPr>
              <a:t>session</a:t>
            </a:r>
            <a:r>
              <a:rPr sz="1900">
                <a:solidFill>
                  <a:srgbClr val="191919"/>
                </a:solidFill>
                <a:latin typeface="Aptos"/>
              </a:rPr>
              <a:t> identifier to access the authenticated </a:t>
            </a:r>
            <a:r>
              <a:rPr sz="1900" b="1">
                <a:solidFill>
                  <a:srgbClr val="191919"/>
                </a:solidFill>
                <a:latin typeface="Aptos"/>
              </a:rPr>
              <a:t>session</a:t>
            </a:r>
            <a:r>
              <a:rPr sz="1900">
                <a:solidFill>
                  <a:srgbClr val="191919"/>
                </a:solidFill>
                <a:latin typeface="Aptos"/>
              </a:rPr>
              <a:t>. The vulnerability commonly results from </a:t>
            </a:r>
            <a:r>
              <a:rPr sz="1900" b="1">
                <a:solidFill>
                  <a:srgbClr val="191919"/>
                </a:solidFill>
                <a:latin typeface="Aptos"/>
              </a:rPr>
              <a:t>application</a:t>
            </a:r>
            <a:r>
              <a:rPr sz="1900">
                <a:solidFill>
                  <a:srgbClr val="191919"/>
                </a:solidFill>
                <a:latin typeface="Aptos"/>
              </a:rPr>
              <a:t>s that fail to issue a new </a:t>
            </a:r>
            <a:r>
              <a:rPr sz="1900" b="1">
                <a:solidFill>
                  <a:srgbClr val="191919"/>
                </a:solidFill>
                <a:latin typeface="Aptos"/>
              </a:rPr>
              <a:t>session</a:t>
            </a:r>
            <a:r>
              <a:rPr sz="1900">
                <a:solidFill>
                  <a:srgbClr val="191919"/>
                </a:solidFill>
                <a:latin typeface="Aptos"/>
              </a:rPr>
              <a:t> identifier after successful </a:t>
            </a:r>
            <a:r>
              <a:rPr sz="1900" b="1">
                <a:solidFill>
                  <a:srgbClr val="191919"/>
                </a:solidFill>
                <a:latin typeface="Aptos"/>
              </a:rPr>
              <a:t>authentication</a:t>
            </a:r>
            <a:r>
              <a:rPr sz="1900">
                <a:solidFill>
                  <a:srgbClr val="191919"/>
                </a:solidFill>
                <a:latin typeface="Aptos"/>
              </a:rPr>
              <a:t>. A key defense is </a:t>
            </a:r>
            <a:r>
              <a:rPr sz="1900" b="1">
                <a:solidFill>
                  <a:srgbClr val="191919"/>
                </a:solidFill>
                <a:latin typeface="Aptos"/>
              </a:rPr>
              <a:t>session</a:t>
            </a:r>
            <a:r>
              <a:rPr sz="1900">
                <a:solidFill>
                  <a:srgbClr val="191919"/>
                </a:solidFill>
                <a:latin typeface="Aptos"/>
              </a:rPr>
              <a:t> ID regeneration whenever a user logs in or changes privilege level, together with secure </a:t>
            </a:r>
            <a:r>
              <a:rPr sz="1900" b="1">
                <a:solidFill>
                  <a:srgbClr val="191919"/>
                </a:solidFill>
                <a:latin typeface="Aptos"/>
              </a:rPr>
              <a:t>session</a:t>
            </a:r>
            <a:r>
              <a:rPr sz="1900">
                <a:solidFill>
                  <a:srgbClr val="191919"/>
                </a:solidFill>
                <a:latin typeface="Aptos"/>
              </a:rPr>
              <a:t> cookies, HTTPS, expiration, and proper </a:t>
            </a:r>
            <a:r>
              <a:rPr sz="1900" b="1">
                <a:solidFill>
                  <a:srgbClr val="191919"/>
                </a:solidFill>
                <a:latin typeface="Aptos"/>
              </a:rPr>
              <a:t>session</a:t>
            </a:r>
            <a:r>
              <a:rPr sz="1900">
                <a:solidFill>
                  <a:srgbClr val="191919"/>
                </a:solidFill>
                <a:latin typeface="Aptos"/>
              </a:rPr>
              <a:t> management.</a:t>
            </a:r>
          </a:p>
        </p:txBody>
      </p:sp>
      <p:sp>
        <p:nvSpPr>
          <p:cNvPr id="9" name="TextBox 8"/>
          <p:cNvSpPr txBox="1"/>
          <p:nvPr/>
        </p:nvSpPr>
        <p:spPr>
          <a:xfrm>
            <a:off x="502920" y="6473952"/>
            <a:ext cx="11155680" cy="228600"/>
          </a:xfrm>
          <a:prstGeom prst="rect">
            <a:avLst/>
          </a:prstGeom>
          <a:noFill/>
        </p:spPr>
        <p:txBody>
          <a:bodyPr wrap="none">
            <a:spAutoFit/>
          </a:bodyPr>
          <a:lstStyle/>
          <a:p>
            <a:pPr algn="r">
              <a:defRPr sz="900">
                <a:solidFill>
                  <a:srgbClr val="B7C0CC"/>
                </a:solidFill>
                <a:latin typeface="Aptos"/>
              </a:defRPr>
            </a:pPr>
            <a:r>
              <a:rPr>
                <a:solidFill>
                  <a:srgbClr val="191919"/>
                </a:solidFill>
                <a:latin typeface="Aptos"/>
              </a:rPr>
              <a:t>Cybersecurity Study Presentation • Exam-ready definitions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146304"/>
          </a:xfrm>
          <a:prstGeom prst="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640080" cy="320040"/>
          </a:xfrm>
          <a:prstGeom prst="rect">
            <a:avLst/>
          </a:prstGeom>
          <a:noFill/>
        </p:spPr>
        <p:txBody>
          <a:bodyPr wrap="none">
            <a:spAutoFit/>
          </a:bodyPr>
          <a:lstStyle/>
          <a:p>
            <a:pPr>
              <a:defRPr sz="1500" b="1">
                <a:solidFill>
                  <a:srgbClr val="FFE25C"/>
                </a:solidFill>
              </a:defRPr>
            </a:pPr>
            <a:r>
              <a:rPr>
                <a:solidFill>
                  <a:srgbClr val="191919"/>
                </a:solidFill>
                <a:latin typeface="Aptos"/>
              </a:rPr>
              <a:t>39</a:t>
            </a:r>
          </a:p>
        </p:txBody>
      </p:sp>
      <p:sp>
        <p:nvSpPr>
          <p:cNvPr id="4" name="TextBox 3"/>
          <p:cNvSpPr txBox="1"/>
          <p:nvPr/>
        </p:nvSpPr>
        <p:spPr>
          <a:xfrm>
            <a:off x="777240" y="530352"/>
            <a:ext cx="10698480" cy="658368"/>
          </a:xfrm>
          <a:prstGeom prst="rect">
            <a:avLst/>
          </a:prstGeom>
          <a:noFill/>
        </p:spPr>
        <p:txBody>
          <a:bodyPr wrap="square" lIns="73152" rIns="73152" tIns="36576" bIns="36576">
            <a:spAutoFit/>
          </a:bodyPr>
          <a:lstStyle/>
          <a:p>
            <a:pPr algn="l">
              <a:defRPr sz="2800" b="1">
                <a:solidFill>
                  <a:srgbClr val="F5F7FA"/>
                </a:solidFill>
                <a:latin typeface="Aptos"/>
              </a:defRPr>
            </a:pPr>
            <a:r>
              <a:rPr>
                <a:solidFill>
                  <a:srgbClr val="191919"/>
                </a:solidFill>
                <a:latin typeface="Aptos"/>
              </a:rPr>
              <a:t>Clickjacking Attack</a:t>
            </a:r>
          </a:p>
        </p:txBody>
      </p:sp>
      <p:sp>
        <p:nvSpPr>
          <p:cNvPr id="5" name="Rounded Rectangle 4"/>
          <p:cNvSpPr/>
          <p:nvPr/>
        </p:nvSpPr>
        <p:spPr>
          <a:xfrm>
            <a:off x="786384" y="1207008"/>
            <a:ext cx="1645920" cy="347472"/>
          </a:xfrm>
          <a:prstGeom prst="round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252728"/>
            <a:ext cx="1417320" cy="201168"/>
          </a:xfrm>
          <a:prstGeom prst="rect">
            <a:avLst/>
          </a:prstGeom>
          <a:noFill/>
        </p:spPr>
        <p:txBody>
          <a:bodyPr wrap="square" lIns="73152" rIns="73152" tIns="36576" bIns="36576">
            <a:spAutoFit/>
          </a:bodyPr>
          <a:lstStyle/>
          <a:p>
            <a:pPr algn="l">
              <a:defRPr sz="1000" b="1">
                <a:solidFill>
                  <a:srgbClr val="11161D"/>
                </a:solidFill>
                <a:latin typeface="Aptos"/>
              </a:defRPr>
            </a:pPr>
            <a:r>
              <a:rPr>
                <a:solidFill>
                  <a:srgbClr val="191919"/>
                </a:solidFill>
                <a:latin typeface="Aptos"/>
              </a:rPr>
              <a:t>ATTACK 39</a:t>
            </a:r>
          </a:p>
        </p:txBody>
      </p:sp>
      <p:sp>
        <p:nvSpPr>
          <p:cNvPr id="7" name="Rounded Rectangle 6"/>
          <p:cNvSpPr/>
          <p:nvPr/>
        </p:nvSpPr>
        <p:spPr>
          <a:xfrm>
            <a:off x="685800" y="1783080"/>
            <a:ext cx="10835640" cy="4297680"/>
          </a:xfrm>
          <a:prstGeom prst="roundRect">
            <a:avLst/>
          </a:prstGeom>
          <a:solidFill>
            <a:srgbClr val="F6F8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29968"/>
            <a:ext cx="10378440" cy="3749039"/>
          </a:xfrm>
          <a:prstGeom prst="rect">
            <a:avLst/>
          </a:prstGeom>
          <a:noFill/>
        </p:spPr>
        <p:txBody>
          <a:bodyPr wrap="square" lIns="164592" rIns="164592" tIns="109728" bIns="109728">
            <a:spAutoFit/>
          </a:bodyPr>
          <a:lstStyle/>
          <a:p>
            <a:pPr>
              <a:defRPr sz="1900">
                <a:solidFill>
                  <a:srgbClr val="F5F7FA"/>
                </a:solidFill>
                <a:latin typeface="Aptos"/>
              </a:defRPr>
            </a:pPr>
            <a:r>
              <a:rPr sz="1900">
                <a:solidFill>
                  <a:srgbClr val="191919"/>
                </a:solidFill>
                <a:latin typeface="Aptos"/>
              </a:rPr>
              <a:t>Clickjacking is a user-interface redressing attack in which a </a:t>
            </a:r>
            <a:r>
              <a:rPr sz="1900" b="1">
                <a:solidFill>
                  <a:srgbClr val="191919"/>
                </a:solidFill>
                <a:latin typeface="Aptos"/>
              </a:rPr>
              <a:t>victim</a:t>
            </a:r>
            <a:r>
              <a:rPr sz="1900">
                <a:solidFill>
                  <a:srgbClr val="191919"/>
                </a:solidFill>
                <a:latin typeface="Aptos"/>
              </a:rPr>
              <a:t> is tricked into clicking a visible or apparently harmless element while the actual click is directed toward a hidden or overlaid element from another page. The </a:t>
            </a:r>
            <a:r>
              <a:rPr sz="1900" b="1">
                <a:solidFill>
                  <a:srgbClr val="191919"/>
                </a:solidFill>
                <a:latin typeface="Aptos"/>
              </a:rPr>
              <a:t>victim</a:t>
            </a:r>
            <a:r>
              <a:rPr sz="1900">
                <a:solidFill>
                  <a:srgbClr val="191919"/>
                </a:solidFill>
                <a:latin typeface="Aptos"/>
              </a:rPr>
              <a:t> may unknowingly perform actions such as changing settings, submitting forms, granting permissions, or interacting with an account. The attack abuses the difference between what the user believes they are clicking and what the browser actually receives. Security headers such as Content-Security-Policy frame controls and X-Frame-Options, together with appropriate </a:t>
            </a:r>
            <a:r>
              <a:rPr sz="1900" b="1">
                <a:solidFill>
                  <a:srgbClr val="191919"/>
                </a:solidFill>
                <a:latin typeface="Aptos"/>
              </a:rPr>
              <a:t>application</a:t>
            </a:r>
            <a:r>
              <a:rPr sz="1900">
                <a:solidFill>
                  <a:srgbClr val="191919"/>
                </a:solidFill>
                <a:latin typeface="Aptos"/>
              </a:rPr>
              <a:t> design, can reduce clickjacking risk.</a:t>
            </a:r>
          </a:p>
        </p:txBody>
      </p:sp>
      <p:sp>
        <p:nvSpPr>
          <p:cNvPr id="9" name="TextBox 8"/>
          <p:cNvSpPr txBox="1"/>
          <p:nvPr/>
        </p:nvSpPr>
        <p:spPr>
          <a:xfrm>
            <a:off x="502920" y="6473952"/>
            <a:ext cx="11155680" cy="228600"/>
          </a:xfrm>
          <a:prstGeom prst="rect">
            <a:avLst/>
          </a:prstGeom>
          <a:noFill/>
        </p:spPr>
        <p:txBody>
          <a:bodyPr wrap="none">
            <a:spAutoFit/>
          </a:bodyPr>
          <a:lstStyle/>
          <a:p>
            <a:pPr algn="r">
              <a:defRPr sz="900">
                <a:solidFill>
                  <a:srgbClr val="B7C0CC"/>
                </a:solidFill>
                <a:latin typeface="Aptos"/>
              </a:defRPr>
            </a:pPr>
            <a:r>
              <a:rPr>
                <a:solidFill>
                  <a:srgbClr val="191919"/>
                </a:solidFill>
                <a:latin typeface="Aptos"/>
              </a:rPr>
              <a:t>Cybersecurity Study Presentation • Exam-ready definitions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146304"/>
          </a:xfrm>
          <a:prstGeom prst="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640080" cy="320040"/>
          </a:xfrm>
          <a:prstGeom prst="rect">
            <a:avLst/>
          </a:prstGeom>
          <a:noFill/>
        </p:spPr>
        <p:txBody>
          <a:bodyPr wrap="none">
            <a:spAutoFit/>
          </a:bodyPr>
          <a:lstStyle/>
          <a:p>
            <a:pPr>
              <a:defRPr sz="1500" b="1">
                <a:solidFill>
                  <a:srgbClr val="FFE25C"/>
                </a:solidFill>
              </a:defRPr>
            </a:pPr>
            <a:r>
              <a:rPr>
                <a:solidFill>
                  <a:srgbClr val="191919"/>
                </a:solidFill>
                <a:latin typeface="Aptos"/>
              </a:rPr>
              <a:t>40</a:t>
            </a:r>
          </a:p>
        </p:txBody>
      </p:sp>
      <p:sp>
        <p:nvSpPr>
          <p:cNvPr id="4" name="TextBox 3"/>
          <p:cNvSpPr txBox="1"/>
          <p:nvPr/>
        </p:nvSpPr>
        <p:spPr>
          <a:xfrm>
            <a:off x="777240" y="530352"/>
            <a:ext cx="10698480" cy="658368"/>
          </a:xfrm>
          <a:prstGeom prst="rect">
            <a:avLst/>
          </a:prstGeom>
          <a:noFill/>
        </p:spPr>
        <p:txBody>
          <a:bodyPr wrap="square" lIns="73152" rIns="73152" tIns="36576" bIns="36576">
            <a:spAutoFit/>
          </a:bodyPr>
          <a:lstStyle/>
          <a:p>
            <a:pPr algn="l">
              <a:defRPr sz="2800" b="1">
                <a:solidFill>
                  <a:srgbClr val="F5F7FA"/>
                </a:solidFill>
                <a:latin typeface="Aptos"/>
              </a:defRPr>
            </a:pPr>
            <a:r>
              <a:rPr>
                <a:solidFill>
                  <a:srgbClr val="191919"/>
                </a:solidFill>
                <a:latin typeface="Aptos"/>
              </a:rPr>
              <a:t>Cryptojacking Attack</a:t>
            </a:r>
          </a:p>
        </p:txBody>
      </p:sp>
      <p:sp>
        <p:nvSpPr>
          <p:cNvPr id="5" name="Rounded Rectangle 4"/>
          <p:cNvSpPr/>
          <p:nvPr/>
        </p:nvSpPr>
        <p:spPr>
          <a:xfrm>
            <a:off x="786384" y="1207008"/>
            <a:ext cx="1645920" cy="347472"/>
          </a:xfrm>
          <a:prstGeom prst="round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252728"/>
            <a:ext cx="1417320" cy="201168"/>
          </a:xfrm>
          <a:prstGeom prst="rect">
            <a:avLst/>
          </a:prstGeom>
          <a:noFill/>
        </p:spPr>
        <p:txBody>
          <a:bodyPr wrap="square" lIns="73152" rIns="73152" tIns="36576" bIns="36576">
            <a:spAutoFit/>
          </a:bodyPr>
          <a:lstStyle/>
          <a:p>
            <a:pPr algn="l">
              <a:defRPr sz="1000" b="1">
                <a:solidFill>
                  <a:srgbClr val="11161D"/>
                </a:solidFill>
                <a:latin typeface="Aptos"/>
              </a:defRPr>
            </a:pPr>
            <a:r>
              <a:rPr>
                <a:solidFill>
                  <a:srgbClr val="191919"/>
                </a:solidFill>
                <a:latin typeface="Aptos"/>
              </a:rPr>
              <a:t>ATTACK 40</a:t>
            </a:r>
          </a:p>
        </p:txBody>
      </p:sp>
      <p:sp>
        <p:nvSpPr>
          <p:cNvPr id="7" name="Rounded Rectangle 6"/>
          <p:cNvSpPr/>
          <p:nvPr/>
        </p:nvSpPr>
        <p:spPr>
          <a:xfrm>
            <a:off x="685800" y="1783080"/>
            <a:ext cx="10835640" cy="4297680"/>
          </a:xfrm>
          <a:prstGeom prst="roundRect">
            <a:avLst/>
          </a:prstGeom>
          <a:solidFill>
            <a:srgbClr val="F6F8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29968"/>
            <a:ext cx="10378440" cy="3749039"/>
          </a:xfrm>
          <a:prstGeom prst="rect">
            <a:avLst/>
          </a:prstGeom>
          <a:noFill/>
        </p:spPr>
        <p:txBody>
          <a:bodyPr wrap="square" lIns="164592" rIns="164592" tIns="109728" bIns="109728">
            <a:spAutoFit/>
          </a:bodyPr>
          <a:lstStyle/>
          <a:p>
            <a:pPr>
              <a:defRPr sz="1900">
                <a:solidFill>
                  <a:srgbClr val="F5F7FA"/>
                </a:solidFill>
                <a:latin typeface="Aptos"/>
              </a:defRPr>
            </a:pPr>
            <a:r>
              <a:rPr sz="1900">
                <a:solidFill>
                  <a:srgbClr val="191919"/>
                </a:solidFill>
                <a:latin typeface="Aptos"/>
              </a:rPr>
              <a:t>Cryptojacking is the </a:t>
            </a:r>
            <a:r>
              <a:rPr sz="1900" b="1">
                <a:solidFill>
                  <a:srgbClr val="191919"/>
                </a:solidFill>
                <a:latin typeface="Aptos"/>
              </a:rPr>
              <a:t>unauthorized</a:t>
            </a:r>
            <a:r>
              <a:rPr sz="1900">
                <a:solidFill>
                  <a:srgbClr val="191919"/>
                </a:solidFill>
                <a:latin typeface="Aptos"/>
              </a:rPr>
              <a:t> use of another person's computer, </a:t>
            </a:r>
            <a:r>
              <a:rPr sz="1900" b="1">
                <a:solidFill>
                  <a:srgbClr val="191919"/>
                </a:solidFill>
                <a:latin typeface="Aptos"/>
              </a:rPr>
              <a:t>server</a:t>
            </a:r>
            <a:r>
              <a:rPr sz="1900">
                <a:solidFill>
                  <a:srgbClr val="191919"/>
                </a:solidFill>
                <a:latin typeface="Aptos"/>
              </a:rPr>
              <a:t>, cloud resources, or other devices to perform cryptocurrency mining. The </a:t>
            </a:r>
            <a:r>
              <a:rPr sz="1900" b="1">
                <a:solidFill>
                  <a:srgbClr val="191919"/>
                </a:solidFill>
                <a:latin typeface="Aptos"/>
              </a:rPr>
              <a:t>attacker</a:t>
            </a:r>
            <a:r>
              <a:rPr sz="1900">
                <a:solidFill>
                  <a:srgbClr val="191919"/>
                </a:solidFill>
                <a:latin typeface="Aptos"/>
              </a:rPr>
              <a:t> may install </a:t>
            </a:r>
            <a:r>
              <a:rPr sz="1900" b="1">
                <a:solidFill>
                  <a:srgbClr val="191919"/>
                </a:solidFill>
                <a:latin typeface="Aptos"/>
              </a:rPr>
              <a:t>malware</a:t>
            </a:r>
            <a:r>
              <a:rPr sz="1900">
                <a:solidFill>
                  <a:srgbClr val="191919"/>
                </a:solidFill>
                <a:latin typeface="Aptos"/>
              </a:rPr>
              <a:t> on a device or use </a:t>
            </a:r>
            <a:r>
              <a:rPr sz="1900" b="1">
                <a:solidFill>
                  <a:srgbClr val="191919"/>
                </a:solidFill>
                <a:latin typeface="Aptos"/>
              </a:rPr>
              <a:t>malicious</a:t>
            </a:r>
            <a:r>
              <a:rPr sz="1900">
                <a:solidFill>
                  <a:srgbClr val="191919"/>
                </a:solidFill>
                <a:latin typeface="Aptos"/>
              </a:rPr>
              <a:t> code in a web page to consume the </a:t>
            </a:r>
            <a:r>
              <a:rPr sz="1900" b="1">
                <a:solidFill>
                  <a:srgbClr val="191919"/>
                </a:solidFill>
                <a:latin typeface="Aptos"/>
              </a:rPr>
              <a:t>victim</a:t>
            </a:r>
            <a:r>
              <a:rPr sz="1900">
                <a:solidFill>
                  <a:srgbClr val="191919"/>
                </a:solidFill>
                <a:latin typeface="Aptos"/>
              </a:rPr>
              <a:t>'s CPU, GPU, electricity, bandwidth, or cloud computing resources. The </a:t>
            </a:r>
            <a:r>
              <a:rPr sz="1900" b="1">
                <a:solidFill>
                  <a:srgbClr val="191919"/>
                </a:solidFill>
                <a:latin typeface="Aptos"/>
              </a:rPr>
              <a:t>victim</a:t>
            </a:r>
            <a:r>
              <a:rPr sz="1900">
                <a:solidFill>
                  <a:srgbClr val="191919"/>
                </a:solidFill>
                <a:latin typeface="Aptos"/>
              </a:rPr>
              <a:t> may experience high resource usage, slower performance, overheating, increased energy costs, or unexpected cloud bills. Cryptojacking is primarily a resource-abuse attack rather than a direct attempt to encrypt or steal files. Endpoint monitoring, browser controls, patching, </a:t>
            </a:r>
            <a:r>
              <a:rPr sz="1900" b="1">
                <a:solidFill>
                  <a:srgbClr val="191919"/>
                </a:solidFill>
                <a:latin typeface="Aptos"/>
              </a:rPr>
              <a:t>application</a:t>
            </a:r>
            <a:r>
              <a:rPr sz="1900">
                <a:solidFill>
                  <a:srgbClr val="191919"/>
                </a:solidFill>
                <a:latin typeface="Aptos"/>
              </a:rPr>
              <a:t> restrictions, and resource anomaly detection can help identify it.</a:t>
            </a:r>
          </a:p>
        </p:txBody>
      </p:sp>
      <p:sp>
        <p:nvSpPr>
          <p:cNvPr id="9" name="TextBox 8"/>
          <p:cNvSpPr txBox="1"/>
          <p:nvPr/>
        </p:nvSpPr>
        <p:spPr>
          <a:xfrm>
            <a:off x="502920" y="6473952"/>
            <a:ext cx="11155680" cy="228600"/>
          </a:xfrm>
          <a:prstGeom prst="rect">
            <a:avLst/>
          </a:prstGeom>
          <a:noFill/>
        </p:spPr>
        <p:txBody>
          <a:bodyPr wrap="none">
            <a:spAutoFit/>
          </a:bodyPr>
          <a:lstStyle/>
          <a:p>
            <a:pPr algn="r">
              <a:defRPr sz="900">
                <a:solidFill>
                  <a:srgbClr val="B7C0CC"/>
                </a:solidFill>
                <a:latin typeface="Aptos"/>
              </a:defRPr>
            </a:pPr>
            <a:r>
              <a:rPr>
                <a:solidFill>
                  <a:srgbClr val="191919"/>
                </a:solidFill>
                <a:latin typeface="Aptos"/>
              </a:rPr>
              <a:t>Cybersecurity Study Presentation • Exam-ready definitions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146304"/>
          </a:xfrm>
          <a:prstGeom prst="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640080" cy="320040"/>
          </a:xfrm>
          <a:prstGeom prst="rect">
            <a:avLst/>
          </a:prstGeom>
          <a:noFill/>
        </p:spPr>
        <p:txBody>
          <a:bodyPr wrap="none">
            <a:spAutoFit/>
          </a:bodyPr>
          <a:lstStyle/>
          <a:p>
            <a:pPr>
              <a:defRPr sz="1500" b="1">
                <a:solidFill>
                  <a:srgbClr val="FFE25C"/>
                </a:solidFill>
              </a:defRPr>
            </a:pPr>
            <a:r>
              <a:rPr>
                <a:solidFill>
                  <a:srgbClr val="191919"/>
                </a:solidFill>
                <a:latin typeface="Aptos"/>
              </a:rPr>
              <a:t>41</a:t>
            </a:r>
          </a:p>
        </p:txBody>
      </p:sp>
      <p:sp>
        <p:nvSpPr>
          <p:cNvPr id="4" name="TextBox 3"/>
          <p:cNvSpPr txBox="1"/>
          <p:nvPr/>
        </p:nvSpPr>
        <p:spPr>
          <a:xfrm>
            <a:off x="777240" y="530352"/>
            <a:ext cx="10698480" cy="658368"/>
          </a:xfrm>
          <a:prstGeom prst="rect">
            <a:avLst/>
          </a:prstGeom>
          <a:noFill/>
        </p:spPr>
        <p:txBody>
          <a:bodyPr wrap="square" lIns="73152" rIns="73152" tIns="36576" bIns="36576">
            <a:spAutoFit/>
          </a:bodyPr>
          <a:lstStyle/>
          <a:p>
            <a:pPr algn="l">
              <a:defRPr sz="2800" b="1">
                <a:solidFill>
                  <a:srgbClr val="F5F7FA"/>
                </a:solidFill>
                <a:latin typeface="Aptos"/>
              </a:defRPr>
            </a:pPr>
            <a:r>
              <a:rPr>
                <a:solidFill>
                  <a:srgbClr val="191919"/>
                </a:solidFill>
                <a:latin typeface="Aptos"/>
              </a:rPr>
              <a:t>Dictionary Attack</a:t>
            </a:r>
          </a:p>
        </p:txBody>
      </p:sp>
      <p:sp>
        <p:nvSpPr>
          <p:cNvPr id="5" name="Rounded Rectangle 4"/>
          <p:cNvSpPr/>
          <p:nvPr/>
        </p:nvSpPr>
        <p:spPr>
          <a:xfrm>
            <a:off x="786384" y="1207008"/>
            <a:ext cx="1645920" cy="347472"/>
          </a:xfrm>
          <a:prstGeom prst="round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252728"/>
            <a:ext cx="1417320" cy="201168"/>
          </a:xfrm>
          <a:prstGeom prst="rect">
            <a:avLst/>
          </a:prstGeom>
          <a:noFill/>
        </p:spPr>
        <p:txBody>
          <a:bodyPr wrap="square" lIns="73152" rIns="73152" tIns="36576" bIns="36576">
            <a:spAutoFit/>
          </a:bodyPr>
          <a:lstStyle/>
          <a:p>
            <a:pPr algn="l">
              <a:defRPr sz="1000" b="1">
                <a:solidFill>
                  <a:srgbClr val="11161D"/>
                </a:solidFill>
                <a:latin typeface="Aptos"/>
              </a:defRPr>
            </a:pPr>
            <a:r>
              <a:rPr>
                <a:solidFill>
                  <a:srgbClr val="191919"/>
                </a:solidFill>
                <a:latin typeface="Aptos"/>
              </a:rPr>
              <a:t>ATTACK 41</a:t>
            </a:r>
          </a:p>
        </p:txBody>
      </p:sp>
      <p:sp>
        <p:nvSpPr>
          <p:cNvPr id="7" name="Rounded Rectangle 6"/>
          <p:cNvSpPr/>
          <p:nvPr/>
        </p:nvSpPr>
        <p:spPr>
          <a:xfrm>
            <a:off x="685800" y="1783080"/>
            <a:ext cx="10835640" cy="4297680"/>
          </a:xfrm>
          <a:prstGeom prst="roundRect">
            <a:avLst/>
          </a:prstGeom>
          <a:solidFill>
            <a:srgbClr val="F6F8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29968"/>
            <a:ext cx="10378440" cy="3749039"/>
          </a:xfrm>
          <a:prstGeom prst="rect">
            <a:avLst/>
          </a:prstGeom>
          <a:noFill/>
        </p:spPr>
        <p:txBody>
          <a:bodyPr wrap="square" lIns="164592" rIns="164592" tIns="109728" bIns="109728">
            <a:spAutoFit/>
          </a:bodyPr>
          <a:lstStyle/>
          <a:p>
            <a:pPr>
              <a:defRPr sz="1900">
                <a:solidFill>
                  <a:srgbClr val="F5F7FA"/>
                </a:solidFill>
                <a:latin typeface="Aptos"/>
              </a:defRPr>
            </a:pPr>
            <a:r>
              <a:rPr sz="1900">
                <a:solidFill>
                  <a:srgbClr val="191919"/>
                </a:solidFill>
                <a:latin typeface="Aptos"/>
              </a:rPr>
              <a:t>A dictionary attack is a </a:t>
            </a:r>
            <a:r>
              <a:rPr sz="1900" b="1">
                <a:solidFill>
                  <a:srgbClr val="191919"/>
                </a:solidFill>
                <a:latin typeface="Aptos"/>
              </a:rPr>
              <a:t>password</a:t>
            </a:r>
            <a:r>
              <a:rPr sz="1900">
                <a:solidFill>
                  <a:srgbClr val="191919"/>
                </a:solidFill>
                <a:latin typeface="Aptos"/>
              </a:rPr>
              <a:t>-guessing technique in which an </a:t>
            </a:r>
            <a:r>
              <a:rPr sz="1900" b="1">
                <a:solidFill>
                  <a:srgbClr val="191919"/>
                </a:solidFill>
                <a:latin typeface="Aptos"/>
              </a:rPr>
              <a:t>attacker</a:t>
            </a:r>
            <a:r>
              <a:rPr sz="1900">
                <a:solidFill>
                  <a:srgbClr val="191919"/>
                </a:solidFill>
                <a:latin typeface="Aptos"/>
              </a:rPr>
              <a:t> attempts </a:t>
            </a:r>
            <a:r>
              <a:rPr sz="1900" b="1">
                <a:solidFill>
                  <a:srgbClr val="191919"/>
                </a:solidFill>
                <a:latin typeface="Aptos"/>
              </a:rPr>
              <a:t>password</a:t>
            </a:r>
            <a:r>
              <a:rPr sz="1900">
                <a:solidFill>
                  <a:srgbClr val="191919"/>
                </a:solidFill>
                <a:latin typeface="Aptos"/>
              </a:rPr>
              <a:t>s from a prepared list of likely words, phrases, common </a:t>
            </a:r>
            <a:r>
              <a:rPr sz="1900" b="1">
                <a:solidFill>
                  <a:srgbClr val="191919"/>
                </a:solidFill>
                <a:latin typeface="Aptos"/>
              </a:rPr>
              <a:t>password</a:t>
            </a:r>
            <a:r>
              <a:rPr sz="1900">
                <a:solidFill>
                  <a:srgbClr val="191919"/>
                </a:solidFill>
                <a:latin typeface="Aptos"/>
              </a:rPr>
              <a:t>s, leaked </a:t>
            </a:r>
            <a:r>
              <a:rPr sz="1900" b="1">
                <a:solidFill>
                  <a:srgbClr val="191919"/>
                </a:solidFill>
                <a:latin typeface="Aptos"/>
              </a:rPr>
              <a:t>password</a:t>
            </a:r>
            <a:r>
              <a:rPr sz="1900">
                <a:solidFill>
                  <a:srgbClr val="191919"/>
                </a:solidFill>
                <a:latin typeface="Aptos"/>
              </a:rPr>
              <a:t>s, and predictable variations. It is more efficient than trying every possible combination because many users choose </a:t>
            </a:r>
            <a:r>
              <a:rPr sz="1900" b="1">
                <a:solidFill>
                  <a:srgbClr val="191919"/>
                </a:solidFill>
                <a:latin typeface="Aptos"/>
              </a:rPr>
              <a:t>password</a:t>
            </a:r>
            <a:r>
              <a:rPr sz="1900">
                <a:solidFill>
                  <a:srgbClr val="191919"/>
                </a:solidFill>
                <a:latin typeface="Aptos"/>
              </a:rPr>
              <a:t>s based on common words, names, dates, or patterns. The </a:t>
            </a:r>
            <a:r>
              <a:rPr sz="1900" b="1">
                <a:solidFill>
                  <a:srgbClr val="191919"/>
                </a:solidFill>
                <a:latin typeface="Aptos"/>
              </a:rPr>
              <a:t>attacker</a:t>
            </a:r>
            <a:r>
              <a:rPr sz="1900">
                <a:solidFill>
                  <a:srgbClr val="191919"/>
                </a:solidFill>
                <a:latin typeface="Aptos"/>
              </a:rPr>
              <a:t> may automate the attempts against one or more accounts depending on the target. Strong unique </a:t>
            </a:r>
            <a:r>
              <a:rPr sz="1900" b="1">
                <a:solidFill>
                  <a:srgbClr val="191919"/>
                </a:solidFill>
                <a:latin typeface="Aptos"/>
              </a:rPr>
              <a:t>password</a:t>
            </a:r>
            <a:r>
              <a:rPr sz="1900">
                <a:solidFill>
                  <a:srgbClr val="191919"/>
                </a:solidFill>
                <a:latin typeface="Aptos"/>
              </a:rPr>
              <a:t>s, </a:t>
            </a:r>
            <a:r>
              <a:rPr sz="1900" b="1">
                <a:solidFill>
                  <a:srgbClr val="191919"/>
                </a:solidFill>
                <a:latin typeface="Aptos"/>
              </a:rPr>
              <a:t>password</a:t>
            </a:r>
            <a:r>
              <a:rPr sz="1900">
                <a:solidFill>
                  <a:srgbClr val="191919"/>
                </a:solidFill>
                <a:latin typeface="Aptos"/>
              </a:rPr>
              <a:t> managers, rate limiting, account protection, multi-factor </a:t>
            </a:r>
            <a:r>
              <a:rPr sz="1900" b="1">
                <a:solidFill>
                  <a:srgbClr val="191919"/>
                </a:solidFill>
                <a:latin typeface="Aptos"/>
              </a:rPr>
              <a:t>authentication</a:t>
            </a:r>
            <a:r>
              <a:rPr sz="1900">
                <a:solidFill>
                  <a:srgbClr val="191919"/>
                </a:solidFill>
                <a:latin typeface="Aptos"/>
              </a:rPr>
              <a:t>, and blocking commonly compromised </a:t>
            </a:r>
            <a:r>
              <a:rPr sz="1900" b="1">
                <a:solidFill>
                  <a:srgbClr val="191919"/>
                </a:solidFill>
                <a:latin typeface="Aptos"/>
              </a:rPr>
              <a:t>password</a:t>
            </a:r>
            <a:r>
              <a:rPr sz="1900">
                <a:solidFill>
                  <a:srgbClr val="191919"/>
                </a:solidFill>
                <a:latin typeface="Aptos"/>
              </a:rPr>
              <a:t>s can reduce the success of dictionary attacks.</a:t>
            </a:r>
          </a:p>
        </p:txBody>
      </p:sp>
      <p:sp>
        <p:nvSpPr>
          <p:cNvPr id="9" name="TextBox 8"/>
          <p:cNvSpPr txBox="1"/>
          <p:nvPr/>
        </p:nvSpPr>
        <p:spPr>
          <a:xfrm>
            <a:off x="502920" y="6473952"/>
            <a:ext cx="11155680" cy="228600"/>
          </a:xfrm>
          <a:prstGeom prst="rect">
            <a:avLst/>
          </a:prstGeom>
          <a:noFill/>
        </p:spPr>
        <p:txBody>
          <a:bodyPr wrap="none">
            <a:spAutoFit/>
          </a:bodyPr>
          <a:lstStyle/>
          <a:p>
            <a:pPr algn="r">
              <a:defRPr sz="900">
                <a:solidFill>
                  <a:srgbClr val="B7C0CC"/>
                </a:solidFill>
                <a:latin typeface="Aptos"/>
              </a:defRPr>
            </a:pPr>
            <a:r>
              <a:rPr>
                <a:solidFill>
                  <a:srgbClr val="191919"/>
                </a:solidFill>
                <a:latin typeface="Aptos"/>
              </a:rPr>
              <a:t>Cybersecurity Study Presentation • Exam-ready definitions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146304"/>
          </a:xfrm>
          <a:prstGeom prst="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640080" cy="320040"/>
          </a:xfrm>
          <a:prstGeom prst="rect">
            <a:avLst/>
          </a:prstGeom>
          <a:noFill/>
        </p:spPr>
        <p:txBody>
          <a:bodyPr wrap="none">
            <a:spAutoFit/>
          </a:bodyPr>
          <a:lstStyle/>
          <a:p>
            <a:pPr>
              <a:defRPr sz="1500" b="1">
                <a:solidFill>
                  <a:srgbClr val="FFE25C"/>
                </a:solidFill>
              </a:defRPr>
            </a:pPr>
            <a:r>
              <a:rPr>
                <a:solidFill>
                  <a:srgbClr val="191919"/>
                </a:solidFill>
                <a:latin typeface="Aptos"/>
              </a:rPr>
              <a:t>42</a:t>
            </a:r>
          </a:p>
        </p:txBody>
      </p:sp>
      <p:sp>
        <p:nvSpPr>
          <p:cNvPr id="4" name="TextBox 3"/>
          <p:cNvSpPr txBox="1"/>
          <p:nvPr/>
        </p:nvSpPr>
        <p:spPr>
          <a:xfrm>
            <a:off x="777240" y="530352"/>
            <a:ext cx="10698480" cy="658368"/>
          </a:xfrm>
          <a:prstGeom prst="rect">
            <a:avLst/>
          </a:prstGeom>
          <a:noFill/>
        </p:spPr>
        <p:txBody>
          <a:bodyPr wrap="square" lIns="73152" rIns="73152" tIns="36576" bIns="36576">
            <a:spAutoFit/>
          </a:bodyPr>
          <a:lstStyle/>
          <a:p>
            <a:pPr algn="l">
              <a:defRPr sz="2800" b="1">
                <a:solidFill>
                  <a:srgbClr val="F5F7FA"/>
                </a:solidFill>
                <a:latin typeface="Aptos"/>
              </a:defRPr>
            </a:pPr>
            <a:r>
              <a:rPr>
                <a:solidFill>
                  <a:srgbClr val="191919"/>
                </a:solidFill>
                <a:latin typeface="Aptos"/>
              </a:rPr>
              <a:t>Rainbow Table Attack</a:t>
            </a:r>
          </a:p>
        </p:txBody>
      </p:sp>
      <p:sp>
        <p:nvSpPr>
          <p:cNvPr id="5" name="Rounded Rectangle 4"/>
          <p:cNvSpPr/>
          <p:nvPr/>
        </p:nvSpPr>
        <p:spPr>
          <a:xfrm>
            <a:off x="786384" y="1207008"/>
            <a:ext cx="1645920" cy="347472"/>
          </a:xfrm>
          <a:prstGeom prst="round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252728"/>
            <a:ext cx="1417320" cy="201168"/>
          </a:xfrm>
          <a:prstGeom prst="rect">
            <a:avLst/>
          </a:prstGeom>
          <a:noFill/>
        </p:spPr>
        <p:txBody>
          <a:bodyPr wrap="square" lIns="73152" rIns="73152" tIns="36576" bIns="36576">
            <a:spAutoFit/>
          </a:bodyPr>
          <a:lstStyle/>
          <a:p>
            <a:pPr algn="l">
              <a:defRPr sz="1000" b="1">
                <a:solidFill>
                  <a:srgbClr val="11161D"/>
                </a:solidFill>
                <a:latin typeface="Aptos"/>
              </a:defRPr>
            </a:pPr>
            <a:r>
              <a:rPr>
                <a:solidFill>
                  <a:srgbClr val="191919"/>
                </a:solidFill>
                <a:latin typeface="Aptos"/>
              </a:rPr>
              <a:t>ATTACK 42</a:t>
            </a:r>
          </a:p>
        </p:txBody>
      </p:sp>
      <p:sp>
        <p:nvSpPr>
          <p:cNvPr id="7" name="Rounded Rectangle 6"/>
          <p:cNvSpPr/>
          <p:nvPr/>
        </p:nvSpPr>
        <p:spPr>
          <a:xfrm>
            <a:off x="685800" y="1783080"/>
            <a:ext cx="10835640" cy="4297680"/>
          </a:xfrm>
          <a:prstGeom prst="roundRect">
            <a:avLst/>
          </a:prstGeom>
          <a:solidFill>
            <a:srgbClr val="F6F8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29968"/>
            <a:ext cx="10378440" cy="3749039"/>
          </a:xfrm>
          <a:prstGeom prst="rect">
            <a:avLst/>
          </a:prstGeom>
          <a:noFill/>
        </p:spPr>
        <p:txBody>
          <a:bodyPr wrap="square" lIns="164592" rIns="164592" tIns="109728" bIns="109728">
            <a:spAutoFit/>
          </a:bodyPr>
          <a:lstStyle/>
          <a:p>
            <a:pPr>
              <a:defRPr sz="1900">
                <a:solidFill>
                  <a:srgbClr val="F5F7FA"/>
                </a:solidFill>
                <a:latin typeface="Aptos"/>
              </a:defRPr>
            </a:pPr>
            <a:r>
              <a:rPr sz="1900">
                <a:solidFill>
                  <a:srgbClr val="191919"/>
                </a:solidFill>
                <a:latin typeface="Aptos"/>
              </a:rPr>
              <a:t>A rainbow table attack is a </a:t>
            </a:r>
            <a:r>
              <a:rPr sz="1900" b="1">
                <a:solidFill>
                  <a:srgbClr val="191919"/>
                </a:solidFill>
                <a:latin typeface="Aptos"/>
              </a:rPr>
              <a:t>password</a:t>
            </a:r>
            <a:r>
              <a:rPr sz="1900">
                <a:solidFill>
                  <a:srgbClr val="191919"/>
                </a:solidFill>
                <a:latin typeface="Aptos"/>
              </a:rPr>
              <a:t>-cracking technique that uses precomputed tables of </a:t>
            </a:r>
            <a:r>
              <a:rPr sz="1900" b="1">
                <a:solidFill>
                  <a:srgbClr val="191919"/>
                </a:solidFill>
                <a:latin typeface="Aptos"/>
              </a:rPr>
              <a:t>password</a:t>
            </a:r>
            <a:r>
              <a:rPr sz="1900">
                <a:solidFill>
                  <a:srgbClr val="191919"/>
                </a:solidFill>
                <a:latin typeface="Aptos"/>
              </a:rPr>
              <a:t>-hash relationships to recover </a:t>
            </a:r>
            <a:r>
              <a:rPr sz="1900" b="1">
                <a:solidFill>
                  <a:srgbClr val="191919"/>
                </a:solidFill>
                <a:latin typeface="Aptos"/>
              </a:rPr>
              <a:t>password</a:t>
            </a:r>
            <a:r>
              <a:rPr sz="1900">
                <a:solidFill>
                  <a:srgbClr val="191919"/>
                </a:solidFill>
                <a:latin typeface="Aptos"/>
              </a:rPr>
              <a:t>s from stolen unsalted </a:t>
            </a:r>
            <a:r>
              <a:rPr sz="1900" b="1">
                <a:solidFill>
                  <a:srgbClr val="191919"/>
                </a:solidFill>
                <a:latin typeface="Aptos"/>
              </a:rPr>
              <a:t>password</a:t>
            </a:r>
            <a:r>
              <a:rPr sz="1900">
                <a:solidFill>
                  <a:srgbClr val="191919"/>
                </a:solidFill>
                <a:latin typeface="Aptos"/>
              </a:rPr>
              <a:t> hashes more efficiently than calculating every candidate hash from scratch. A rainbow table stores chains of computations that allow an </a:t>
            </a:r>
            <a:r>
              <a:rPr sz="1900" b="1">
                <a:solidFill>
                  <a:srgbClr val="191919"/>
                </a:solidFill>
                <a:latin typeface="Aptos"/>
              </a:rPr>
              <a:t>attacker</a:t>
            </a:r>
            <a:r>
              <a:rPr sz="1900">
                <a:solidFill>
                  <a:srgbClr val="191919"/>
                </a:solidFill>
                <a:latin typeface="Aptos"/>
              </a:rPr>
              <a:t> to search for a matching hash under the assumptions of the particular hashing algorithm and table. Modern </a:t>
            </a:r>
            <a:r>
              <a:rPr sz="1900" b="1">
                <a:solidFill>
                  <a:srgbClr val="191919"/>
                </a:solidFill>
                <a:latin typeface="Aptos"/>
              </a:rPr>
              <a:t>password</a:t>
            </a:r>
            <a:r>
              <a:rPr sz="1900">
                <a:solidFill>
                  <a:srgbClr val="191919"/>
                </a:solidFill>
                <a:latin typeface="Aptos"/>
              </a:rPr>
              <a:t> storage should use unique salts and slow, </a:t>
            </a:r>
            <a:r>
              <a:rPr sz="1900" b="1">
                <a:solidFill>
                  <a:srgbClr val="191919"/>
                </a:solidFill>
                <a:latin typeface="Aptos"/>
              </a:rPr>
              <a:t>password</a:t>
            </a:r>
            <a:r>
              <a:rPr sz="1900">
                <a:solidFill>
                  <a:srgbClr val="191919"/>
                </a:solidFill>
                <a:latin typeface="Aptos"/>
              </a:rPr>
              <a:t>-specific hashing algorithms, which greatly reduce the usefulness of precomputed tables. Strong </a:t>
            </a:r>
            <a:r>
              <a:rPr sz="1900" b="1">
                <a:solidFill>
                  <a:srgbClr val="191919"/>
                </a:solidFill>
                <a:latin typeface="Aptos"/>
              </a:rPr>
              <a:t>password</a:t>
            </a:r>
            <a:r>
              <a:rPr sz="1900">
                <a:solidFill>
                  <a:srgbClr val="191919"/>
                </a:solidFill>
                <a:latin typeface="Aptos"/>
              </a:rPr>
              <a:t>s and secure </a:t>
            </a:r>
            <a:r>
              <a:rPr sz="1900" b="1">
                <a:solidFill>
                  <a:srgbClr val="191919"/>
                </a:solidFill>
                <a:latin typeface="Aptos"/>
              </a:rPr>
              <a:t>password</a:t>
            </a:r>
            <a:r>
              <a:rPr sz="1900">
                <a:solidFill>
                  <a:srgbClr val="191919"/>
                </a:solidFill>
                <a:latin typeface="Aptos"/>
              </a:rPr>
              <a:t> storage practices further improve protection.</a:t>
            </a:r>
          </a:p>
        </p:txBody>
      </p:sp>
      <p:sp>
        <p:nvSpPr>
          <p:cNvPr id="9" name="TextBox 8"/>
          <p:cNvSpPr txBox="1"/>
          <p:nvPr/>
        </p:nvSpPr>
        <p:spPr>
          <a:xfrm>
            <a:off x="502920" y="6473952"/>
            <a:ext cx="11155680" cy="228600"/>
          </a:xfrm>
          <a:prstGeom prst="rect">
            <a:avLst/>
          </a:prstGeom>
          <a:noFill/>
        </p:spPr>
        <p:txBody>
          <a:bodyPr wrap="none">
            <a:spAutoFit/>
          </a:bodyPr>
          <a:lstStyle/>
          <a:p>
            <a:pPr algn="r">
              <a:defRPr sz="900">
                <a:solidFill>
                  <a:srgbClr val="B7C0CC"/>
                </a:solidFill>
                <a:latin typeface="Aptos"/>
              </a:defRPr>
            </a:pPr>
            <a:r>
              <a:rPr>
                <a:solidFill>
                  <a:srgbClr val="191919"/>
                </a:solidFill>
                <a:latin typeface="Aptos"/>
              </a:rPr>
              <a:t>Cybersecurity Study Presentation • Exam-ready definitions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146304"/>
          </a:xfrm>
          <a:prstGeom prst="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640080" cy="320040"/>
          </a:xfrm>
          <a:prstGeom prst="rect">
            <a:avLst/>
          </a:prstGeom>
          <a:noFill/>
        </p:spPr>
        <p:txBody>
          <a:bodyPr wrap="none">
            <a:spAutoFit/>
          </a:bodyPr>
          <a:lstStyle/>
          <a:p>
            <a:pPr>
              <a:defRPr sz="1500" b="1">
                <a:solidFill>
                  <a:srgbClr val="FFE25C"/>
                </a:solidFill>
              </a:defRPr>
            </a:pPr>
            <a:r>
              <a:rPr>
                <a:solidFill>
                  <a:srgbClr val="191919"/>
                </a:solidFill>
                <a:latin typeface="Aptos"/>
              </a:rPr>
              <a:t>43</a:t>
            </a:r>
          </a:p>
        </p:txBody>
      </p:sp>
      <p:sp>
        <p:nvSpPr>
          <p:cNvPr id="4" name="TextBox 3"/>
          <p:cNvSpPr txBox="1"/>
          <p:nvPr/>
        </p:nvSpPr>
        <p:spPr>
          <a:xfrm>
            <a:off x="777240" y="530352"/>
            <a:ext cx="10698480" cy="658368"/>
          </a:xfrm>
          <a:prstGeom prst="rect">
            <a:avLst/>
          </a:prstGeom>
          <a:noFill/>
        </p:spPr>
        <p:txBody>
          <a:bodyPr wrap="square" lIns="73152" rIns="73152" tIns="36576" bIns="36576">
            <a:spAutoFit/>
          </a:bodyPr>
          <a:lstStyle/>
          <a:p>
            <a:pPr algn="l">
              <a:defRPr sz="2800" b="1">
                <a:solidFill>
                  <a:srgbClr val="F5F7FA"/>
                </a:solidFill>
                <a:latin typeface="Aptos"/>
              </a:defRPr>
            </a:pPr>
            <a:r>
              <a:rPr>
                <a:solidFill>
                  <a:srgbClr val="191919"/>
                </a:solidFill>
                <a:latin typeface="Aptos"/>
              </a:rPr>
              <a:t>Typosquatting Attack</a:t>
            </a:r>
          </a:p>
        </p:txBody>
      </p:sp>
      <p:sp>
        <p:nvSpPr>
          <p:cNvPr id="5" name="Rounded Rectangle 4"/>
          <p:cNvSpPr/>
          <p:nvPr/>
        </p:nvSpPr>
        <p:spPr>
          <a:xfrm>
            <a:off x="786384" y="1207008"/>
            <a:ext cx="1645920" cy="347472"/>
          </a:xfrm>
          <a:prstGeom prst="round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252728"/>
            <a:ext cx="1417320" cy="201168"/>
          </a:xfrm>
          <a:prstGeom prst="rect">
            <a:avLst/>
          </a:prstGeom>
          <a:noFill/>
        </p:spPr>
        <p:txBody>
          <a:bodyPr wrap="square" lIns="73152" rIns="73152" tIns="36576" bIns="36576">
            <a:spAutoFit/>
          </a:bodyPr>
          <a:lstStyle/>
          <a:p>
            <a:pPr algn="l">
              <a:defRPr sz="1000" b="1">
                <a:solidFill>
                  <a:srgbClr val="11161D"/>
                </a:solidFill>
                <a:latin typeface="Aptos"/>
              </a:defRPr>
            </a:pPr>
            <a:r>
              <a:rPr>
                <a:solidFill>
                  <a:srgbClr val="191919"/>
                </a:solidFill>
                <a:latin typeface="Aptos"/>
              </a:rPr>
              <a:t>ATTACK 43</a:t>
            </a:r>
          </a:p>
        </p:txBody>
      </p:sp>
      <p:sp>
        <p:nvSpPr>
          <p:cNvPr id="7" name="Rounded Rectangle 6"/>
          <p:cNvSpPr/>
          <p:nvPr/>
        </p:nvSpPr>
        <p:spPr>
          <a:xfrm>
            <a:off x="685800" y="1783080"/>
            <a:ext cx="10835640" cy="4297680"/>
          </a:xfrm>
          <a:prstGeom prst="roundRect">
            <a:avLst/>
          </a:prstGeom>
          <a:solidFill>
            <a:srgbClr val="F6F8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29968"/>
            <a:ext cx="10378440" cy="3749039"/>
          </a:xfrm>
          <a:prstGeom prst="rect">
            <a:avLst/>
          </a:prstGeom>
          <a:noFill/>
        </p:spPr>
        <p:txBody>
          <a:bodyPr wrap="square" lIns="164592" rIns="164592" tIns="109728" bIns="109728">
            <a:spAutoFit/>
          </a:bodyPr>
          <a:lstStyle/>
          <a:p>
            <a:pPr>
              <a:defRPr sz="1900">
                <a:solidFill>
                  <a:srgbClr val="F5F7FA"/>
                </a:solidFill>
                <a:latin typeface="Aptos"/>
              </a:defRPr>
            </a:pPr>
            <a:r>
              <a:rPr sz="1900">
                <a:solidFill>
                  <a:srgbClr val="191919"/>
                </a:solidFill>
                <a:latin typeface="Aptos"/>
              </a:rPr>
              <a:t>Typosquatting is an attack or deceptive practice in which an </a:t>
            </a:r>
            <a:r>
              <a:rPr sz="1900" b="1">
                <a:solidFill>
                  <a:srgbClr val="191919"/>
                </a:solidFill>
                <a:latin typeface="Aptos"/>
              </a:rPr>
              <a:t>attacker</a:t>
            </a:r>
            <a:r>
              <a:rPr sz="1900">
                <a:solidFill>
                  <a:srgbClr val="191919"/>
                </a:solidFill>
                <a:latin typeface="Aptos"/>
              </a:rPr>
              <a:t> registers or uses a domain name that is very similar to a legitimate domain, often differing by a common typing mistake, omitted character, extra character, or visually confusing variation. The goal is to attract users who accidentally enter the wrong address or follow a misleading link. The fake site may be used for phishing, </a:t>
            </a:r>
            <a:r>
              <a:rPr sz="1900" b="1">
                <a:solidFill>
                  <a:srgbClr val="191919"/>
                </a:solidFill>
                <a:latin typeface="Aptos"/>
              </a:rPr>
              <a:t>malware</a:t>
            </a:r>
            <a:r>
              <a:rPr sz="1900">
                <a:solidFill>
                  <a:srgbClr val="191919"/>
                </a:solidFill>
                <a:latin typeface="Aptos"/>
              </a:rPr>
              <a:t> distribution, advertising, credential theft, or fraud. Users should verify domains carefully, while organizations can monitor look-alike domains, protect important domains, and use email and web security controls.</a:t>
            </a:r>
          </a:p>
        </p:txBody>
      </p:sp>
      <p:sp>
        <p:nvSpPr>
          <p:cNvPr id="9" name="TextBox 8"/>
          <p:cNvSpPr txBox="1"/>
          <p:nvPr/>
        </p:nvSpPr>
        <p:spPr>
          <a:xfrm>
            <a:off x="502920" y="6473952"/>
            <a:ext cx="11155680" cy="228600"/>
          </a:xfrm>
          <a:prstGeom prst="rect">
            <a:avLst/>
          </a:prstGeom>
          <a:noFill/>
        </p:spPr>
        <p:txBody>
          <a:bodyPr wrap="none">
            <a:spAutoFit/>
          </a:bodyPr>
          <a:lstStyle/>
          <a:p>
            <a:pPr algn="r">
              <a:defRPr sz="900">
                <a:solidFill>
                  <a:srgbClr val="B7C0CC"/>
                </a:solidFill>
                <a:latin typeface="Aptos"/>
              </a:defRPr>
            </a:pPr>
            <a:r>
              <a:rPr>
                <a:solidFill>
                  <a:srgbClr val="191919"/>
                </a:solidFill>
                <a:latin typeface="Aptos"/>
              </a:rPr>
              <a:t>Cybersecurity Study Presentation • Exam-ready definitions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146304"/>
          </a:xfrm>
          <a:prstGeom prst="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640080" cy="320040"/>
          </a:xfrm>
          <a:prstGeom prst="rect">
            <a:avLst/>
          </a:prstGeom>
          <a:noFill/>
        </p:spPr>
        <p:txBody>
          <a:bodyPr wrap="none">
            <a:spAutoFit/>
          </a:bodyPr>
          <a:lstStyle/>
          <a:p>
            <a:pPr>
              <a:defRPr sz="1500" b="1">
                <a:solidFill>
                  <a:srgbClr val="FFE25C"/>
                </a:solidFill>
              </a:defRPr>
            </a:pPr>
            <a:r>
              <a:rPr>
                <a:solidFill>
                  <a:srgbClr val="191919"/>
                </a:solidFill>
                <a:latin typeface="Aptos"/>
              </a:rPr>
              <a:t>44</a:t>
            </a:r>
          </a:p>
        </p:txBody>
      </p:sp>
      <p:sp>
        <p:nvSpPr>
          <p:cNvPr id="4" name="TextBox 3"/>
          <p:cNvSpPr txBox="1"/>
          <p:nvPr/>
        </p:nvSpPr>
        <p:spPr>
          <a:xfrm>
            <a:off x="777240" y="530352"/>
            <a:ext cx="10698480" cy="658368"/>
          </a:xfrm>
          <a:prstGeom prst="rect">
            <a:avLst/>
          </a:prstGeom>
          <a:noFill/>
        </p:spPr>
        <p:txBody>
          <a:bodyPr wrap="square" lIns="73152" rIns="73152" tIns="36576" bIns="36576">
            <a:spAutoFit/>
          </a:bodyPr>
          <a:lstStyle/>
          <a:p>
            <a:pPr algn="l">
              <a:defRPr sz="2800" b="1">
                <a:solidFill>
                  <a:srgbClr val="F5F7FA"/>
                </a:solidFill>
                <a:latin typeface="Aptos"/>
              </a:defRPr>
            </a:pPr>
            <a:r>
              <a:rPr>
                <a:solidFill>
                  <a:srgbClr val="191919"/>
                </a:solidFill>
                <a:latin typeface="Aptos"/>
              </a:rPr>
              <a:t>HTTP Request Smuggling</a:t>
            </a:r>
          </a:p>
        </p:txBody>
      </p:sp>
      <p:sp>
        <p:nvSpPr>
          <p:cNvPr id="5" name="Rounded Rectangle 4"/>
          <p:cNvSpPr/>
          <p:nvPr/>
        </p:nvSpPr>
        <p:spPr>
          <a:xfrm>
            <a:off x="786384" y="1207008"/>
            <a:ext cx="1645920" cy="347472"/>
          </a:xfrm>
          <a:prstGeom prst="round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252728"/>
            <a:ext cx="1417320" cy="201168"/>
          </a:xfrm>
          <a:prstGeom prst="rect">
            <a:avLst/>
          </a:prstGeom>
          <a:noFill/>
        </p:spPr>
        <p:txBody>
          <a:bodyPr wrap="square" lIns="73152" rIns="73152" tIns="36576" bIns="36576">
            <a:spAutoFit/>
          </a:bodyPr>
          <a:lstStyle/>
          <a:p>
            <a:pPr algn="l">
              <a:defRPr sz="1000" b="1">
                <a:solidFill>
                  <a:srgbClr val="11161D"/>
                </a:solidFill>
                <a:latin typeface="Aptos"/>
              </a:defRPr>
            </a:pPr>
            <a:r>
              <a:rPr>
                <a:solidFill>
                  <a:srgbClr val="191919"/>
                </a:solidFill>
                <a:latin typeface="Aptos"/>
              </a:rPr>
              <a:t>ATTACK 44</a:t>
            </a:r>
          </a:p>
        </p:txBody>
      </p:sp>
      <p:sp>
        <p:nvSpPr>
          <p:cNvPr id="7" name="Rounded Rectangle 6"/>
          <p:cNvSpPr/>
          <p:nvPr/>
        </p:nvSpPr>
        <p:spPr>
          <a:xfrm>
            <a:off x="685800" y="1783080"/>
            <a:ext cx="10835640" cy="4297680"/>
          </a:xfrm>
          <a:prstGeom prst="roundRect">
            <a:avLst/>
          </a:prstGeom>
          <a:solidFill>
            <a:srgbClr val="F6F8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29968"/>
            <a:ext cx="10378440" cy="3749039"/>
          </a:xfrm>
          <a:prstGeom prst="rect">
            <a:avLst/>
          </a:prstGeom>
          <a:noFill/>
        </p:spPr>
        <p:txBody>
          <a:bodyPr wrap="square" lIns="164592" rIns="164592" tIns="109728" bIns="109728">
            <a:spAutoFit/>
          </a:bodyPr>
          <a:lstStyle/>
          <a:p>
            <a:pPr>
              <a:defRPr sz="1900">
                <a:solidFill>
                  <a:srgbClr val="F5F7FA"/>
                </a:solidFill>
                <a:latin typeface="Aptos"/>
              </a:defRPr>
            </a:pPr>
            <a:r>
              <a:rPr sz="1900">
                <a:solidFill>
                  <a:srgbClr val="191919"/>
                </a:solidFill>
                <a:latin typeface="Aptos"/>
              </a:rPr>
              <a:t>HTTP Request Smuggling is a web attack that exploits differences in how front-end and back-end HTTP components interpret the boundaries of requests. It commonly affects architectures involving proxies, load balancers, gateways, and </a:t>
            </a:r>
            <a:r>
              <a:rPr sz="1900" b="1">
                <a:solidFill>
                  <a:srgbClr val="191919"/>
                </a:solidFill>
                <a:latin typeface="Aptos"/>
              </a:rPr>
              <a:t>application</a:t>
            </a:r>
            <a:r>
              <a:rPr sz="1900">
                <a:solidFill>
                  <a:srgbClr val="191919"/>
                </a:solidFill>
                <a:latin typeface="Aptos"/>
              </a:rPr>
              <a:t> </a:t>
            </a:r>
            <a:r>
              <a:rPr sz="1900" b="1">
                <a:solidFill>
                  <a:srgbClr val="191919"/>
                </a:solidFill>
                <a:latin typeface="Aptos"/>
              </a:rPr>
              <a:t>server</a:t>
            </a:r>
            <a:r>
              <a:rPr sz="1900">
                <a:solidFill>
                  <a:srgbClr val="191919"/>
                </a:solidFill>
                <a:latin typeface="Aptos"/>
              </a:rPr>
              <a:t>s. When these components disagree about where one request ends and another begins, an </a:t>
            </a:r>
            <a:r>
              <a:rPr sz="1900" b="1">
                <a:solidFill>
                  <a:srgbClr val="191919"/>
                </a:solidFill>
                <a:latin typeface="Aptos"/>
              </a:rPr>
              <a:t>attacker</a:t>
            </a:r>
            <a:r>
              <a:rPr sz="1900">
                <a:solidFill>
                  <a:srgbClr val="191919"/>
                </a:solidFill>
                <a:latin typeface="Aptos"/>
              </a:rPr>
              <a:t> may cause part of a crafted request to be interpreted differently by another component. This can enable request routing manipulation, cache poisoning, access-control bypass, or other attacks depending on the environment. Consistent HTTP parsing, secure proxy configuration, patched components, and careful handling of request framing help prevent it.</a:t>
            </a:r>
          </a:p>
        </p:txBody>
      </p:sp>
      <p:sp>
        <p:nvSpPr>
          <p:cNvPr id="9" name="TextBox 8"/>
          <p:cNvSpPr txBox="1"/>
          <p:nvPr/>
        </p:nvSpPr>
        <p:spPr>
          <a:xfrm>
            <a:off x="502920" y="6473952"/>
            <a:ext cx="11155680" cy="228600"/>
          </a:xfrm>
          <a:prstGeom prst="rect">
            <a:avLst/>
          </a:prstGeom>
          <a:noFill/>
        </p:spPr>
        <p:txBody>
          <a:bodyPr wrap="none">
            <a:spAutoFit/>
          </a:bodyPr>
          <a:lstStyle/>
          <a:p>
            <a:pPr algn="r">
              <a:defRPr sz="900">
                <a:solidFill>
                  <a:srgbClr val="B7C0CC"/>
                </a:solidFill>
                <a:latin typeface="Aptos"/>
              </a:defRPr>
            </a:pPr>
            <a:r>
              <a:rPr>
                <a:solidFill>
                  <a:srgbClr val="191919"/>
                </a:solidFill>
                <a:latin typeface="Aptos"/>
              </a:rPr>
              <a:t>Cybersecurity Study Presentation • Exam-ready definitions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146304"/>
          </a:xfrm>
          <a:prstGeom prst="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640080" cy="320040"/>
          </a:xfrm>
          <a:prstGeom prst="rect">
            <a:avLst/>
          </a:prstGeom>
          <a:noFill/>
        </p:spPr>
        <p:txBody>
          <a:bodyPr wrap="none">
            <a:spAutoFit/>
          </a:bodyPr>
          <a:lstStyle/>
          <a:p>
            <a:pPr>
              <a:defRPr sz="1500" b="1">
                <a:solidFill>
                  <a:srgbClr val="FFE25C"/>
                </a:solidFill>
              </a:defRPr>
            </a:pPr>
            <a:r>
              <a:rPr>
                <a:solidFill>
                  <a:srgbClr val="191919"/>
                </a:solidFill>
                <a:latin typeface="Aptos"/>
              </a:rPr>
              <a:t>45</a:t>
            </a:r>
          </a:p>
        </p:txBody>
      </p:sp>
      <p:sp>
        <p:nvSpPr>
          <p:cNvPr id="4" name="TextBox 3"/>
          <p:cNvSpPr txBox="1"/>
          <p:nvPr/>
        </p:nvSpPr>
        <p:spPr>
          <a:xfrm>
            <a:off x="777240" y="530352"/>
            <a:ext cx="10698480" cy="658368"/>
          </a:xfrm>
          <a:prstGeom prst="rect">
            <a:avLst/>
          </a:prstGeom>
          <a:noFill/>
        </p:spPr>
        <p:txBody>
          <a:bodyPr wrap="square" lIns="73152" rIns="73152" tIns="36576" bIns="36576">
            <a:spAutoFit/>
          </a:bodyPr>
          <a:lstStyle/>
          <a:p>
            <a:pPr algn="l">
              <a:defRPr sz="2800" b="1">
                <a:solidFill>
                  <a:srgbClr val="F5F7FA"/>
                </a:solidFill>
                <a:latin typeface="Aptos"/>
              </a:defRPr>
            </a:pPr>
            <a:r>
              <a:rPr>
                <a:solidFill>
                  <a:srgbClr val="191919"/>
                </a:solidFill>
                <a:latin typeface="Aptos"/>
              </a:rPr>
              <a:t>DLL Injection Attack</a:t>
            </a:r>
          </a:p>
        </p:txBody>
      </p:sp>
      <p:sp>
        <p:nvSpPr>
          <p:cNvPr id="5" name="Rounded Rectangle 4"/>
          <p:cNvSpPr/>
          <p:nvPr/>
        </p:nvSpPr>
        <p:spPr>
          <a:xfrm>
            <a:off x="786384" y="1207008"/>
            <a:ext cx="1645920" cy="347472"/>
          </a:xfrm>
          <a:prstGeom prst="round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252728"/>
            <a:ext cx="1417320" cy="201168"/>
          </a:xfrm>
          <a:prstGeom prst="rect">
            <a:avLst/>
          </a:prstGeom>
          <a:noFill/>
        </p:spPr>
        <p:txBody>
          <a:bodyPr wrap="square" lIns="73152" rIns="73152" tIns="36576" bIns="36576">
            <a:spAutoFit/>
          </a:bodyPr>
          <a:lstStyle/>
          <a:p>
            <a:pPr algn="l">
              <a:defRPr sz="1000" b="1">
                <a:solidFill>
                  <a:srgbClr val="11161D"/>
                </a:solidFill>
                <a:latin typeface="Aptos"/>
              </a:defRPr>
            </a:pPr>
            <a:r>
              <a:rPr>
                <a:solidFill>
                  <a:srgbClr val="191919"/>
                </a:solidFill>
                <a:latin typeface="Aptos"/>
              </a:rPr>
              <a:t>ATTACK 45</a:t>
            </a:r>
          </a:p>
        </p:txBody>
      </p:sp>
      <p:sp>
        <p:nvSpPr>
          <p:cNvPr id="7" name="Rounded Rectangle 6"/>
          <p:cNvSpPr/>
          <p:nvPr/>
        </p:nvSpPr>
        <p:spPr>
          <a:xfrm>
            <a:off x="685800" y="1783080"/>
            <a:ext cx="10835640" cy="4297680"/>
          </a:xfrm>
          <a:prstGeom prst="roundRect">
            <a:avLst/>
          </a:prstGeom>
          <a:solidFill>
            <a:srgbClr val="F6F8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29968"/>
            <a:ext cx="10378440" cy="3749039"/>
          </a:xfrm>
          <a:prstGeom prst="rect">
            <a:avLst/>
          </a:prstGeom>
          <a:noFill/>
        </p:spPr>
        <p:txBody>
          <a:bodyPr wrap="square" lIns="164592" rIns="164592" tIns="109728" bIns="109728">
            <a:spAutoFit/>
          </a:bodyPr>
          <a:lstStyle/>
          <a:p>
            <a:pPr>
              <a:defRPr sz="1900">
                <a:solidFill>
                  <a:srgbClr val="F5F7FA"/>
                </a:solidFill>
                <a:latin typeface="Aptos"/>
              </a:defRPr>
            </a:pPr>
            <a:r>
              <a:rPr sz="1900">
                <a:solidFill>
                  <a:srgbClr val="191919"/>
                </a:solidFill>
                <a:latin typeface="Aptos"/>
              </a:rPr>
              <a:t>DLL Injection is a technique in which an </a:t>
            </a:r>
            <a:r>
              <a:rPr sz="1900" b="1">
                <a:solidFill>
                  <a:srgbClr val="191919"/>
                </a:solidFill>
                <a:latin typeface="Aptos"/>
              </a:rPr>
              <a:t>attacker</a:t>
            </a:r>
            <a:r>
              <a:rPr sz="1900">
                <a:solidFill>
                  <a:srgbClr val="191919"/>
                </a:solidFill>
                <a:latin typeface="Aptos"/>
              </a:rPr>
              <a:t> causes a running process to load a Dynamic Link Library (DLL) that was not intended by the </a:t>
            </a:r>
            <a:r>
              <a:rPr sz="1900" b="1">
                <a:solidFill>
                  <a:srgbClr val="191919"/>
                </a:solidFill>
                <a:latin typeface="Aptos"/>
              </a:rPr>
              <a:t>application</a:t>
            </a:r>
            <a:r>
              <a:rPr sz="1900">
                <a:solidFill>
                  <a:srgbClr val="191919"/>
                </a:solidFill>
                <a:latin typeface="Aptos"/>
              </a:rPr>
              <a:t> or </a:t>
            </a:r>
            <a:r>
              <a:rPr sz="1900" b="1">
                <a:solidFill>
                  <a:srgbClr val="191919"/>
                </a:solidFill>
                <a:latin typeface="Aptos"/>
              </a:rPr>
              <a:t>system</a:t>
            </a:r>
            <a:r>
              <a:rPr sz="1900">
                <a:solidFill>
                  <a:srgbClr val="191919"/>
                </a:solidFill>
                <a:latin typeface="Aptos"/>
              </a:rPr>
              <a:t> administrator. Because the injected DLL can execute code within the context of the target process, the </a:t>
            </a:r>
            <a:r>
              <a:rPr sz="1900" b="1">
                <a:solidFill>
                  <a:srgbClr val="191919"/>
                </a:solidFill>
                <a:latin typeface="Aptos"/>
              </a:rPr>
              <a:t>attacker</a:t>
            </a:r>
            <a:r>
              <a:rPr sz="1900">
                <a:solidFill>
                  <a:srgbClr val="191919"/>
                </a:solidFill>
                <a:latin typeface="Aptos"/>
              </a:rPr>
              <a:t> may gain the process's privileges or influence its behavior. DLL injection can be used for </a:t>
            </a:r>
            <a:r>
              <a:rPr sz="1900" b="1">
                <a:solidFill>
                  <a:srgbClr val="191919"/>
                </a:solidFill>
                <a:latin typeface="Aptos"/>
              </a:rPr>
              <a:t>malicious</a:t>
            </a:r>
            <a:r>
              <a:rPr sz="1900">
                <a:solidFill>
                  <a:srgbClr val="191919"/>
                </a:solidFill>
                <a:latin typeface="Aptos"/>
              </a:rPr>
              <a:t> persistence, credential theft, evasion, or manipulation of </a:t>
            </a:r>
            <a:r>
              <a:rPr sz="1900" b="1">
                <a:solidFill>
                  <a:srgbClr val="191919"/>
                </a:solidFill>
                <a:latin typeface="Aptos"/>
              </a:rPr>
              <a:t>application</a:t>
            </a:r>
            <a:r>
              <a:rPr sz="1900">
                <a:solidFill>
                  <a:srgbClr val="191919"/>
                </a:solidFill>
                <a:latin typeface="Aptos"/>
              </a:rPr>
              <a:t>s. Strong </a:t>
            </a:r>
            <a:r>
              <a:rPr sz="1900" b="1">
                <a:solidFill>
                  <a:srgbClr val="191919"/>
                </a:solidFill>
                <a:latin typeface="Aptos"/>
              </a:rPr>
              <a:t>application</a:t>
            </a:r>
            <a:r>
              <a:rPr sz="1900">
                <a:solidFill>
                  <a:srgbClr val="191919"/>
                </a:solidFill>
                <a:latin typeface="Aptos"/>
              </a:rPr>
              <a:t> isolation, code-signing controls, least privilege, secure loading paths, endpoint protection, and operating-</a:t>
            </a:r>
            <a:r>
              <a:rPr sz="1900" b="1">
                <a:solidFill>
                  <a:srgbClr val="191919"/>
                </a:solidFill>
                <a:latin typeface="Aptos"/>
              </a:rPr>
              <a:t>system</a:t>
            </a:r>
            <a:r>
              <a:rPr sz="1900">
                <a:solidFill>
                  <a:srgbClr val="191919"/>
                </a:solidFill>
                <a:latin typeface="Aptos"/>
              </a:rPr>
              <a:t> security mechanisms can help prevent </a:t>
            </a:r>
            <a:r>
              <a:rPr sz="1900" b="1">
                <a:solidFill>
                  <a:srgbClr val="191919"/>
                </a:solidFill>
                <a:latin typeface="Aptos"/>
              </a:rPr>
              <a:t>unauthorized</a:t>
            </a:r>
            <a:r>
              <a:rPr sz="1900">
                <a:solidFill>
                  <a:srgbClr val="191919"/>
                </a:solidFill>
                <a:latin typeface="Aptos"/>
              </a:rPr>
              <a:t> DLL loading.</a:t>
            </a:r>
          </a:p>
        </p:txBody>
      </p:sp>
      <p:sp>
        <p:nvSpPr>
          <p:cNvPr id="9" name="TextBox 8"/>
          <p:cNvSpPr txBox="1"/>
          <p:nvPr/>
        </p:nvSpPr>
        <p:spPr>
          <a:xfrm>
            <a:off x="502920" y="6473952"/>
            <a:ext cx="11155680" cy="228600"/>
          </a:xfrm>
          <a:prstGeom prst="rect">
            <a:avLst/>
          </a:prstGeom>
          <a:noFill/>
        </p:spPr>
        <p:txBody>
          <a:bodyPr wrap="none">
            <a:spAutoFit/>
          </a:bodyPr>
          <a:lstStyle/>
          <a:p>
            <a:pPr algn="r">
              <a:defRPr sz="900">
                <a:solidFill>
                  <a:srgbClr val="B7C0CC"/>
                </a:solidFill>
                <a:latin typeface="Aptos"/>
              </a:defRPr>
            </a:pPr>
            <a:r>
              <a:rPr>
                <a:solidFill>
                  <a:srgbClr val="191919"/>
                </a:solidFill>
                <a:latin typeface="Aptos"/>
              </a:rPr>
              <a:t>Cybersecurity Study Presentation • Exam-ready definitions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146304"/>
          </a:xfrm>
          <a:prstGeom prst="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640080" cy="320040"/>
          </a:xfrm>
          <a:prstGeom prst="rect">
            <a:avLst/>
          </a:prstGeom>
          <a:noFill/>
        </p:spPr>
        <p:txBody>
          <a:bodyPr wrap="none">
            <a:spAutoFit/>
          </a:bodyPr>
          <a:lstStyle/>
          <a:p>
            <a:pPr>
              <a:defRPr sz="1500" b="1">
                <a:solidFill>
                  <a:srgbClr val="FFE25C"/>
                </a:solidFill>
              </a:defRPr>
            </a:pPr>
            <a:r>
              <a:rPr>
                <a:solidFill>
                  <a:srgbClr val="191919"/>
                </a:solidFill>
                <a:latin typeface="Aptos"/>
              </a:rPr>
              <a:t>46</a:t>
            </a:r>
          </a:p>
        </p:txBody>
      </p:sp>
      <p:sp>
        <p:nvSpPr>
          <p:cNvPr id="4" name="TextBox 3"/>
          <p:cNvSpPr txBox="1"/>
          <p:nvPr/>
        </p:nvSpPr>
        <p:spPr>
          <a:xfrm>
            <a:off x="777240" y="530352"/>
            <a:ext cx="10698480" cy="658368"/>
          </a:xfrm>
          <a:prstGeom prst="rect">
            <a:avLst/>
          </a:prstGeom>
          <a:noFill/>
        </p:spPr>
        <p:txBody>
          <a:bodyPr wrap="square" lIns="73152" rIns="73152" tIns="36576" bIns="36576">
            <a:spAutoFit/>
          </a:bodyPr>
          <a:lstStyle/>
          <a:p>
            <a:pPr algn="l">
              <a:defRPr sz="2800" b="1">
                <a:solidFill>
                  <a:srgbClr val="F5F7FA"/>
                </a:solidFill>
                <a:latin typeface="Aptos"/>
              </a:defRPr>
            </a:pPr>
            <a:r>
              <a:rPr>
                <a:solidFill>
                  <a:srgbClr val="191919"/>
                </a:solidFill>
                <a:latin typeface="Aptos"/>
              </a:rPr>
              <a:t>Code Injection Attack</a:t>
            </a:r>
          </a:p>
        </p:txBody>
      </p:sp>
      <p:sp>
        <p:nvSpPr>
          <p:cNvPr id="5" name="Rounded Rectangle 4"/>
          <p:cNvSpPr/>
          <p:nvPr/>
        </p:nvSpPr>
        <p:spPr>
          <a:xfrm>
            <a:off x="786384" y="1207008"/>
            <a:ext cx="1645920" cy="347472"/>
          </a:xfrm>
          <a:prstGeom prst="round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252728"/>
            <a:ext cx="1417320" cy="201168"/>
          </a:xfrm>
          <a:prstGeom prst="rect">
            <a:avLst/>
          </a:prstGeom>
          <a:noFill/>
        </p:spPr>
        <p:txBody>
          <a:bodyPr wrap="square" lIns="73152" rIns="73152" tIns="36576" bIns="36576">
            <a:spAutoFit/>
          </a:bodyPr>
          <a:lstStyle/>
          <a:p>
            <a:pPr algn="l">
              <a:defRPr sz="1000" b="1">
                <a:solidFill>
                  <a:srgbClr val="11161D"/>
                </a:solidFill>
                <a:latin typeface="Aptos"/>
              </a:defRPr>
            </a:pPr>
            <a:r>
              <a:rPr>
                <a:solidFill>
                  <a:srgbClr val="191919"/>
                </a:solidFill>
                <a:latin typeface="Aptos"/>
              </a:rPr>
              <a:t>ATTACK 46</a:t>
            </a:r>
          </a:p>
        </p:txBody>
      </p:sp>
      <p:sp>
        <p:nvSpPr>
          <p:cNvPr id="7" name="Rounded Rectangle 6"/>
          <p:cNvSpPr/>
          <p:nvPr/>
        </p:nvSpPr>
        <p:spPr>
          <a:xfrm>
            <a:off x="685800" y="1783080"/>
            <a:ext cx="10835640" cy="4297680"/>
          </a:xfrm>
          <a:prstGeom prst="roundRect">
            <a:avLst/>
          </a:prstGeom>
          <a:solidFill>
            <a:srgbClr val="F6F8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29968"/>
            <a:ext cx="10378440" cy="3749039"/>
          </a:xfrm>
          <a:prstGeom prst="rect">
            <a:avLst/>
          </a:prstGeom>
          <a:noFill/>
        </p:spPr>
        <p:txBody>
          <a:bodyPr wrap="square" lIns="164592" rIns="164592" tIns="109728" bIns="109728">
            <a:spAutoFit/>
          </a:bodyPr>
          <a:lstStyle/>
          <a:p>
            <a:pPr>
              <a:defRPr sz="1900">
                <a:solidFill>
                  <a:srgbClr val="F5F7FA"/>
                </a:solidFill>
                <a:latin typeface="Aptos"/>
              </a:defRPr>
            </a:pPr>
            <a:r>
              <a:rPr sz="1900">
                <a:solidFill>
                  <a:srgbClr val="191919"/>
                </a:solidFill>
                <a:latin typeface="Aptos"/>
              </a:rPr>
              <a:t>Code injection is a broad class of attacks in which an </a:t>
            </a:r>
            <a:r>
              <a:rPr sz="1900" b="1">
                <a:solidFill>
                  <a:srgbClr val="191919"/>
                </a:solidFill>
                <a:latin typeface="Aptos"/>
              </a:rPr>
              <a:t>attacker</a:t>
            </a:r>
            <a:r>
              <a:rPr sz="1900">
                <a:solidFill>
                  <a:srgbClr val="191919"/>
                </a:solidFill>
                <a:latin typeface="Aptos"/>
              </a:rPr>
              <a:t> supplies data that an </a:t>
            </a:r>
            <a:r>
              <a:rPr sz="1900" b="1">
                <a:solidFill>
                  <a:srgbClr val="191919"/>
                </a:solidFill>
                <a:latin typeface="Aptos"/>
              </a:rPr>
              <a:t>application</a:t>
            </a:r>
            <a:r>
              <a:rPr sz="1900">
                <a:solidFill>
                  <a:srgbClr val="191919"/>
                </a:solidFill>
                <a:latin typeface="Aptos"/>
              </a:rPr>
              <a:t> mistakenly interprets as executable code or instructions. The injected content may target a programming language interpreter, template engine, expression language, script processor, or another execution mechanism. The result can range from altered </a:t>
            </a:r>
            <a:r>
              <a:rPr sz="1900" b="1">
                <a:solidFill>
                  <a:srgbClr val="191919"/>
                </a:solidFill>
                <a:latin typeface="Aptos"/>
              </a:rPr>
              <a:t>application</a:t>
            </a:r>
            <a:r>
              <a:rPr sz="1900">
                <a:solidFill>
                  <a:srgbClr val="191919"/>
                </a:solidFill>
                <a:latin typeface="Aptos"/>
              </a:rPr>
              <a:t> behavior to </a:t>
            </a:r>
            <a:r>
              <a:rPr sz="1900" b="1">
                <a:solidFill>
                  <a:srgbClr val="191919"/>
                </a:solidFill>
                <a:latin typeface="Aptos"/>
              </a:rPr>
              <a:t>unauthorized</a:t>
            </a:r>
            <a:r>
              <a:rPr sz="1900">
                <a:solidFill>
                  <a:srgbClr val="191919"/>
                </a:solidFill>
                <a:latin typeface="Aptos"/>
              </a:rPr>
              <a:t> data access or arbitrary code execution, depending on the affected component. Code injection commonly results from treating </a:t>
            </a:r>
            <a:r>
              <a:rPr sz="1900" b="1">
                <a:solidFill>
                  <a:srgbClr val="191919"/>
                </a:solidFill>
                <a:latin typeface="Aptos"/>
              </a:rPr>
              <a:t>untrusted input</a:t>
            </a:r>
            <a:r>
              <a:rPr sz="1900">
                <a:solidFill>
                  <a:srgbClr val="191919"/>
                </a:solidFill>
                <a:latin typeface="Aptos"/>
              </a:rPr>
              <a:t> as executable instructions rather than data. Safe APIs, parameterization, strict input validation, output encoding, and least privilege are important defenses.</a:t>
            </a:r>
          </a:p>
        </p:txBody>
      </p:sp>
      <p:sp>
        <p:nvSpPr>
          <p:cNvPr id="9" name="TextBox 8"/>
          <p:cNvSpPr txBox="1"/>
          <p:nvPr/>
        </p:nvSpPr>
        <p:spPr>
          <a:xfrm>
            <a:off x="502920" y="6473952"/>
            <a:ext cx="11155680" cy="228600"/>
          </a:xfrm>
          <a:prstGeom prst="rect">
            <a:avLst/>
          </a:prstGeom>
          <a:noFill/>
        </p:spPr>
        <p:txBody>
          <a:bodyPr wrap="none">
            <a:spAutoFit/>
          </a:bodyPr>
          <a:lstStyle/>
          <a:p>
            <a:pPr algn="r">
              <a:defRPr sz="900">
                <a:solidFill>
                  <a:srgbClr val="B7C0CC"/>
                </a:solidFill>
                <a:latin typeface="Aptos"/>
              </a:defRPr>
            </a:pPr>
            <a:r>
              <a:rPr>
                <a:solidFill>
                  <a:srgbClr val="191919"/>
                </a:solidFill>
                <a:latin typeface="Aptos"/>
              </a:rPr>
              <a:t>Cybersecurity Study Presentation • Exam-ready definitions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146304"/>
          </a:xfrm>
          <a:prstGeom prst="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640080" cy="320040"/>
          </a:xfrm>
          <a:prstGeom prst="rect">
            <a:avLst/>
          </a:prstGeom>
          <a:noFill/>
        </p:spPr>
        <p:txBody>
          <a:bodyPr wrap="none">
            <a:spAutoFit/>
          </a:bodyPr>
          <a:lstStyle/>
          <a:p>
            <a:pPr>
              <a:defRPr sz="1500" b="1">
                <a:solidFill>
                  <a:srgbClr val="FFE25C"/>
                </a:solidFill>
              </a:defRPr>
            </a:pPr>
            <a:r>
              <a:rPr>
                <a:solidFill>
                  <a:srgbClr val="191919"/>
                </a:solidFill>
                <a:latin typeface="Aptos"/>
              </a:rPr>
              <a:t>47</a:t>
            </a:r>
          </a:p>
        </p:txBody>
      </p:sp>
      <p:sp>
        <p:nvSpPr>
          <p:cNvPr id="4" name="TextBox 3"/>
          <p:cNvSpPr txBox="1"/>
          <p:nvPr/>
        </p:nvSpPr>
        <p:spPr>
          <a:xfrm>
            <a:off x="777240" y="530352"/>
            <a:ext cx="10698480" cy="658368"/>
          </a:xfrm>
          <a:prstGeom prst="rect">
            <a:avLst/>
          </a:prstGeom>
          <a:noFill/>
        </p:spPr>
        <p:txBody>
          <a:bodyPr wrap="square" lIns="73152" rIns="73152" tIns="36576" bIns="36576">
            <a:spAutoFit/>
          </a:bodyPr>
          <a:lstStyle/>
          <a:p>
            <a:pPr algn="l">
              <a:defRPr sz="2800" b="1">
                <a:solidFill>
                  <a:srgbClr val="F5F7FA"/>
                </a:solidFill>
                <a:latin typeface="Aptos"/>
              </a:defRPr>
            </a:pPr>
            <a:r>
              <a:rPr>
                <a:solidFill>
                  <a:srgbClr val="191919"/>
                </a:solidFill>
                <a:latin typeface="Aptos"/>
              </a:rPr>
              <a:t>Smurf Attack</a:t>
            </a:r>
          </a:p>
        </p:txBody>
      </p:sp>
      <p:sp>
        <p:nvSpPr>
          <p:cNvPr id="5" name="Rounded Rectangle 4"/>
          <p:cNvSpPr/>
          <p:nvPr/>
        </p:nvSpPr>
        <p:spPr>
          <a:xfrm>
            <a:off x="786384" y="1207008"/>
            <a:ext cx="1645920" cy="347472"/>
          </a:xfrm>
          <a:prstGeom prst="round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252728"/>
            <a:ext cx="1417320" cy="201168"/>
          </a:xfrm>
          <a:prstGeom prst="rect">
            <a:avLst/>
          </a:prstGeom>
          <a:noFill/>
        </p:spPr>
        <p:txBody>
          <a:bodyPr wrap="square" lIns="73152" rIns="73152" tIns="36576" bIns="36576">
            <a:spAutoFit/>
          </a:bodyPr>
          <a:lstStyle/>
          <a:p>
            <a:pPr algn="l">
              <a:defRPr sz="1000" b="1">
                <a:solidFill>
                  <a:srgbClr val="11161D"/>
                </a:solidFill>
                <a:latin typeface="Aptos"/>
              </a:defRPr>
            </a:pPr>
            <a:r>
              <a:rPr>
                <a:solidFill>
                  <a:srgbClr val="191919"/>
                </a:solidFill>
                <a:latin typeface="Aptos"/>
              </a:rPr>
              <a:t>ATTACK 47</a:t>
            </a:r>
          </a:p>
        </p:txBody>
      </p:sp>
      <p:sp>
        <p:nvSpPr>
          <p:cNvPr id="7" name="Rounded Rectangle 6"/>
          <p:cNvSpPr/>
          <p:nvPr/>
        </p:nvSpPr>
        <p:spPr>
          <a:xfrm>
            <a:off x="685800" y="1783080"/>
            <a:ext cx="10835640" cy="4297680"/>
          </a:xfrm>
          <a:prstGeom prst="roundRect">
            <a:avLst/>
          </a:prstGeom>
          <a:solidFill>
            <a:srgbClr val="F6F8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29968"/>
            <a:ext cx="10378440" cy="3749039"/>
          </a:xfrm>
          <a:prstGeom prst="rect">
            <a:avLst/>
          </a:prstGeom>
          <a:noFill/>
        </p:spPr>
        <p:txBody>
          <a:bodyPr wrap="square" lIns="164592" rIns="164592" tIns="109728" bIns="109728">
            <a:spAutoFit/>
          </a:bodyPr>
          <a:lstStyle/>
          <a:p>
            <a:pPr>
              <a:defRPr sz="1900">
                <a:solidFill>
                  <a:srgbClr val="F5F7FA"/>
                </a:solidFill>
                <a:latin typeface="Aptos"/>
              </a:defRPr>
            </a:pPr>
            <a:r>
              <a:rPr sz="1900">
                <a:solidFill>
                  <a:srgbClr val="191919"/>
                </a:solidFill>
                <a:latin typeface="Aptos"/>
              </a:rPr>
              <a:t>A Smurf attack is a type of distributed denial-of-service attack that abuses Internet Control Message Protocol (ICMP) and </a:t>
            </a:r>
            <a:r>
              <a:rPr sz="1900" b="1">
                <a:solidFill>
                  <a:srgbClr val="191919"/>
                </a:solidFill>
                <a:latin typeface="Aptos"/>
              </a:rPr>
              <a:t>network</a:t>
            </a:r>
            <a:r>
              <a:rPr sz="1900">
                <a:solidFill>
                  <a:srgbClr val="191919"/>
                </a:solidFill>
                <a:latin typeface="Aptos"/>
              </a:rPr>
              <a:t> broadcast behavior. In the traditional form, an </a:t>
            </a:r>
            <a:r>
              <a:rPr sz="1900" b="1">
                <a:solidFill>
                  <a:srgbClr val="191919"/>
                </a:solidFill>
                <a:latin typeface="Aptos"/>
              </a:rPr>
              <a:t>attacker</a:t>
            </a:r>
            <a:r>
              <a:rPr sz="1900">
                <a:solidFill>
                  <a:srgbClr val="191919"/>
                </a:solidFill>
                <a:latin typeface="Aptos"/>
              </a:rPr>
              <a:t> sends ICMP echo requests using a spoofed source address corresponding to the intended </a:t>
            </a:r>
            <a:r>
              <a:rPr sz="1900" b="1">
                <a:solidFill>
                  <a:srgbClr val="191919"/>
                </a:solidFill>
                <a:latin typeface="Aptos"/>
              </a:rPr>
              <a:t>victim</a:t>
            </a:r>
            <a:r>
              <a:rPr sz="1900">
                <a:solidFill>
                  <a:srgbClr val="191919"/>
                </a:solidFill>
                <a:latin typeface="Aptos"/>
              </a:rPr>
              <a:t> and directs them toward a </a:t>
            </a:r>
            <a:r>
              <a:rPr sz="1900" b="1">
                <a:solidFill>
                  <a:srgbClr val="191919"/>
                </a:solidFill>
                <a:latin typeface="Aptos"/>
              </a:rPr>
              <a:t>network</a:t>
            </a:r>
            <a:r>
              <a:rPr sz="1900">
                <a:solidFill>
                  <a:srgbClr val="191919"/>
                </a:solidFill>
                <a:latin typeface="Aptos"/>
              </a:rPr>
              <a:t> that permits broadcast amplification. Multiple devices on that </a:t>
            </a:r>
            <a:r>
              <a:rPr sz="1900" b="1">
                <a:solidFill>
                  <a:srgbClr val="191919"/>
                </a:solidFill>
                <a:latin typeface="Aptos"/>
              </a:rPr>
              <a:t>network</a:t>
            </a:r>
            <a:r>
              <a:rPr sz="1900">
                <a:solidFill>
                  <a:srgbClr val="191919"/>
                </a:solidFill>
                <a:latin typeface="Aptos"/>
              </a:rPr>
              <a:t> respond toward the spoofed </a:t>
            </a:r>
            <a:r>
              <a:rPr sz="1900" b="1">
                <a:solidFill>
                  <a:srgbClr val="191919"/>
                </a:solidFill>
                <a:latin typeface="Aptos"/>
              </a:rPr>
              <a:t>victim</a:t>
            </a:r>
            <a:r>
              <a:rPr sz="1900">
                <a:solidFill>
                  <a:srgbClr val="191919"/>
                </a:solidFill>
                <a:latin typeface="Aptos"/>
              </a:rPr>
              <a:t> address, creating a large amount of traffic. The result can consume the </a:t>
            </a:r>
            <a:r>
              <a:rPr sz="1900" b="1">
                <a:solidFill>
                  <a:srgbClr val="191919"/>
                </a:solidFill>
                <a:latin typeface="Aptos"/>
              </a:rPr>
              <a:t>victim</a:t>
            </a:r>
            <a:r>
              <a:rPr sz="1900">
                <a:solidFill>
                  <a:srgbClr val="191919"/>
                </a:solidFill>
                <a:latin typeface="Aptos"/>
              </a:rPr>
              <a:t>'s </a:t>
            </a:r>
            <a:r>
              <a:rPr sz="1900" b="1">
                <a:solidFill>
                  <a:srgbClr val="191919"/>
                </a:solidFill>
                <a:latin typeface="Aptos"/>
              </a:rPr>
              <a:t>network</a:t>
            </a:r>
            <a:r>
              <a:rPr sz="1900">
                <a:solidFill>
                  <a:srgbClr val="191919"/>
                </a:solidFill>
                <a:latin typeface="Aptos"/>
              </a:rPr>
              <a:t> resources and reduce </a:t>
            </a:r>
            <a:r>
              <a:rPr sz="1900" b="1">
                <a:solidFill>
                  <a:srgbClr val="191919"/>
                </a:solidFill>
                <a:latin typeface="Aptos"/>
              </a:rPr>
              <a:t>availability</a:t>
            </a:r>
            <a:r>
              <a:rPr sz="1900">
                <a:solidFill>
                  <a:srgbClr val="191919"/>
                </a:solidFill>
                <a:latin typeface="Aptos"/>
              </a:rPr>
              <a:t>. Modern </a:t>
            </a:r>
            <a:r>
              <a:rPr sz="1900" b="1">
                <a:solidFill>
                  <a:srgbClr val="191919"/>
                </a:solidFill>
                <a:latin typeface="Aptos"/>
              </a:rPr>
              <a:t>network</a:t>
            </a:r>
            <a:r>
              <a:rPr sz="1900">
                <a:solidFill>
                  <a:srgbClr val="191919"/>
                </a:solidFill>
                <a:latin typeface="Aptos"/>
              </a:rPr>
              <a:t> configurations commonly disable directed broadcasts and apply anti-spoofing controls to reduce this risk.</a:t>
            </a:r>
          </a:p>
        </p:txBody>
      </p:sp>
      <p:sp>
        <p:nvSpPr>
          <p:cNvPr id="9" name="TextBox 8"/>
          <p:cNvSpPr txBox="1"/>
          <p:nvPr/>
        </p:nvSpPr>
        <p:spPr>
          <a:xfrm>
            <a:off x="502920" y="6473952"/>
            <a:ext cx="11155680" cy="228600"/>
          </a:xfrm>
          <a:prstGeom prst="rect">
            <a:avLst/>
          </a:prstGeom>
          <a:noFill/>
        </p:spPr>
        <p:txBody>
          <a:bodyPr wrap="none">
            <a:spAutoFit/>
          </a:bodyPr>
          <a:lstStyle/>
          <a:p>
            <a:pPr algn="r">
              <a:defRPr sz="900">
                <a:solidFill>
                  <a:srgbClr val="B7C0CC"/>
                </a:solidFill>
                <a:latin typeface="Aptos"/>
              </a:defRPr>
            </a:pPr>
            <a:r>
              <a:rPr>
                <a:solidFill>
                  <a:srgbClr val="191919"/>
                </a:solidFill>
                <a:latin typeface="Aptos"/>
              </a:rPr>
              <a:t>Cybersecurity Study Presentation • Exam-ready definitions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146304"/>
          </a:xfrm>
          <a:prstGeom prst="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640080" cy="320040"/>
          </a:xfrm>
          <a:prstGeom prst="rect">
            <a:avLst/>
          </a:prstGeom>
          <a:noFill/>
        </p:spPr>
        <p:txBody>
          <a:bodyPr wrap="none">
            <a:spAutoFit/>
          </a:bodyPr>
          <a:lstStyle/>
          <a:p>
            <a:pPr>
              <a:defRPr sz="1500" b="1">
                <a:solidFill>
                  <a:srgbClr val="FFE25C"/>
                </a:solidFill>
              </a:defRPr>
            </a:pPr>
            <a:r>
              <a:rPr>
                <a:solidFill>
                  <a:srgbClr val="191919"/>
                </a:solidFill>
                <a:latin typeface="Aptos"/>
              </a:rPr>
              <a:t>48</a:t>
            </a:r>
          </a:p>
        </p:txBody>
      </p:sp>
      <p:sp>
        <p:nvSpPr>
          <p:cNvPr id="4" name="TextBox 3"/>
          <p:cNvSpPr txBox="1"/>
          <p:nvPr/>
        </p:nvSpPr>
        <p:spPr>
          <a:xfrm>
            <a:off x="777240" y="530352"/>
            <a:ext cx="10698480" cy="658368"/>
          </a:xfrm>
          <a:prstGeom prst="rect">
            <a:avLst/>
          </a:prstGeom>
          <a:noFill/>
        </p:spPr>
        <p:txBody>
          <a:bodyPr wrap="square" lIns="73152" rIns="73152" tIns="36576" bIns="36576">
            <a:spAutoFit/>
          </a:bodyPr>
          <a:lstStyle/>
          <a:p>
            <a:pPr algn="l">
              <a:defRPr sz="2800" b="1">
                <a:solidFill>
                  <a:srgbClr val="F5F7FA"/>
                </a:solidFill>
                <a:latin typeface="Aptos"/>
              </a:defRPr>
            </a:pPr>
            <a:r>
              <a:rPr>
                <a:solidFill>
                  <a:srgbClr val="191919"/>
                </a:solidFill>
                <a:latin typeface="Aptos"/>
              </a:rPr>
              <a:t>Teardrop Attack</a:t>
            </a:r>
          </a:p>
        </p:txBody>
      </p:sp>
      <p:sp>
        <p:nvSpPr>
          <p:cNvPr id="5" name="Rounded Rectangle 4"/>
          <p:cNvSpPr/>
          <p:nvPr/>
        </p:nvSpPr>
        <p:spPr>
          <a:xfrm>
            <a:off x="786384" y="1207008"/>
            <a:ext cx="1645920" cy="347472"/>
          </a:xfrm>
          <a:prstGeom prst="round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252728"/>
            <a:ext cx="1417320" cy="201168"/>
          </a:xfrm>
          <a:prstGeom prst="rect">
            <a:avLst/>
          </a:prstGeom>
          <a:noFill/>
        </p:spPr>
        <p:txBody>
          <a:bodyPr wrap="square" lIns="73152" rIns="73152" tIns="36576" bIns="36576">
            <a:spAutoFit/>
          </a:bodyPr>
          <a:lstStyle/>
          <a:p>
            <a:pPr algn="l">
              <a:defRPr sz="1000" b="1">
                <a:solidFill>
                  <a:srgbClr val="11161D"/>
                </a:solidFill>
                <a:latin typeface="Aptos"/>
              </a:defRPr>
            </a:pPr>
            <a:r>
              <a:rPr>
                <a:solidFill>
                  <a:srgbClr val="191919"/>
                </a:solidFill>
                <a:latin typeface="Aptos"/>
              </a:rPr>
              <a:t>ATTACK 48</a:t>
            </a:r>
          </a:p>
        </p:txBody>
      </p:sp>
      <p:sp>
        <p:nvSpPr>
          <p:cNvPr id="7" name="Rounded Rectangle 6"/>
          <p:cNvSpPr/>
          <p:nvPr/>
        </p:nvSpPr>
        <p:spPr>
          <a:xfrm>
            <a:off x="685800" y="1783080"/>
            <a:ext cx="10835640" cy="4297680"/>
          </a:xfrm>
          <a:prstGeom prst="roundRect">
            <a:avLst/>
          </a:prstGeom>
          <a:solidFill>
            <a:srgbClr val="F6F8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29968"/>
            <a:ext cx="10378440" cy="3749039"/>
          </a:xfrm>
          <a:prstGeom prst="rect">
            <a:avLst/>
          </a:prstGeom>
          <a:noFill/>
        </p:spPr>
        <p:txBody>
          <a:bodyPr wrap="square" lIns="164592" rIns="164592" tIns="109728" bIns="109728">
            <a:spAutoFit/>
          </a:bodyPr>
          <a:lstStyle/>
          <a:p>
            <a:pPr>
              <a:defRPr sz="1900">
                <a:solidFill>
                  <a:srgbClr val="F5F7FA"/>
                </a:solidFill>
                <a:latin typeface="Aptos"/>
              </a:defRPr>
            </a:pPr>
            <a:r>
              <a:rPr sz="1900">
                <a:solidFill>
                  <a:srgbClr val="191919"/>
                </a:solidFill>
                <a:latin typeface="Aptos"/>
              </a:rPr>
              <a:t>A Teardrop attack is a denial-of-service technique that exploits how a vulnerable </a:t>
            </a:r>
            <a:r>
              <a:rPr sz="1900" b="1">
                <a:solidFill>
                  <a:srgbClr val="191919"/>
                </a:solidFill>
                <a:latin typeface="Aptos"/>
              </a:rPr>
              <a:t>system</a:t>
            </a:r>
            <a:r>
              <a:rPr sz="1900">
                <a:solidFill>
                  <a:srgbClr val="191919"/>
                </a:solidFill>
                <a:latin typeface="Aptos"/>
              </a:rPr>
              <a:t> handles fragmented </a:t>
            </a:r>
            <a:r>
              <a:rPr sz="1900" b="1">
                <a:solidFill>
                  <a:srgbClr val="191919"/>
                </a:solidFill>
                <a:latin typeface="Aptos"/>
              </a:rPr>
              <a:t>network</a:t>
            </a:r>
            <a:r>
              <a:rPr sz="1900">
                <a:solidFill>
                  <a:srgbClr val="191919"/>
                </a:solidFill>
                <a:latin typeface="Aptos"/>
              </a:rPr>
              <a:t> packets. The </a:t>
            </a:r>
            <a:r>
              <a:rPr sz="1900" b="1">
                <a:solidFill>
                  <a:srgbClr val="191919"/>
                </a:solidFill>
                <a:latin typeface="Aptos"/>
              </a:rPr>
              <a:t>attacker</a:t>
            </a:r>
            <a:r>
              <a:rPr sz="1900">
                <a:solidFill>
                  <a:srgbClr val="191919"/>
                </a:solidFill>
                <a:latin typeface="Aptos"/>
              </a:rPr>
              <a:t> sends overlapping or malformed IP fragments that the target </a:t>
            </a:r>
            <a:r>
              <a:rPr sz="1900" b="1">
                <a:solidFill>
                  <a:srgbClr val="191919"/>
                </a:solidFill>
                <a:latin typeface="Aptos"/>
              </a:rPr>
              <a:t>system</a:t>
            </a:r>
            <a:r>
              <a:rPr sz="1900">
                <a:solidFill>
                  <a:srgbClr val="191919"/>
                </a:solidFill>
                <a:latin typeface="Aptos"/>
              </a:rPr>
              <a:t> attempts to reassemble. If the operating </a:t>
            </a:r>
            <a:r>
              <a:rPr sz="1900" b="1">
                <a:solidFill>
                  <a:srgbClr val="191919"/>
                </a:solidFill>
                <a:latin typeface="Aptos"/>
              </a:rPr>
              <a:t>system</a:t>
            </a:r>
            <a:r>
              <a:rPr sz="1900">
                <a:solidFill>
                  <a:srgbClr val="191919"/>
                </a:solidFill>
                <a:latin typeface="Aptos"/>
              </a:rPr>
              <a:t> or </a:t>
            </a:r>
            <a:r>
              <a:rPr sz="1900" b="1">
                <a:solidFill>
                  <a:srgbClr val="191919"/>
                </a:solidFill>
                <a:latin typeface="Aptos"/>
              </a:rPr>
              <a:t>network</a:t>
            </a:r>
            <a:r>
              <a:rPr sz="1900">
                <a:solidFill>
                  <a:srgbClr val="191919"/>
                </a:solidFill>
                <a:latin typeface="Aptos"/>
              </a:rPr>
              <a:t>ing stack cannot correctly handle the unusual fragment information, the reassembly process may fail and cause the </a:t>
            </a:r>
            <a:r>
              <a:rPr sz="1900" b="1">
                <a:solidFill>
                  <a:srgbClr val="191919"/>
                </a:solidFill>
                <a:latin typeface="Aptos"/>
              </a:rPr>
              <a:t>system</a:t>
            </a:r>
            <a:r>
              <a:rPr sz="1900">
                <a:solidFill>
                  <a:srgbClr val="191919"/>
                </a:solidFill>
                <a:latin typeface="Aptos"/>
              </a:rPr>
              <a:t> to crash, hang, or become unavailable. Modern operating </a:t>
            </a:r>
            <a:r>
              <a:rPr sz="1900" b="1">
                <a:solidFill>
                  <a:srgbClr val="191919"/>
                </a:solidFill>
                <a:latin typeface="Aptos"/>
              </a:rPr>
              <a:t>system</a:t>
            </a:r>
            <a:r>
              <a:rPr sz="1900">
                <a:solidFill>
                  <a:srgbClr val="191919"/>
                </a:solidFill>
                <a:latin typeface="Aptos"/>
              </a:rPr>
              <a:t>s have largely addressed the classic vulnerability, but malformed packet handling remains an important security consideration. Keeping </a:t>
            </a:r>
            <a:r>
              <a:rPr sz="1900" b="1">
                <a:solidFill>
                  <a:srgbClr val="191919"/>
                </a:solidFill>
                <a:latin typeface="Aptos"/>
              </a:rPr>
              <a:t>system</a:t>
            </a:r>
            <a:r>
              <a:rPr sz="1900">
                <a:solidFill>
                  <a:srgbClr val="191919"/>
                </a:solidFill>
                <a:latin typeface="Aptos"/>
              </a:rPr>
              <a:t>s patched and using </a:t>
            </a:r>
            <a:r>
              <a:rPr sz="1900" b="1">
                <a:solidFill>
                  <a:srgbClr val="191919"/>
                </a:solidFill>
                <a:latin typeface="Aptos"/>
              </a:rPr>
              <a:t>network</a:t>
            </a:r>
            <a:r>
              <a:rPr sz="1900">
                <a:solidFill>
                  <a:srgbClr val="191919"/>
                </a:solidFill>
                <a:latin typeface="Aptos"/>
              </a:rPr>
              <a:t> security monitoring helps protect against related fragmentation-based attacks.</a:t>
            </a:r>
          </a:p>
        </p:txBody>
      </p:sp>
      <p:sp>
        <p:nvSpPr>
          <p:cNvPr id="9" name="TextBox 8"/>
          <p:cNvSpPr txBox="1"/>
          <p:nvPr/>
        </p:nvSpPr>
        <p:spPr>
          <a:xfrm>
            <a:off x="502920" y="6473952"/>
            <a:ext cx="11155680" cy="228600"/>
          </a:xfrm>
          <a:prstGeom prst="rect">
            <a:avLst/>
          </a:prstGeom>
          <a:noFill/>
        </p:spPr>
        <p:txBody>
          <a:bodyPr wrap="none">
            <a:spAutoFit/>
          </a:bodyPr>
          <a:lstStyle/>
          <a:p>
            <a:pPr algn="r">
              <a:defRPr sz="900">
                <a:solidFill>
                  <a:srgbClr val="B7C0CC"/>
                </a:solidFill>
                <a:latin typeface="Aptos"/>
              </a:defRPr>
            </a:pPr>
            <a:r>
              <a:rPr>
                <a:solidFill>
                  <a:srgbClr val="191919"/>
                </a:solidFill>
                <a:latin typeface="Aptos"/>
              </a:rPr>
              <a:t>Cybersecurity Study Presentation • Exam-ready definitions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146304"/>
          </a:xfrm>
          <a:prstGeom prst="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640080" cy="320040"/>
          </a:xfrm>
          <a:prstGeom prst="rect">
            <a:avLst/>
          </a:prstGeom>
          <a:noFill/>
        </p:spPr>
        <p:txBody>
          <a:bodyPr wrap="none">
            <a:spAutoFit/>
          </a:bodyPr>
          <a:lstStyle/>
          <a:p>
            <a:pPr>
              <a:defRPr sz="1500" b="1">
                <a:solidFill>
                  <a:srgbClr val="FFE25C"/>
                </a:solidFill>
              </a:defRPr>
            </a:pPr>
            <a:r>
              <a:rPr>
                <a:solidFill>
                  <a:srgbClr val="191919"/>
                </a:solidFill>
                <a:latin typeface="Aptos"/>
              </a:rPr>
              <a:t>49</a:t>
            </a:r>
          </a:p>
        </p:txBody>
      </p:sp>
      <p:sp>
        <p:nvSpPr>
          <p:cNvPr id="4" name="TextBox 3"/>
          <p:cNvSpPr txBox="1"/>
          <p:nvPr/>
        </p:nvSpPr>
        <p:spPr>
          <a:xfrm>
            <a:off x="777240" y="530352"/>
            <a:ext cx="10698480" cy="658368"/>
          </a:xfrm>
          <a:prstGeom prst="rect">
            <a:avLst/>
          </a:prstGeom>
          <a:noFill/>
        </p:spPr>
        <p:txBody>
          <a:bodyPr wrap="square" lIns="73152" rIns="73152" tIns="36576" bIns="36576">
            <a:spAutoFit/>
          </a:bodyPr>
          <a:lstStyle/>
          <a:p>
            <a:pPr algn="l">
              <a:defRPr sz="2800" b="1">
                <a:solidFill>
                  <a:srgbClr val="F5F7FA"/>
                </a:solidFill>
                <a:latin typeface="Aptos"/>
              </a:defRPr>
            </a:pPr>
            <a:r>
              <a:rPr>
                <a:solidFill>
                  <a:srgbClr val="191919"/>
                </a:solidFill>
                <a:latin typeface="Aptos"/>
              </a:rPr>
              <a:t>Ping Flood Attack</a:t>
            </a:r>
          </a:p>
        </p:txBody>
      </p:sp>
      <p:sp>
        <p:nvSpPr>
          <p:cNvPr id="5" name="Rounded Rectangle 4"/>
          <p:cNvSpPr/>
          <p:nvPr/>
        </p:nvSpPr>
        <p:spPr>
          <a:xfrm>
            <a:off x="786384" y="1207008"/>
            <a:ext cx="1645920" cy="347472"/>
          </a:xfrm>
          <a:prstGeom prst="round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252728"/>
            <a:ext cx="1417320" cy="201168"/>
          </a:xfrm>
          <a:prstGeom prst="rect">
            <a:avLst/>
          </a:prstGeom>
          <a:noFill/>
        </p:spPr>
        <p:txBody>
          <a:bodyPr wrap="square" lIns="73152" rIns="73152" tIns="36576" bIns="36576">
            <a:spAutoFit/>
          </a:bodyPr>
          <a:lstStyle/>
          <a:p>
            <a:pPr algn="l">
              <a:defRPr sz="1000" b="1">
                <a:solidFill>
                  <a:srgbClr val="11161D"/>
                </a:solidFill>
                <a:latin typeface="Aptos"/>
              </a:defRPr>
            </a:pPr>
            <a:r>
              <a:rPr>
                <a:solidFill>
                  <a:srgbClr val="191919"/>
                </a:solidFill>
                <a:latin typeface="Aptos"/>
              </a:rPr>
              <a:t>ATTACK 49</a:t>
            </a:r>
          </a:p>
        </p:txBody>
      </p:sp>
      <p:sp>
        <p:nvSpPr>
          <p:cNvPr id="7" name="Rounded Rectangle 6"/>
          <p:cNvSpPr/>
          <p:nvPr/>
        </p:nvSpPr>
        <p:spPr>
          <a:xfrm>
            <a:off x="685800" y="1783080"/>
            <a:ext cx="10835640" cy="4297680"/>
          </a:xfrm>
          <a:prstGeom prst="roundRect">
            <a:avLst/>
          </a:prstGeom>
          <a:solidFill>
            <a:srgbClr val="F6F8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29968"/>
            <a:ext cx="10378440" cy="3749039"/>
          </a:xfrm>
          <a:prstGeom prst="rect">
            <a:avLst/>
          </a:prstGeom>
          <a:noFill/>
        </p:spPr>
        <p:txBody>
          <a:bodyPr wrap="square" lIns="164592" rIns="164592" tIns="109728" bIns="109728">
            <a:spAutoFit/>
          </a:bodyPr>
          <a:lstStyle/>
          <a:p>
            <a:pPr>
              <a:defRPr sz="1900">
                <a:solidFill>
                  <a:srgbClr val="F5F7FA"/>
                </a:solidFill>
                <a:latin typeface="Aptos"/>
              </a:defRPr>
            </a:pPr>
            <a:r>
              <a:rPr sz="1900">
                <a:solidFill>
                  <a:srgbClr val="191919"/>
                </a:solidFill>
                <a:latin typeface="Aptos"/>
              </a:rPr>
              <a:t>A ping flood attack is a denial-of-service attack in which an </a:t>
            </a:r>
            <a:r>
              <a:rPr sz="1900" b="1">
                <a:solidFill>
                  <a:srgbClr val="191919"/>
                </a:solidFill>
                <a:latin typeface="Aptos"/>
              </a:rPr>
              <a:t>attacker</a:t>
            </a:r>
            <a:r>
              <a:rPr sz="1900">
                <a:solidFill>
                  <a:srgbClr val="191919"/>
                </a:solidFill>
                <a:latin typeface="Aptos"/>
              </a:rPr>
              <a:t> sends a very large number of ICMP Echo Request packets, commonly called ping requests, toward a target. Processing and responding to excessive ICMP traffic can consume bandwidth, CPU resources, memory, or </a:t>
            </a:r>
            <a:r>
              <a:rPr sz="1900" b="1">
                <a:solidFill>
                  <a:srgbClr val="191919"/>
                </a:solidFill>
                <a:latin typeface="Aptos"/>
              </a:rPr>
              <a:t>network</a:t>
            </a:r>
            <a:r>
              <a:rPr sz="1900">
                <a:solidFill>
                  <a:srgbClr val="191919"/>
                </a:solidFill>
                <a:latin typeface="Aptos"/>
              </a:rPr>
              <a:t> capacity. If the volume is high enough, legitimate users may experience slow connections or complete loss of access. The attack can be especially effective when the target has limited resources or when </a:t>
            </a:r>
            <a:r>
              <a:rPr sz="1900" b="1">
                <a:solidFill>
                  <a:srgbClr val="191919"/>
                </a:solidFill>
                <a:latin typeface="Aptos"/>
              </a:rPr>
              <a:t>network</a:t>
            </a:r>
            <a:r>
              <a:rPr sz="1900">
                <a:solidFill>
                  <a:srgbClr val="191919"/>
                </a:solidFill>
                <a:latin typeface="Aptos"/>
              </a:rPr>
              <a:t> capacity is saturated. Rate limiting, filtering, traffic monitoring, and DDoS protection services can help mitigate excessive ICMP traffic.</a:t>
            </a:r>
          </a:p>
        </p:txBody>
      </p:sp>
      <p:sp>
        <p:nvSpPr>
          <p:cNvPr id="9" name="TextBox 8"/>
          <p:cNvSpPr txBox="1"/>
          <p:nvPr/>
        </p:nvSpPr>
        <p:spPr>
          <a:xfrm>
            <a:off x="502920" y="6473952"/>
            <a:ext cx="11155680" cy="228600"/>
          </a:xfrm>
          <a:prstGeom prst="rect">
            <a:avLst/>
          </a:prstGeom>
          <a:noFill/>
        </p:spPr>
        <p:txBody>
          <a:bodyPr wrap="none">
            <a:spAutoFit/>
          </a:bodyPr>
          <a:lstStyle/>
          <a:p>
            <a:pPr algn="r">
              <a:defRPr sz="900">
                <a:solidFill>
                  <a:srgbClr val="B7C0CC"/>
                </a:solidFill>
                <a:latin typeface="Aptos"/>
              </a:defRPr>
            </a:pPr>
            <a:r>
              <a:rPr>
                <a:solidFill>
                  <a:srgbClr val="191919"/>
                </a:solidFill>
                <a:latin typeface="Aptos"/>
              </a:rPr>
              <a:t>Cybersecurity Study Presentation • Exam-ready definitions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146304"/>
          </a:xfrm>
          <a:prstGeom prst="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640080" cy="320040"/>
          </a:xfrm>
          <a:prstGeom prst="rect">
            <a:avLst/>
          </a:prstGeom>
          <a:noFill/>
        </p:spPr>
        <p:txBody>
          <a:bodyPr wrap="none">
            <a:spAutoFit/>
          </a:bodyPr>
          <a:lstStyle/>
          <a:p>
            <a:pPr>
              <a:defRPr sz="1500" b="1">
                <a:solidFill>
                  <a:srgbClr val="FFE25C"/>
                </a:solidFill>
              </a:defRPr>
            </a:pPr>
            <a:r>
              <a:rPr>
                <a:solidFill>
                  <a:srgbClr val="191919"/>
                </a:solidFill>
                <a:latin typeface="Aptos"/>
              </a:rPr>
              <a:t>50</a:t>
            </a:r>
          </a:p>
        </p:txBody>
      </p:sp>
      <p:sp>
        <p:nvSpPr>
          <p:cNvPr id="4" name="TextBox 3"/>
          <p:cNvSpPr txBox="1"/>
          <p:nvPr/>
        </p:nvSpPr>
        <p:spPr>
          <a:xfrm>
            <a:off x="777240" y="530352"/>
            <a:ext cx="10698480" cy="658368"/>
          </a:xfrm>
          <a:prstGeom prst="rect">
            <a:avLst/>
          </a:prstGeom>
          <a:noFill/>
        </p:spPr>
        <p:txBody>
          <a:bodyPr wrap="square" lIns="73152" rIns="73152" tIns="36576" bIns="36576">
            <a:spAutoFit/>
          </a:bodyPr>
          <a:lstStyle/>
          <a:p>
            <a:pPr algn="l">
              <a:defRPr sz="2800" b="1">
                <a:solidFill>
                  <a:srgbClr val="F5F7FA"/>
                </a:solidFill>
                <a:latin typeface="Aptos"/>
              </a:defRPr>
            </a:pPr>
            <a:r>
              <a:rPr>
                <a:solidFill>
                  <a:srgbClr val="191919"/>
                </a:solidFill>
                <a:latin typeface="Aptos"/>
              </a:rPr>
              <a:t>URL Spoofing Attack</a:t>
            </a:r>
          </a:p>
        </p:txBody>
      </p:sp>
      <p:sp>
        <p:nvSpPr>
          <p:cNvPr id="5" name="Rounded Rectangle 4"/>
          <p:cNvSpPr/>
          <p:nvPr/>
        </p:nvSpPr>
        <p:spPr>
          <a:xfrm>
            <a:off x="786384" y="1207008"/>
            <a:ext cx="1645920" cy="347472"/>
          </a:xfrm>
          <a:prstGeom prst="round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252728"/>
            <a:ext cx="1417320" cy="201168"/>
          </a:xfrm>
          <a:prstGeom prst="rect">
            <a:avLst/>
          </a:prstGeom>
          <a:noFill/>
        </p:spPr>
        <p:txBody>
          <a:bodyPr wrap="square" lIns="73152" rIns="73152" tIns="36576" bIns="36576">
            <a:spAutoFit/>
          </a:bodyPr>
          <a:lstStyle/>
          <a:p>
            <a:pPr algn="l">
              <a:defRPr sz="1000" b="1">
                <a:solidFill>
                  <a:srgbClr val="11161D"/>
                </a:solidFill>
                <a:latin typeface="Aptos"/>
              </a:defRPr>
            </a:pPr>
            <a:r>
              <a:rPr>
                <a:solidFill>
                  <a:srgbClr val="191919"/>
                </a:solidFill>
                <a:latin typeface="Aptos"/>
              </a:rPr>
              <a:t>ATTACK 50</a:t>
            </a:r>
          </a:p>
        </p:txBody>
      </p:sp>
      <p:sp>
        <p:nvSpPr>
          <p:cNvPr id="7" name="Rounded Rectangle 6"/>
          <p:cNvSpPr/>
          <p:nvPr/>
        </p:nvSpPr>
        <p:spPr>
          <a:xfrm>
            <a:off x="685800" y="1783080"/>
            <a:ext cx="10835640" cy="4297680"/>
          </a:xfrm>
          <a:prstGeom prst="roundRect">
            <a:avLst/>
          </a:prstGeom>
          <a:solidFill>
            <a:srgbClr val="F6F8FB"/>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29968"/>
            <a:ext cx="10378440" cy="3749039"/>
          </a:xfrm>
          <a:prstGeom prst="rect">
            <a:avLst/>
          </a:prstGeom>
          <a:noFill/>
        </p:spPr>
        <p:txBody>
          <a:bodyPr wrap="square" lIns="164592" rIns="164592" tIns="109728" bIns="109728">
            <a:spAutoFit/>
          </a:bodyPr>
          <a:lstStyle/>
          <a:p>
            <a:pPr>
              <a:defRPr sz="1900">
                <a:solidFill>
                  <a:srgbClr val="F5F7FA"/>
                </a:solidFill>
                <a:latin typeface="Aptos"/>
              </a:defRPr>
            </a:pPr>
            <a:r>
              <a:rPr sz="1900">
                <a:solidFill>
                  <a:srgbClr val="191919"/>
                </a:solidFill>
                <a:latin typeface="Aptos"/>
              </a:rPr>
              <a:t>URL spoofing is a deceptive technique in which an </a:t>
            </a:r>
            <a:r>
              <a:rPr sz="1900" b="1">
                <a:solidFill>
                  <a:srgbClr val="191919"/>
                </a:solidFill>
                <a:latin typeface="Aptos"/>
              </a:rPr>
              <a:t>attacker</a:t>
            </a:r>
            <a:r>
              <a:rPr sz="1900">
                <a:solidFill>
                  <a:srgbClr val="191919"/>
                </a:solidFill>
                <a:latin typeface="Aptos"/>
              </a:rPr>
              <a:t> creates or presents a web address that looks similar to a legitimate URL in order to mislead a user about the true destination. The fake address may use misspellings, misleading subdomains, confusing characters, URL encoding, or other tricks. The objective is often to make the </a:t>
            </a:r>
            <a:r>
              <a:rPr sz="1900" b="1">
                <a:solidFill>
                  <a:srgbClr val="191919"/>
                </a:solidFill>
                <a:latin typeface="Aptos"/>
              </a:rPr>
              <a:t>victim</a:t>
            </a:r>
            <a:r>
              <a:rPr sz="1900">
                <a:solidFill>
                  <a:srgbClr val="191919"/>
                </a:solidFill>
                <a:latin typeface="Aptos"/>
              </a:rPr>
              <a:t> trust a fraudulent </a:t>
            </a:r>
            <a:r>
              <a:rPr sz="1900" b="1">
                <a:solidFill>
                  <a:srgbClr val="191919"/>
                </a:solidFill>
                <a:latin typeface="Aptos"/>
              </a:rPr>
              <a:t>website</a:t>
            </a:r>
            <a:r>
              <a:rPr sz="1900">
                <a:solidFill>
                  <a:srgbClr val="191919"/>
                </a:solidFill>
                <a:latin typeface="Aptos"/>
              </a:rPr>
              <a:t> and disclose </a:t>
            </a:r>
            <a:r>
              <a:rPr sz="1900" b="1">
                <a:solidFill>
                  <a:srgbClr val="191919"/>
                </a:solidFill>
                <a:latin typeface="Aptos"/>
              </a:rPr>
              <a:t>credentials</a:t>
            </a:r>
            <a:r>
              <a:rPr sz="1900">
                <a:solidFill>
                  <a:srgbClr val="191919"/>
                </a:solidFill>
                <a:latin typeface="Aptos"/>
              </a:rPr>
              <a:t>, payment information, or other sensitive data. Users should inspect the actual domain carefully and avoid entering </a:t>
            </a:r>
            <a:r>
              <a:rPr sz="1900" b="1">
                <a:solidFill>
                  <a:srgbClr val="191919"/>
                </a:solidFill>
                <a:latin typeface="Aptos"/>
              </a:rPr>
              <a:t>sensitive information</a:t>
            </a:r>
            <a:r>
              <a:rPr sz="1900">
                <a:solidFill>
                  <a:srgbClr val="191919"/>
                </a:solidFill>
                <a:latin typeface="Aptos"/>
              </a:rPr>
              <a:t> into unexpected sites. Organizations can also use secure DNS, web filtering, phishing protection, and domain monitoring.</a:t>
            </a:r>
          </a:p>
        </p:txBody>
      </p:sp>
      <p:sp>
        <p:nvSpPr>
          <p:cNvPr id="9" name="TextBox 8"/>
          <p:cNvSpPr txBox="1"/>
          <p:nvPr/>
        </p:nvSpPr>
        <p:spPr>
          <a:xfrm>
            <a:off x="502920" y="6473952"/>
            <a:ext cx="11155680" cy="228600"/>
          </a:xfrm>
          <a:prstGeom prst="rect">
            <a:avLst/>
          </a:prstGeom>
          <a:noFill/>
        </p:spPr>
        <p:txBody>
          <a:bodyPr wrap="none">
            <a:spAutoFit/>
          </a:bodyPr>
          <a:lstStyle/>
          <a:p>
            <a:pPr algn="r">
              <a:defRPr sz="900">
                <a:solidFill>
                  <a:srgbClr val="B7C0CC"/>
                </a:solidFill>
                <a:latin typeface="Aptos"/>
              </a:defRPr>
            </a:pPr>
            <a:r>
              <a:rPr>
                <a:solidFill>
                  <a:srgbClr val="191919"/>
                </a:solidFill>
                <a:latin typeface="Aptos"/>
              </a:rPr>
              <a:t>Cybersecurity Study Presentation • Exam-ready definitions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146304"/>
          </a:xfrm>
          <a:prstGeom prst="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789920" cy="640080"/>
          </a:xfrm>
          <a:prstGeom prst="rect">
            <a:avLst/>
          </a:prstGeom>
          <a:noFill/>
        </p:spPr>
        <p:txBody>
          <a:bodyPr wrap="square" lIns="73152" rIns="73152" tIns="36576" bIns="36576">
            <a:spAutoFit/>
          </a:bodyPr>
          <a:lstStyle/>
          <a:p>
            <a:pPr algn="l">
              <a:defRPr sz="3000" b="1">
                <a:solidFill>
                  <a:srgbClr val="F5F7FA"/>
                </a:solidFill>
                <a:latin typeface="Aptos"/>
              </a:defRPr>
            </a:pPr>
            <a:r>
              <a:rPr>
                <a:solidFill>
                  <a:srgbClr val="191919"/>
                </a:solidFill>
                <a:latin typeface="Aptos"/>
              </a:rPr>
              <a:t>Reference Sources</a:t>
            </a:r>
          </a:p>
        </p:txBody>
      </p:sp>
      <p:sp>
        <p:nvSpPr>
          <p:cNvPr id="4" name="Oval 3"/>
          <p:cNvSpPr/>
          <p:nvPr/>
        </p:nvSpPr>
        <p:spPr>
          <a:xfrm>
            <a:off x="868680" y="1581912"/>
            <a:ext cx="146304" cy="146304"/>
          </a:xfrm>
          <a:prstGeom prst="ellipse">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1508760"/>
            <a:ext cx="9966960" cy="658368"/>
          </a:xfrm>
          <a:prstGeom prst="rect">
            <a:avLst/>
          </a:prstGeom>
          <a:noFill/>
        </p:spPr>
        <p:txBody>
          <a:bodyPr wrap="square" lIns="73152" rIns="73152" tIns="36576" bIns="36576">
            <a:spAutoFit/>
          </a:bodyPr>
          <a:lstStyle/>
          <a:p>
            <a:pPr algn="l">
              <a:defRPr sz="1700" b="0">
                <a:solidFill>
                  <a:srgbClr val="F5F7FA"/>
                </a:solidFill>
                <a:latin typeface="Aptos"/>
              </a:defRPr>
            </a:pPr>
            <a:r>
              <a:rPr>
                <a:solidFill>
                  <a:srgbClr val="191919"/>
                </a:solidFill>
                <a:latin typeface="Aptos"/>
              </a:rPr>
              <a:t>NIST Cybersecurity &amp; Privacy Glossary — terminology and authentication/security concepts</a:t>
            </a:r>
          </a:p>
        </p:txBody>
      </p:sp>
      <p:sp>
        <p:nvSpPr>
          <p:cNvPr id="6" name="Oval 5"/>
          <p:cNvSpPr/>
          <p:nvPr/>
        </p:nvSpPr>
        <p:spPr>
          <a:xfrm>
            <a:off x="868680" y="2404872"/>
            <a:ext cx="146304" cy="146304"/>
          </a:xfrm>
          <a:prstGeom prst="ellipse">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2331720"/>
            <a:ext cx="9966960" cy="658368"/>
          </a:xfrm>
          <a:prstGeom prst="rect">
            <a:avLst/>
          </a:prstGeom>
          <a:noFill/>
        </p:spPr>
        <p:txBody>
          <a:bodyPr wrap="square" lIns="73152" rIns="73152" tIns="36576" bIns="36576">
            <a:spAutoFit/>
          </a:bodyPr>
          <a:lstStyle/>
          <a:p>
            <a:pPr algn="l">
              <a:defRPr sz="1700" b="0">
                <a:solidFill>
                  <a:srgbClr val="F5F7FA"/>
                </a:solidFill>
                <a:latin typeface="Aptos"/>
              </a:defRPr>
            </a:pPr>
            <a:r>
              <a:rPr>
                <a:solidFill>
                  <a:srgbClr val="191919"/>
                </a:solidFill>
                <a:latin typeface="Aptos"/>
              </a:rPr>
              <a:t>NIST Special Publication 800-63 series — authentication, sessions, and security terminology</a:t>
            </a:r>
          </a:p>
        </p:txBody>
      </p:sp>
      <p:sp>
        <p:nvSpPr>
          <p:cNvPr id="8" name="Oval 7"/>
          <p:cNvSpPr/>
          <p:nvPr/>
        </p:nvSpPr>
        <p:spPr>
          <a:xfrm>
            <a:off x="868680" y="3227832"/>
            <a:ext cx="146304" cy="146304"/>
          </a:xfrm>
          <a:prstGeom prst="ellipse">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3154679"/>
            <a:ext cx="9966960" cy="658368"/>
          </a:xfrm>
          <a:prstGeom prst="rect">
            <a:avLst/>
          </a:prstGeom>
          <a:noFill/>
        </p:spPr>
        <p:txBody>
          <a:bodyPr wrap="square" lIns="73152" rIns="73152" tIns="36576" bIns="36576">
            <a:spAutoFit/>
          </a:bodyPr>
          <a:lstStyle/>
          <a:p>
            <a:pPr algn="l">
              <a:defRPr sz="1700" b="0">
                <a:solidFill>
                  <a:srgbClr val="F5F7FA"/>
                </a:solidFill>
                <a:latin typeface="Aptos"/>
              </a:defRPr>
            </a:pPr>
            <a:r>
              <a:rPr>
                <a:solidFill>
                  <a:srgbClr val="191919"/>
                </a:solidFill>
                <a:latin typeface="Aptos"/>
              </a:rPr>
              <a:t>CISA — ransomware, phishing, malware, insider threat, and supply-chain security resources</a:t>
            </a:r>
          </a:p>
        </p:txBody>
      </p:sp>
      <p:sp>
        <p:nvSpPr>
          <p:cNvPr id="10" name="Oval 9"/>
          <p:cNvSpPr/>
          <p:nvPr/>
        </p:nvSpPr>
        <p:spPr>
          <a:xfrm>
            <a:off x="868680" y="4050791"/>
            <a:ext cx="146304" cy="146304"/>
          </a:xfrm>
          <a:prstGeom prst="ellipse">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3977639"/>
            <a:ext cx="9966960" cy="658368"/>
          </a:xfrm>
          <a:prstGeom prst="rect">
            <a:avLst/>
          </a:prstGeom>
          <a:noFill/>
        </p:spPr>
        <p:txBody>
          <a:bodyPr wrap="square" lIns="73152" rIns="73152" tIns="36576" bIns="36576">
            <a:spAutoFit/>
          </a:bodyPr>
          <a:lstStyle/>
          <a:p>
            <a:pPr algn="l">
              <a:defRPr sz="1700" b="0">
                <a:solidFill>
                  <a:srgbClr val="F5F7FA"/>
                </a:solidFill>
                <a:latin typeface="Aptos"/>
              </a:defRPr>
            </a:pPr>
            <a:r>
              <a:rPr>
                <a:solidFill>
                  <a:srgbClr val="191919"/>
                </a:solidFill>
                <a:latin typeface="Aptos"/>
              </a:rPr>
              <a:t>OWASP Foundation — injection, XSS, SQL injection, LDAP injection, SSRF, and web security guidance</a:t>
            </a:r>
          </a:p>
        </p:txBody>
      </p:sp>
      <p:sp>
        <p:nvSpPr>
          <p:cNvPr id="12" name="Oval 11"/>
          <p:cNvSpPr/>
          <p:nvPr/>
        </p:nvSpPr>
        <p:spPr>
          <a:xfrm>
            <a:off x="868680" y="4873752"/>
            <a:ext cx="146304" cy="146304"/>
          </a:xfrm>
          <a:prstGeom prst="ellipse">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4800600"/>
            <a:ext cx="9966960" cy="658368"/>
          </a:xfrm>
          <a:prstGeom prst="rect">
            <a:avLst/>
          </a:prstGeom>
          <a:noFill/>
        </p:spPr>
        <p:txBody>
          <a:bodyPr wrap="square" lIns="73152" rIns="73152" tIns="36576" bIns="36576">
            <a:spAutoFit/>
          </a:bodyPr>
          <a:lstStyle/>
          <a:p>
            <a:pPr algn="l">
              <a:defRPr sz="1700" b="0">
                <a:solidFill>
                  <a:srgbClr val="F5F7FA"/>
                </a:solidFill>
                <a:latin typeface="Aptos"/>
              </a:defRPr>
            </a:pPr>
            <a:r>
              <a:rPr>
                <a:solidFill>
                  <a:srgbClr val="191919"/>
                </a:solidFill>
                <a:latin typeface="Aptos"/>
              </a:rPr>
              <a:t>Definitions in this presentation are paraphrased and simplified for academic/exam study; they are not quotations.</a:t>
            </a:r>
          </a:p>
        </p:txBody>
      </p:sp>
      <p:sp>
        <p:nvSpPr>
          <p:cNvPr id="14" name="TextBox 13"/>
          <p:cNvSpPr txBox="1"/>
          <p:nvPr/>
        </p:nvSpPr>
        <p:spPr>
          <a:xfrm>
            <a:off x="777240" y="5715000"/>
            <a:ext cx="6400800" cy="411480"/>
          </a:xfrm>
          <a:prstGeom prst="rect">
            <a:avLst/>
          </a:prstGeom>
          <a:noFill/>
        </p:spPr>
        <p:txBody>
          <a:bodyPr wrap="square" lIns="73152" rIns="73152" tIns="36576" bIns="36576">
            <a:spAutoFit/>
          </a:bodyPr>
          <a:lstStyle/>
          <a:p>
            <a:pPr algn="l">
              <a:defRPr sz="1600" b="1">
                <a:solidFill>
                  <a:srgbClr val="FFE25C"/>
                </a:solidFill>
                <a:latin typeface="Aptos"/>
              </a:defRPr>
            </a:pPr>
            <a:r>
              <a:rPr>
                <a:solidFill>
                  <a:srgbClr val="191919"/>
                </a:solidFill>
                <a:latin typeface="Aptos"/>
              </a:rPr>
              <a:t>Created by Tanveer Rashid Turk</a:t>
            </a:r>
          </a:p>
        </p:txBody>
      </p:sp>
      <p:sp>
        <p:nvSpPr>
          <p:cNvPr id="15" name="TextBox 14"/>
          <p:cNvSpPr txBox="1"/>
          <p:nvPr/>
        </p:nvSpPr>
        <p:spPr>
          <a:xfrm>
            <a:off x="777240" y="6080760"/>
            <a:ext cx="5943600" cy="320040"/>
          </a:xfrm>
          <a:prstGeom prst="rect">
            <a:avLst/>
          </a:prstGeom>
          <a:noFill/>
        </p:spPr>
        <p:txBody>
          <a:bodyPr wrap="square" lIns="73152" rIns="73152" tIns="36576" bIns="36576">
            <a:spAutoFit/>
          </a:bodyPr>
          <a:lstStyle/>
          <a:p>
            <a:pPr algn="l">
              <a:defRPr sz="1300" b="0">
                <a:solidFill>
                  <a:srgbClr val="B7C0CC"/>
                </a:solidFill>
                <a:latin typeface="Aptos"/>
              </a:defRPr>
            </a:pPr>
            <a:r>
              <a:rPr>
                <a:solidFill>
                  <a:srgbClr val="191919"/>
                </a:solidFill>
                <a:latin typeface="Aptos"/>
              </a:rPr>
              <a:t>All rights are reserved</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01168"/>
          </a:xfrm>
          <a:prstGeom prst="rect">
            <a:avLst/>
          </a:prstGeom>
          <a:solidFill>
            <a:srgbClr val="FFE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920240"/>
            <a:ext cx="10515600" cy="822960"/>
          </a:xfrm>
          <a:prstGeom prst="rect">
            <a:avLst/>
          </a:prstGeom>
          <a:noFill/>
        </p:spPr>
        <p:txBody>
          <a:bodyPr wrap="square" lIns="73152" rIns="73152" tIns="36576" bIns="36576">
            <a:spAutoFit/>
          </a:bodyPr>
          <a:lstStyle/>
          <a:p>
            <a:pPr algn="ctr">
              <a:defRPr sz="3400" b="1">
                <a:solidFill>
                  <a:srgbClr val="F5F7FA"/>
                </a:solidFill>
                <a:latin typeface="Aptos"/>
              </a:defRPr>
            </a:pPr>
            <a:r>
              <a:rPr>
                <a:solidFill>
                  <a:srgbClr val="191919"/>
                </a:solidFill>
                <a:latin typeface="Aptos"/>
              </a:rPr>
              <a:t>END OF PRESENTATION</a:t>
            </a:r>
          </a:p>
        </p:txBody>
      </p:sp>
      <p:sp>
        <p:nvSpPr>
          <p:cNvPr id="4" name="TextBox 3"/>
          <p:cNvSpPr txBox="1"/>
          <p:nvPr/>
        </p:nvSpPr>
        <p:spPr>
          <a:xfrm>
            <a:off x="914400" y="2926080"/>
            <a:ext cx="10332720" cy="548640"/>
          </a:xfrm>
          <a:prstGeom prst="rect">
            <a:avLst/>
          </a:prstGeom>
          <a:noFill/>
        </p:spPr>
        <p:txBody>
          <a:bodyPr wrap="square" lIns="73152" rIns="73152" tIns="36576" bIns="36576">
            <a:spAutoFit/>
          </a:bodyPr>
          <a:lstStyle/>
          <a:p>
            <a:pPr algn="ctr">
              <a:defRPr sz="2000" b="1">
                <a:solidFill>
                  <a:srgbClr val="FFE25C"/>
                </a:solidFill>
                <a:latin typeface="Aptos"/>
              </a:defRPr>
            </a:pPr>
            <a:r>
              <a:rPr>
                <a:solidFill>
                  <a:srgbClr val="191919"/>
                </a:solidFill>
                <a:latin typeface="Aptos"/>
              </a:rPr>
              <a:t>Created by Tanveer Rashid Turk</a:t>
            </a:r>
          </a:p>
        </p:txBody>
      </p:sp>
      <p:sp>
        <p:nvSpPr>
          <p:cNvPr id="5" name="TextBox 4"/>
          <p:cNvSpPr txBox="1"/>
          <p:nvPr/>
        </p:nvSpPr>
        <p:spPr>
          <a:xfrm>
            <a:off x="914400" y="3520440"/>
            <a:ext cx="10332720" cy="457200"/>
          </a:xfrm>
          <a:prstGeom prst="rect">
            <a:avLst/>
          </a:prstGeom>
          <a:noFill/>
        </p:spPr>
        <p:txBody>
          <a:bodyPr wrap="square" lIns="73152" rIns="73152" tIns="36576" bIns="36576">
            <a:spAutoFit/>
          </a:bodyPr>
          <a:lstStyle/>
          <a:p>
            <a:pPr algn="ctr">
              <a:defRPr sz="1500" b="0">
                <a:solidFill>
                  <a:srgbClr val="B7C0CC"/>
                </a:solidFill>
                <a:latin typeface="Aptos"/>
              </a:defRPr>
            </a:pPr>
            <a:r>
              <a:rPr>
                <a:solidFill>
                  <a:srgbClr val="191919"/>
                </a:solidFill>
                <a:latin typeface="Aptos"/>
              </a:rPr>
              <a:t>All rights are reserved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